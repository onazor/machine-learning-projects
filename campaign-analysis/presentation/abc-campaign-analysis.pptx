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dc17abd5064d2c" /><Relationship Type="http://schemas.openxmlformats.org/officeDocument/2006/relationships/extended-properties" Target="/docProps/app.xml" Id="Rd438796c558e4598" /><Relationship Type="http://schemas.openxmlformats.org/officeDocument/2006/relationships/officeDocument" Target="/ppt/presentation.xml" Id="R12baa33cb6be4b00" /></Relationships>
</file>

<file path=ppt/presentation.xml><?xml version="1.0" encoding="utf-8"?>
<p:presentation xmlns:p="http://schemas.openxmlformats.org/presentationml/2006/main">
  <p:sldMasterIdLst>
    <p:sldMasterId xmlns:r="http://schemas.openxmlformats.org/officeDocument/2006/relationships" id="2147483648" r:id="Rf41fbfce51844c78"/>
  </p:sldMasterIdLst>
  <p:notesMasterIdLst>
    <p:notesMasterId xmlns:r="http://schemas.openxmlformats.org/officeDocument/2006/relationships" r:id="Re8e6a0f7269b487b"/>
  </p:notesMasterIdLst>
  <p:sldIdLst>
    <p:sldId xmlns:r="http://schemas.openxmlformats.org/officeDocument/2006/relationships" id="256" r:id="R8c35e81926a142d7"/>
    <p:sldId xmlns:r="http://schemas.openxmlformats.org/officeDocument/2006/relationships" id="257" r:id="Rffe6ac7f800a4475"/>
    <p:sldId xmlns:r="http://schemas.openxmlformats.org/officeDocument/2006/relationships" id="258" r:id="R3ba1d0611f784854"/>
    <p:sldId xmlns:r="http://schemas.openxmlformats.org/officeDocument/2006/relationships" id="259" r:id="Ra627d8595e4547ba"/>
    <p:sldId xmlns:r="http://schemas.openxmlformats.org/officeDocument/2006/relationships" id="260" r:id="R11d6ec9c7be047e4"/>
    <p:sldId xmlns:r="http://schemas.openxmlformats.org/officeDocument/2006/relationships" id="261" r:id="Rf0047edb77e04ec9"/>
    <p:sldId xmlns:r="http://schemas.openxmlformats.org/officeDocument/2006/relationships" id="262" r:id="Rfc9863ddc0d04970"/>
    <p:sldId xmlns:r="http://schemas.openxmlformats.org/officeDocument/2006/relationships" id="263" r:id="Ra31b40e34ca74352"/>
    <p:sldId xmlns:r="http://schemas.openxmlformats.org/officeDocument/2006/relationships" id="264" r:id="R3d60d14af95e45c4"/>
    <p:sldId xmlns:r="http://schemas.openxmlformats.org/officeDocument/2006/relationships" id="265" r:id="R8d34044584a141d6"/>
    <p:sldId xmlns:r="http://schemas.openxmlformats.org/officeDocument/2006/relationships" id="266" r:id="R397b1c519e644e91"/>
    <p:sldId xmlns:r="http://schemas.openxmlformats.org/officeDocument/2006/relationships" id="267" r:id="Rc40fc8a42827454d"/>
    <p:sldId xmlns:r="http://schemas.openxmlformats.org/officeDocument/2006/relationships" id="268" r:id="Rdb13bde960fd48c6"/>
    <p:sldId xmlns:r="http://schemas.openxmlformats.org/officeDocument/2006/relationships" id="269" r:id="Rb5abb6a6b37f418b"/>
    <p:sldId xmlns:r="http://schemas.openxmlformats.org/officeDocument/2006/relationships" id="270" r:id="Rdbdb2fbd844a408b"/>
    <p:sldId xmlns:r="http://schemas.openxmlformats.org/officeDocument/2006/relationships" id="271" r:id="Ra1e4539b9f624ca9"/>
    <p:sldId xmlns:r="http://schemas.openxmlformats.org/officeDocument/2006/relationships" id="272" r:id="R135434c1e9144fe4"/>
    <p:sldId xmlns:r="http://schemas.openxmlformats.org/officeDocument/2006/relationships" id="273" r:id="R15c95afbee9e45af"/>
    <p:sldId xmlns:r="http://schemas.openxmlformats.org/officeDocument/2006/relationships" id="274" r:id="Rf054983856bb4b6f"/>
    <p:sldId xmlns:r="http://schemas.openxmlformats.org/officeDocument/2006/relationships" id="275" r:id="Ra9ab215bac1e430c"/>
    <p:sldId xmlns:r="http://schemas.openxmlformats.org/officeDocument/2006/relationships" id="276" r:id="Rb13849ae40c94645"/>
    <p:sldId xmlns:r="http://schemas.openxmlformats.org/officeDocument/2006/relationships" id="277" r:id="Re068fb95ed0440c0"/>
    <p:sldId xmlns:r="http://schemas.openxmlformats.org/officeDocument/2006/relationships" id="278" r:id="R98edd93f57454d42"/>
    <p:sldId xmlns:r="http://schemas.openxmlformats.org/officeDocument/2006/relationships" id="279" r:id="R4bc33b150afb495c"/>
    <p:sldId xmlns:r="http://schemas.openxmlformats.org/officeDocument/2006/relationships" id="280" r:id="R195b3acd48df47f1"/>
    <p:sldId xmlns:r="http://schemas.openxmlformats.org/officeDocument/2006/relationships" id="281" r:id="Re224e79fa94c4d41"/>
    <p:sldId xmlns:r="http://schemas.openxmlformats.org/officeDocument/2006/relationships" id="282" r:id="R581496d1ec624cfc"/>
    <p:sldId xmlns:r="http://schemas.openxmlformats.org/officeDocument/2006/relationships" id="283" r:id="R51e17a45160e4160"/>
    <p:sldId xmlns:r="http://schemas.openxmlformats.org/officeDocument/2006/relationships" id="284" r:id="R74ceca12592245f1"/>
    <p:sldId xmlns:r="http://schemas.openxmlformats.org/officeDocument/2006/relationships" id="285" r:id="Rd404134be97f454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f41fbfce51844c78" /><Relationship Type="http://schemas.openxmlformats.org/officeDocument/2006/relationships/theme" Target="/ppt/theme/theme1.xml" Id="Rf0b0fb7579704c0a" /><Relationship Type="http://schemas.openxmlformats.org/officeDocument/2006/relationships/notesMaster" Target="/ppt/notesMasters/notesMaster1.xml" Id="Re8e6a0f7269b487b" /><Relationship Type="http://schemas.openxmlformats.org/officeDocument/2006/relationships/presProps" Target="/ppt/presProps.xml" Id="Ra0515ee4d5d5403f" /><Relationship Type="http://schemas.openxmlformats.org/officeDocument/2006/relationships/viewProps" Target="/ppt/viewProps.xml" Id="R50dbf977df3b46ee" /><Relationship Type="http://schemas.openxmlformats.org/officeDocument/2006/relationships/tableStyles" Target="/ppt/tableStyles.xml" Id="R7dc5a8991e16473a" /><Relationship Type="http://schemas.openxmlformats.org/officeDocument/2006/relationships/slide" Target="/ppt/slides/slide1.xml" Id="R8c35e81926a142d7" /><Relationship Type="http://schemas.openxmlformats.org/officeDocument/2006/relationships/slide" Target="/ppt/slides/slide2.xml" Id="Rffe6ac7f800a4475" /><Relationship Type="http://schemas.openxmlformats.org/officeDocument/2006/relationships/slide" Target="/ppt/slides/slide3.xml" Id="R3ba1d0611f784854" /><Relationship Type="http://schemas.openxmlformats.org/officeDocument/2006/relationships/slide" Target="/ppt/slides/slide4.xml" Id="Ra627d8595e4547ba" /><Relationship Type="http://schemas.openxmlformats.org/officeDocument/2006/relationships/slide" Target="/ppt/slides/slide5.xml" Id="R11d6ec9c7be047e4" /><Relationship Type="http://schemas.openxmlformats.org/officeDocument/2006/relationships/slide" Target="/ppt/slides/slide6.xml" Id="Rf0047edb77e04ec9" /><Relationship Type="http://schemas.openxmlformats.org/officeDocument/2006/relationships/slide" Target="/ppt/slides/slide7.xml" Id="Rfc9863ddc0d04970" /><Relationship Type="http://schemas.openxmlformats.org/officeDocument/2006/relationships/slide" Target="/ppt/slides/slide8.xml" Id="Ra31b40e34ca74352" /><Relationship Type="http://schemas.openxmlformats.org/officeDocument/2006/relationships/slide" Target="/ppt/slides/slide9.xml" Id="R3d60d14af95e45c4" /><Relationship Type="http://schemas.openxmlformats.org/officeDocument/2006/relationships/slide" Target="/ppt/slides/slide10.xml" Id="R8d34044584a141d6" /><Relationship Type="http://schemas.openxmlformats.org/officeDocument/2006/relationships/slide" Target="/ppt/slides/slide11.xml" Id="R397b1c519e644e91" /><Relationship Type="http://schemas.openxmlformats.org/officeDocument/2006/relationships/slide" Target="/ppt/slides/slide12.xml" Id="Rc40fc8a42827454d" /><Relationship Type="http://schemas.openxmlformats.org/officeDocument/2006/relationships/slide" Target="/ppt/slides/slide13.xml" Id="Rdb13bde960fd48c6" /><Relationship Type="http://schemas.openxmlformats.org/officeDocument/2006/relationships/slide" Target="/ppt/slides/slide14.xml" Id="Rb5abb6a6b37f418b" /><Relationship Type="http://schemas.openxmlformats.org/officeDocument/2006/relationships/slide" Target="/ppt/slides/slide15.xml" Id="Rdbdb2fbd844a408b" /><Relationship Type="http://schemas.openxmlformats.org/officeDocument/2006/relationships/slide" Target="/ppt/slides/slide16.xml" Id="Ra1e4539b9f624ca9" /><Relationship Type="http://schemas.openxmlformats.org/officeDocument/2006/relationships/slide" Target="/ppt/slides/slide17.xml" Id="R135434c1e9144fe4" /><Relationship Type="http://schemas.openxmlformats.org/officeDocument/2006/relationships/slide" Target="/ppt/slides/slide18.xml" Id="R15c95afbee9e45af" /><Relationship Type="http://schemas.openxmlformats.org/officeDocument/2006/relationships/slide" Target="/ppt/slides/slide19.xml" Id="Rf054983856bb4b6f" /><Relationship Type="http://schemas.openxmlformats.org/officeDocument/2006/relationships/slide" Target="/ppt/slides/slide20.xml" Id="Ra9ab215bac1e430c" /><Relationship Type="http://schemas.openxmlformats.org/officeDocument/2006/relationships/slide" Target="/ppt/slides/slide21.xml" Id="Rb13849ae40c94645" /><Relationship Type="http://schemas.openxmlformats.org/officeDocument/2006/relationships/slide" Target="/ppt/slides/slide22.xml" Id="Re068fb95ed0440c0" /><Relationship Type="http://schemas.openxmlformats.org/officeDocument/2006/relationships/slide" Target="/ppt/slides/slide23.xml" Id="R98edd93f57454d42" /><Relationship Type="http://schemas.openxmlformats.org/officeDocument/2006/relationships/slide" Target="/ppt/slides/slide24.xml" Id="R4bc33b150afb495c" /><Relationship Type="http://schemas.openxmlformats.org/officeDocument/2006/relationships/slide" Target="/ppt/slides/slide25.xml" Id="R195b3acd48df47f1" /><Relationship Type="http://schemas.openxmlformats.org/officeDocument/2006/relationships/slide" Target="/ppt/slides/slide26.xml" Id="Re224e79fa94c4d41" /><Relationship Type="http://schemas.openxmlformats.org/officeDocument/2006/relationships/slide" Target="/ppt/slides/slide27.xml" Id="R581496d1ec624cfc" /><Relationship Type="http://schemas.openxmlformats.org/officeDocument/2006/relationships/slide" Target="/ppt/slides/slide28.xml" Id="R51e17a45160e4160" /><Relationship Type="http://schemas.openxmlformats.org/officeDocument/2006/relationships/slide" Target="/ppt/slides/slide29.xml" Id="R74ceca12592245f1" /><Relationship Type="http://schemas.openxmlformats.org/officeDocument/2006/relationships/slide" Target="/ppt/slides/slide30.xml" Id="Rd404134be97f45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883905829c44f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c6e3aa6cef40e5" /><Relationship Type="http://schemas.openxmlformats.org/officeDocument/2006/relationships/notesMaster" Target="/ppt/notesMasters/notesMaster1.xml" Id="R4313c0b5b99643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b8b508db3b42cc" /><Relationship Type="http://schemas.openxmlformats.org/officeDocument/2006/relationships/notesMaster" Target="/ppt/notesMasters/notesMaster1.xml" Id="Reff11240ecca47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f3ec1e722f4c0e" /><Relationship Type="http://schemas.openxmlformats.org/officeDocument/2006/relationships/notesMaster" Target="/ppt/notesMasters/notesMaster1.xml" Id="R0f2d8b70cb404c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9def5327d5478c" /><Relationship Type="http://schemas.openxmlformats.org/officeDocument/2006/relationships/notesMaster" Target="/ppt/notesMasters/notesMaster1.xml" Id="R52bebf27fbdc43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682ea004974b49" /><Relationship Type="http://schemas.openxmlformats.org/officeDocument/2006/relationships/notesMaster" Target="/ppt/notesMasters/notesMaster1.xml" Id="Rb3fc5cbea07247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11795797a943ff" /><Relationship Type="http://schemas.openxmlformats.org/officeDocument/2006/relationships/notesMaster" Target="/ppt/notesMasters/notesMaster1.xml" Id="Rb31fd0120f9949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44904aa0f94f7a" /><Relationship Type="http://schemas.openxmlformats.org/officeDocument/2006/relationships/notesMaster" Target="/ppt/notesMasters/notesMaster1.xml" Id="Rc3422ce7819e4f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fc68eb3ada46aa" /><Relationship Type="http://schemas.openxmlformats.org/officeDocument/2006/relationships/notesMaster" Target="/ppt/notesMasters/notesMaster1.xml" Id="Ra3c238481de743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60bb61a1eb4a5d" /><Relationship Type="http://schemas.openxmlformats.org/officeDocument/2006/relationships/notesMaster" Target="/ppt/notesMasters/notesMaster1.xml" Id="R7c583e787eac4c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36dccbcb884ee1" /><Relationship Type="http://schemas.openxmlformats.org/officeDocument/2006/relationships/notesMaster" Target="/ppt/notesMasters/notesMaster1.xml" Id="Rb3191b5853db44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8fd1d09ecb46d4" /><Relationship Type="http://schemas.openxmlformats.org/officeDocument/2006/relationships/notesMaster" Target="/ppt/notesMasters/notesMaster1.xml" Id="R818d06a72ee64e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05b50220d04473" /><Relationship Type="http://schemas.openxmlformats.org/officeDocument/2006/relationships/notesMaster" Target="/ppt/notesMasters/notesMaster1.xml" Id="R7efb4ad85f2f40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42334af636439d" /><Relationship Type="http://schemas.openxmlformats.org/officeDocument/2006/relationships/notesMaster" Target="/ppt/notesMasters/notesMaster1.xml" Id="Rc0c03efa0c1046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f7ee955e9b4106" /><Relationship Type="http://schemas.openxmlformats.org/officeDocument/2006/relationships/notesMaster" Target="/ppt/notesMasters/notesMaster1.xml" Id="R5cadb540db2946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cf21016cf94c7e" /><Relationship Type="http://schemas.openxmlformats.org/officeDocument/2006/relationships/notesMaster" Target="/ppt/notesMasters/notesMaster1.xml" Id="R3a7410778e794c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257cf80b18488f" /><Relationship Type="http://schemas.openxmlformats.org/officeDocument/2006/relationships/notesMaster" Target="/ppt/notesMasters/notesMaster1.xml" Id="R6a9ecf928c3a4f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fadb3898d645b8" /><Relationship Type="http://schemas.openxmlformats.org/officeDocument/2006/relationships/notesMaster" Target="/ppt/notesMasters/notesMaster1.xml" Id="R2e5cd5c637d54a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bbb36804ef84e18" /><Relationship Type="http://schemas.openxmlformats.org/officeDocument/2006/relationships/notesMaster" Target="/ppt/notesMasters/notesMaster1.xml" Id="R55a8df63ecdd41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472a2e88434962" /><Relationship Type="http://schemas.openxmlformats.org/officeDocument/2006/relationships/notesMaster" Target="/ppt/notesMasters/notesMaster1.xml" Id="Ra2e8b00b161d47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123d552aa0247d2" /><Relationship Type="http://schemas.openxmlformats.org/officeDocument/2006/relationships/notesMaster" Target="/ppt/notesMasters/notesMaster1.xml" Id="Ra2fb38e1a76d49f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f705c93bbd456d" /><Relationship Type="http://schemas.openxmlformats.org/officeDocument/2006/relationships/notesMaster" Target="/ppt/notesMasters/notesMaster1.xml" Id="Raa02605af6764da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adc081a3324668" /><Relationship Type="http://schemas.openxmlformats.org/officeDocument/2006/relationships/notesMaster" Target="/ppt/notesMasters/notesMaster1.xml" Id="R24329296008c4e7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fd77f486174457c" /><Relationship Type="http://schemas.openxmlformats.org/officeDocument/2006/relationships/notesMaster" Target="/ppt/notesMasters/notesMaster1.xml" Id="R92fc81f3eff14d7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83516250ec84354" /><Relationship Type="http://schemas.openxmlformats.org/officeDocument/2006/relationships/notesMaster" Target="/ppt/notesMasters/notesMaster1.xml" Id="Rc7166572a6d7477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4318aeb44e24651" /><Relationship Type="http://schemas.openxmlformats.org/officeDocument/2006/relationships/notesMaster" Target="/ppt/notesMasters/notesMaster1.xml" Id="Rfeee3657894345e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30857d4ff704654" /><Relationship Type="http://schemas.openxmlformats.org/officeDocument/2006/relationships/notesMaster" Target="/ppt/notesMasters/notesMaster1.xml" Id="R502b86cb0c31432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4dc988df1804ae7" /><Relationship Type="http://schemas.openxmlformats.org/officeDocument/2006/relationships/notesMaster" Target="/ppt/notesMasters/notesMaster1.xml" Id="Rff502eb9a4a647c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a817ee28d344c8" /><Relationship Type="http://schemas.openxmlformats.org/officeDocument/2006/relationships/notesMaster" Target="/ppt/notesMasters/notesMaster1.xml" Id="Rb931829c7e1448a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1937b1666e74504" /><Relationship Type="http://schemas.openxmlformats.org/officeDocument/2006/relationships/notesMaster" Target="/ppt/notesMasters/notesMaster1.xml" Id="Rdea2fa09bfca4fd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d437dc8ae77432a" /><Relationship Type="http://schemas.openxmlformats.org/officeDocument/2006/relationships/notesMaster" Target="/ppt/notesMasters/notesMaster1.xml" Id="Ra15364bd09be48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 minutes. </a:t>
            </a:r>
          </a:p>
          <a:p xmlns:a="http://schemas.openxmlformats.org/drawingml/2006/main">
            <a:r>
              <a:t/>
            </a:r>
          </a:p>
          <a:p xmlns:a="http://schemas.openxmlformats.org/drawingml/2006/main">
            <a:r>
              <a:t>Open with the decision, not the algorithm: ABC needs to decide which existing customers to call about the gold membership. This project uses last year's campaign to rank customers by response score. The selected soft-voting ensemble combines logistic regression, random forest, and gradient boosting. The headline is historical: 90 of 448 evaluation customers contain 49 of the 67 responders. That is 73.1% capture within approximately 20% of the customer list. This is promising targeting evidence, not a guaranteed future conversion rate. Explain that the talk will cover the evidence, implementation, evaluation, and a pilot recommendation.</a:t>
            </a:r>
          </a:p>
          <a:p xmlns:a="http://schemas.openxmlformats.org/drawingml/2006/main">
            <a:r>
              <a:t/>
            </a:r>
          </a:p>
          <a:p xmlns:a="http://schemas.openxmlformats.org/drawingml/2006/main">
            <a:r>
              <a:t>Source: ABC Supermarket assessment | main.ipynb, sections 7–10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1.25 minutes. </a:t>
            </a:r>
          </a:p>
          <a:p xmlns:a="http://schemas.openxmlformats.org/drawingml/2006/main">
            <a:r>
              <a:t/>
            </a:r>
          </a:p>
          <a:p xmlns:a="http://schemas.openxmlformats.org/drawingml/2006/main">
            <a:r>
              <a:t>The brief describes a year-end gold membership offered to existing customers for $499, compared with the normal $999 price, and offering a 20% discount on purchases. Calls consume budget and staff time, so the model's job is to help prioritize likely responders. The supervised target is historical acceptance, not lifetime value, retention, or the causal effect of a phone call. No call cost, discount utilization, margin, or budget is supplied. Therefore the initial objective is ranking quality and coverage at a fixed calling capacity. Profit optimization must wait for those inputs.</a:t>
            </a:r>
          </a:p>
          <a:p xmlns:a="http://schemas.openxmlformats.org/drawingml/2006/main">
            <a:r>
              <a:t/>
            </a:r>
          </a:p>
          <a:p xmlns:a="http://schemas.openxmlformats.org/drawingml/2006/main">
            <a:r>
              <a:t>Source: Problem Statement.pdf,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0.75 minutes. </a:t>
            </a:r>
          </a:p>
          <a:p xmlns:a="http://schemas.openxmlformats.org/drawingml/2006/main">
            <a:r>
              <a:t/>
            </a:r>
          </a:p>
          <a:p xmlns:a="http://schemas.openxmlformats.org/drawingml/2006/main">
            <a:r>
              <a:t>Allow about 38 minutes for the main story. First explain the dataset, class imbalance, and exploratory findings. Then show how preprocessing and cross-validation work, compare the six initial models, and explain tuning and ensembles. Next interpret the classification and ranking results. Finish with capacity, value, limitations, and a controlled pilot. The appendix contains detailed metrics, selected parameters, feature groups, and answers to likely technical questions. Keep roughly 15 minutes of the overall hour available for introductions and discussion; the remaining time is a buffer.</a:t>
            </a:r>
          </a:p>
          <a:p xmlns:a="http://schemas.openxmlformats.org/drawingml/2006/main">
            <a:r>
              <a:t/>
            </a:r>
          </a:p>
          <a:p xmlns:a="http://schemas.openxmlformats.org/drawingml/2006/main">
            <a:r>
              <a:t>Source: Assessment solution expectations,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1.25 minutes. </a:t>
            </a:r>
          </a:p>
          <a:p xmlns:a="http://schemas.openxmlformats.org/drawingml/2006/main">
            <a:r>
              <a:t/>
            </a:r>
          </a:p>
          <a:p xmlns:a="http://schemas.openxmlformats.org/drawingml/2006/main">
            <a:r>
              <a:t>The workbook contains 2,240 customer rows and 22 source columns, including Response and a unique customer ID. pandas loads the marketing_data sheet using a relative path, which keeps the notebook portable. Matplotlib and seaborn provide the EDA; scikit-learn supplies preprocessing, models, and evaluation. Feature groups include household profile, product spending, purchase channels, recency, and enrollment. Response equals one for an accepted offer and zero otherwise. There are no repeated IDs or exact duplicate rows. The empty Sheet1 is not loaded. Show the import and read_excel snippet as an example of the simple reproducible code style.</a:t>
            </a:r>
          </a:p>
          <a:p xmlns:a="http://schemas.openxmlformats.org/drawingml/2006/main">
            <a:r>
              <a:t/>
            </a:r>
          </a:p>
          <a:p xmlns:a="http://schemas.openxmlformats.org/drawingml/2006/main">
            <a:r>
              <a:t>Source: main.ipynb §1–2 | marketing_data.xlsx, marketing_data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1.75 minutes. </a:t>
            </a:r>
          </a:p>
          <a:p xmlns:a="http://schemas.openxmlformats.org/drawingml/2006/main">
            <a:r>
              <a:t/>
            </a:r>
          </a:p>
          <a:p xmlns:a="http://schemas.openxmlformats.org/drawingml/2006/main">
            <a:r>
              <a:t>The source has 334 responders and 1,906 non-responders. The majority-only dummy model consequently achieves approximately 85% accuracy by predicting no acceptance for everyone, but it has zero recall and zero F1. This motivates optimizing average precision, which summarizes precision across recall changes and focuses attention on the minority class. The notebook labels this metric PR AUC; technically the function used is average_precision_score, not trapezoidal integration. Precision describes successful calls among selected customers; recall describes coverage of historical responders. Both connect more closely to the campaign decision than accuracy alone. We still report accuracy and ROC AUC for context.</a:t>
            </a:r>
          </a:p>
          <a:p xmlns:a="http://schemas.openxmlformats.org/drawingml/2006/main">
            <a:r>
              <a:t/>
            </a:r>
          </a:p>
          <a:p xmlns:a="http://schemas.openxmlformats.org/drawingml/2006/main">
            <a:r>
              <a:t>Source: main.ipynb §3 and §5; source target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1.5 minutes. </a:t>
            </a:r>
          </a:p>
          <a:p xmlns:a="http://schemas.openxmlformats.org/drawingml/2006/main">
            <a:r>
              <a:t/>
            </a:r>
          </a:p>
          <a:p xmlns:a="http://schemas.openxmlformats.org/drawingml/2006/main">
            <a:r>
              <a:t>The data checks identify 24 missing incomes, three derived ages above 100, one income above 200,000, and rare marital labels. The notebook excludes four records using those age and income rules and retains missing incomes for median imputation. Alone is mapped to Single, and Absurd and YOLO become Other. These are documented analyst choices, not externally verified data errors. The income threshold is a heuristic and could exclude a legitimate high-value customer, so production work should compare retaining, capping, or flagging extremes. Dates parse successfully, but they mix strings and Excel dates. Successful parsing does not prove that every historical date was originally interpreted correctly.</a:t>
            </a:r>
          </a:p>
          <a:p xmlns:a="http://schemas.openxmlformats.org/drawingml/2006/main">
            <a:r>
              <a:t/>
            </a:r>
          </a:p>
          <a:p xmlns:a="http://schemas.openxmlformats.org/drawingml/2006/main">
            <a:r>
              <a:t>Source: main.ipynb §2 and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1.25 minutes. </a:t>
            </a:r>
          </a:p>
          <a:p xmlns:a="http://schemas.openxmlformats.org/drawingml/2006/main">
            <a:r>
              <a:t/>
            </a:r>
          </a:p>
          <a:p xmlns:a="http://schemas.openxmlformats.org/drawingml/2006/main">
            <a:r>
              <a:t>Recency measures days since the last purchase. The quartile comparison falls from about 26.5% acceptance in the most-recent group to about 7.4% in the least-recent group. This is roughly a 3.6-fold ratio. The bars describe historical groups before modeling. A recently active customer may be easier to reach, more engaged, or already more interested in the retailer, but the data does not identify the causal mechanism. Explain that we preserve Recency as a numeric input rather than converting these EDA bins into model features. Ask the audience to remember the difference between a useful association and a business intervention.</a:t>
            </a:r>
          </a:p>
          <a:p xmlns:a="http://schemas.openxmlformats.org/drawingml/2006/main">
            <a:r>
              <a:t/>
            </a:r>
          </a:p>
          <a:p xmlns:a="http://schemas.openxmlformats.org/drawingml/2006/main">
            <a:r>
              <a:t>Source: main.ipynb §3 | raw 2,240-customer EDA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1.5 minutes. </a:t>
            </a:r>
          </a:p>
          <a:p xmlns:a="http://schemas.openxmlformats.org/drawingml/2006/main">
            <a:r>
              <a:t/>
            </a:r>
          </a:p>
          <a:p xmlns:a="http://schemas.openxmlformats.org/drawingml/2006/main">
            <a:r>
              <a:t>The strongest displayed associations include total spending, catalog purchases, and meat and wine spending. Their absolute correlations are modest, which supports combining signals rather than selecting customers with one rule. Spearman correlation measures monotonic association and is less dominated by magnitude extremes than Pearson correlation. These are full-data exploratory findings, not causal estimates or final-model feature importance. The actual modeling frame is rebuilt from df: it retains the product spending columns but does not include Total_Spend, Total_Purchases, or Children as aggregate model inputs. This distinction matters when explaining what the deployed predictor actually receives.</a:t>
            </a:r>
          </a:p>
          <a:p xmlns:a="http://schemas.openxmlformats.org/drawingml/2006/main">
            <a:r>
              <a:t/>
            </a:r>
          </a:p>
          <a:p xmlns:a="http://schemas.openxmlformats.org/drawingml/2006/main">
            <a:r>
              <a:t>Source: main.ipynb §3 | Spearman correlations, raw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1.25 minutes. </a:t>
            </a:r>
          </a:p>
          <a:p xmlns:a="http://schemas.openxmlformats.org/drawingml/2006/main">
            <a:r>
              <a:t/>
            </a:r>
          </a:p>
          <a:p xmlns:a="http://schemas.openxmlformats.org/drawingml/2006/main">
            <a:r>
              <a:t>Education groups show different observed response rates, from 3.7% in Basic to 20.8% in PhD. That does not justify a rule to call only one education group. Income, household composition, and spending may explain some of the difference. Group counts make the evidence easier to judge. The marital chart omitted groups under 20 customers because a single response can dominate a tiny group's rate. In production, review precision and recall across relevant segments, investigate data coverage, and confirm that the features are appropriate for the intended campaign. Present these findings as descriptive context rather than targeting policy by demographic group.</a:t>
            </a:r>
          </a:p>
          <a:p xmlns:a="http://schemas.openxmlformats.org/drawingml/2006/main">
            <a:r>
              <a:t/>
            </a:r>
          </a:p>
          <a:p xmlns:a="http://schemas.openxmlformats.org/drawingml/2006/main">
            <a:r>
              <a:t>Source: main.ipynb §3 | education response rates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1.5 minutes. </a:t>
            </a:r>
          </a:p>
          <a:p xmlns:a="http://schemas.openxmlformats.org/drawingml/2006/main">
            <a:r>
              <a:t/>
            </a:r>
          </a:p>
          <a:p xmlns:a="http://schemas.openxmlformats.org/drawingml/2006/main">
            <a:r>
              <a:t>The model starts from a fresh copy of the source data. After four exclusions there are 2,236 rows. Response is separated as y, while ID, Year_Birth, and Dt_Customer are dropped from X after age and tenure are derived. This leaves 20 input columns: 18 numeric and two categorical. The date reference is fixed at 31 December 2014, an assumption rather than a supplied campaign timestamp. The 80/20 split yields 1,788 training rows and 448 evaluation rows; stratification approximately preserves class proportions. The evaluation subset contains 67 responders. It was inspected repeatedly during development, so we now describe it as an exploratory evaluation set rather than a pristine final test.</a:t>
            </a:r>
          </a:p>
          <a:p xmlns:a="http://schemas.openxmlformats.org/drawingml/2006/main">
            <a:r>
              <a:t/>
            </a:r>
          </a:p>
          <a:p xmlns:a="http://schemas.openxmlformats.org/drawingml/2006/main">
            <a:r>
              <a:t>Source: main.ipynb §4 | random_state=42; stratify=y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 minutes. </a:t>
            </a:r>
          </a:p>
          <a:p xmlns:a="http://schemas.openxmlformats.org/drawingml/2006/main">
            <a:r>
              <a:t/>
            </a:r>
          </a:p>
          <a:p xmlns:a="http://schemas.openxmlformats.org/drawingml/2006/main">
            <a:r>
              <a:t>Numeric columns go through median imputation followed by standard scaling. Categorical columns go through most-frequent imputation and one-hot encoding, with unseen labels ignored during scoring. A ColumnTransformer combines both branches, and the classifier is the last step of the Pipeline. Putting the pipeline inside GridSearchCV means the imputer, scaler, and encoder are refitted using only each fold's training rows. This prevents preprocessing statistics from leaking from the outer validation fold. Scaling particularly matters for logistic regression and KNN; trees do not require it, but it allows a common preprocessing interface. Be precise about limits: the initial cleaning decisions and full-data EDA preceded the split; the stacking implementation also preprocesses before its internal meta-model folds. Those limitations are discussed later.</a:t>
            </a:r>
          </a:p>
          <a:p xmlns:a="http://schemas.openxmlformats.org/drawingml/2006/main">
            <a:r>
              <a:t/>
            </a:r>
          </a:p>
          <a:p xmlns:a="http://schemas.openxmlformats.org/drawingml/2006/main">
            <a:r>
              <a:t>Source: main.ipynb §4–7 | Pipeline and ColumnTransformer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1.75 minutes. </a:t>
            </a:r>
          </a:p>
          <a:p xmlns:a="http://schemas.openxmlformats.org/drawingml/2006/main">
            <a:r>
              <a:t/>
            </a:r>
          </a:p>
          <a:p xmlns:a="http://schemas.openxmlformats.org/drawingml/2006/main">
            <a:r>
              <a:t>Walk through the table as business tradeoffs. The dummy model demonstrates the accuracy trap. Logistic regression has high recall and the best initial AP. Gradient boosting has higher precision and accuracy, making it attractive when call capacity is tight, but it misses many responders at 0.50. The tree finds many responders but creates many false positives. KNN and the forest are conservative at this threshold. These are observations; proposed reasons for weaker performance are hypotheses, not proven diagnoses from learning curves. The models also use different balancing settings, which contributes to their threshold behavior. Carry logistic regression, random forest, and gradient boosting forward based on ranking performance and complementary behavior.</a:t>
            </a:r>
          </a:p>
          <a:p xmlns:a="http://schemas.openxmlformats.org/drawingml/2006/main">
            <a:r>
              <a:t/>
            </a:r>
          </a:p>
          <a:p xmlns:a="http://schemas.openxmlformats.org/drawingml/2006/main">
            <a:r>
              <a:t>Source: main.ipynb §5 | evaluation set, default threshold 0.50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1.75 minutes. </a:t>
            </a:r>
          </a:p>
          <a:p xmlns:a="http://schemas.openxmlformats.org/drawingml/2006/main">
            <a:r>
              <a:t/>
            </a:r>
          </a:p>
          <a:p xmlns:a="http://schemas.openxmlformats.org/drawingml/2006/main">
            <a:r>
              <a:t>All three searches run on the training split using five stratified folds, with average precision as the scorer. Logistic regression tests three C values and two class-weight settings, giving six combinations. The forest tests two tree counts, three depths, two minimum leaf sizes, and one class-weight setting, giving twelve combinations. Gradient boosting tests two tree counts, two learning rates, two depths, and two leaf sizes, giving sixteen combinations. Together that is 34 configurations or 170 cross-validation fits, plus refits. Gradient boosting receives balanced sample weights because it lacks class_weight. Note that changes in balancing as well as hyperparameters explain differences from the initial results. Small grids make this assessment reproducible and tractable.</a:t>
            </a:r>
          </a:p>
          <a:p xmlns:a="http://schemas.openxmlformats.org/drawingml/2006/main">
            <a:r>
              <a:t/>
            </a:r>
          </a:p>
          <a:p xmlns:a="http://schemas.openxmlformats.org/drawingml/2006/main">
            <a:r>
              <a:t>Source: main.ipynb §6 | GridSearchCV(scoring="average_precision")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1.5 minutes. </a:t>
            </a:r>
          </a:p>
          <a:p xmlns:a="http://schemas.openxmlformats.org/drawingml/2006/main">
            <a:r>
              <a:t/>
            </a:r>
          </a:p>
          <a:p xmlns:a="http://schemas.openxmlformats.org/drawingml/2006/main">
            <a:r>
              <a:t>The tuned gradient boosting model has the highest selected CV score at .538. On the evaluation set, it reaches .806 recall and .617 F1, but precision is .500 and AP is .589. Logistic regression still has the highest evaluation AP at .624. This is a useful illustration of why we should not call any model universally best. The boosted model's shift partly reflects balanced sample weights, not just tuning. The small CV dataset and choice of folds also matter. The reported search scores are selection scores rather than unbiased nested-CV estimates. We chose boosting as a strong candidate and then explored whether averaging different models could improve the tradeoff.</a:t>
            </a:r>
          </a:p>
          <a:p xmlns:a="http://schemas.openxmlformats.org/drawingml/2006/main">
            <a:r>
              <a:t/>
            </a:r>
          </a:p>
          <a:p xmlns:a="http://schemas.openxmlformats.org/drawingml/2006/main">
            <a:r>
              <a:t>Source: main.ipynb §6 | mean CV AP and evaluation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 minutes. </a:t>
            </a:r>
          </a:p>
          <a:p xmlns:a="http://schemas.openxmlformats.org/drawingml/2006/main">
            <a:r>
              <a:t/>
            </a:r>
          </a:p>
          <a:p xmlns:a="http://schemas.openxmlformats.org/drawingml/2006/main">
            <a:r>
              <a:t>The ensemble uses the model steps cloned directly from the best pipelines returned by the three searches. It does not hardcode a second independent parameter configuration. VotingClassifier clones and refits those estimators, then gives each model equal weight when averaging its predicted class-one probabilities. Logistic regression supplies a linear perspective, random forest averages bagged trees, and gradient boosting builds trees sequentially. The notebook removes class_weight from logistic regression and the forest because balanced sample weights are supplied to the whole ensemble; retaining both would apply balancing twice. This construction is a ranking score. Because class weighting changes the effective training distribution, the output should not be treated as a calibrated purchase probability without further calibration.</a:t>
            </a:r>
          </a:p>
          <a:p xmlns:a="http://schemas.openxmlformats.org/drawingml/2006/main">
            <a:r>
              <a:t/>
            </a:r>
          </a:p>
          <a:p xmlns:a="http://schemas.openxmlformats.org/drawingml/2006/main">
            <a:r>
              <a:t>Source: main.ipynb §7 | cloned best_estimator_ model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1.75 minutes. </a:t>
            </a:r>
          </a:p>
          <a:p xmlns:a="http://schemas.openxmlformats.org/drawingml/2006/main">
            <a:r>
              <a:t/>
            </a:r>
          </a:p>
          <a:p xmlns:a="http://schemas.openxmlformats.org/drawingml/2006/main">
            <a:r>
              <a:t>Soft voting has the highest displayed mean CV AP at .549, compared with .538 for gradient boosting and .545 for stacking. It improves F1 to .630, with .537 precision and .761 recall. Stacking finds more responders but produces more unsuccessful selections. Extra Trees is more precise but misses more responders. The differences are modest and no statistical significance test has established superiority. The component models were tuned on this training set before ensemble cross-validation, so this is not nested validation. Also, the evaluation set has informed several development choices. Soft voting is the selected assessment model and a pilot candidate, not a proven population-wide winner.</a:t>
            </a:r>
          </a:p>
          <a:p xmlns:a="http://schemas.openxmlformats.org/drawingml/2006/main">
            <a:r>
              <a:t/>
            </a:r>
          </a:p>
          <a:p xmlns:a="http://schemas.openxmlformats.org/drawingml/2006/main">
            <a:r>
              <a:t>Source: main.ipynb §6–7 | repeated development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1.75 minutes. </a:t>
            </a:r>
          </a:p>
          <a:p xmlns:a="http://schemas.openxmlformats.org/drawingml/2006/main">
            <a:r>
              <a:t/>
            </a:r>
          </a:p>
          <a:p xmlns:a="http://schemas.openxmlformats.org/drawingml/2006/main">
            <a:r>
              <a:t>Read the rows as actual outcomes and columns as predicted outcomes. There are 337 true negatives, 44 false positives, 16 false negatives, and 51 true positives. At threshold 0.50 the model selects 95 customers: 51 accepted historically and 44 did not. Precision is 51 divided by 95, or 53.7%. Recall is 51 divided by 67, or 76.1%. The 16 missed responders represent opportunity cost, and the 44 false positives represent potentially unproductive calls. These are simulated decisions using historical labels, not actual new calls. The top-20% ranking policy selects 90 customers and is a different operating point from this 0.50 confusion matrix.</a:t>
            </a:r>
          </a:p>
          <a:p xmlns:a="http://schemas.openxmlformats.org/drawingml/2006/main">
            <a:r>
              <a:t/>
            </a:r>
          </a:p>
          <a:p xmlns:a="http://schemas.openxmlformats.org/drawingml/2006/main">
            <a:r>
              <a:t>Source: main.ipynb §8 | 448 evaluation customers; threshold=0.50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1.75 minutes. </a:t>
            </a:r>
          </a:p>
          <a:p xmlns:a="http://schemas.openxmlformats.org/drawingml/2006/main">
            <a:r>
              <a:t/>
            </a:r>
          </a:p>
          <a:p xmlns:a="http://schemas.openxmlformats.org/drawingml/2006/main">
            <a:r>
              <a:t>Unlike the confusion matrix, both curves summarize many thresholds. ROC AUC is .907 and describes how often a randomly chosen responder ranks above a randomly chosen non-responder, with conventional treatment of ties. It does not mean 90.7% accuracy. Average precision is .624, compared with a response prevalence baseline near .150. It summarizes the precision-recall relationship, but it is not a 62.4% response rate at every threshold. The PR curve emphasizes what happens to precision when we try to capture more responders. These plots validate ranking behavior on this historical evaluation subset. The final operating threshold should be selected against campaign capacity and contribution economics, then verified on fresh data.</a:t>
            </a:r>
          </a:p>
          <a:p xmlns:a="http://schemas.openxmlformats.org/drawingml/2006/main">
            <a:r>
              <a:t/>
            </a:r>
          </a:p>
          <a:p xmlns:a="http://schemas.openxmlformats.org/drawingml/2006/main">
            <a:r>
              <a:t>Source: main.ipynb §8 | exact notebook ROC and PR chart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1.25 minutes. </a:t>
            </a:r>
          </a:p>
          <a:p xmlns:a="http://schemas.openxmlformats.org/drawingml/2006/main">
            <a:r>
              <a:t/>
            </a:r>
          </a:p>
          <a:p xmlns:a="http://schemas.openxmlformats.org/drawingml/2006/main">
            <a:r>
              <a:t>Each customer receives an averaged class-one score from soft voting. We sort descending and select the first k customers, where k is determined by available calls. No actual response label participates in ranking; actual labels are used only to calculate retrospective evaluation metrics. Explain the illustrative three-customer list as fictional, not real customer predictions. For an approximately 20% budget on 448 rows, rounding gives 90 selections, which is actually 20.09% of the rows. The stored probability values are best described as response scores because balanced fitting may impair calibration. Ties should be handled consistently during deployment. Keep a stable customer ID outside the model features for linking scores to the calling system.</a:t>
            </a:r>
          </a:p>
          <a:p xmlns:a="http://schemas.openxmlformats.org/drawingml/2006/main">
            <a:r>
              <a:t/>
            </a:r>
          </a:p>
          <a:p xmlns:a="http://schemas.openxmlformats.org/drawingml/2006/main">
            <a:r>
              <a:t>Source: main.ipynb §9 | predict_proba(X_test)[:, 1], descending sort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1.75 minutes. </a:t>
            </a:r>
          </a:p>
          <a:p xmlns:a="http://schemas.openxmlformats.org/drawingml/2006/main">
            <a:r>
              <a:t/>
            </a:r>
          </a:p>
          <a:p xmlns:a="http://schemas.openxmlformats.org/drawingml/2006/main">
            <a:r>
              <a:t>The horizontal axis is cumulative share of customers selected by descending score, and the vertical axis is cumulative share of all observed responders included. The 20% point contains 49 of 67 responders, giving 73.1% capture. Randomly selecting 20% would capture 20% of responders in expectation, not 73%. To correct an earlier verbal explanation: random selection of 10% would capture 10%, not 20%. The blue curve is above the diagonal because the model concentrates historical responders toward the top of the list. All methods meet at 100%,100% because including everyone includes every responder. The plotted checkpoints are connected linearly; we are not asserting measured intermediate points.</a:t>
            </a:r>
          </a:p>
          <a:p xmlns:a="http://schemas.openxmlformats.org/drawingml/2006/main">
            <a:r>
              <a:t/>
            </a:r>
          </a:p>
          <a:p xmlns:a="http://schemas.openxmlformats.org/drawingml/2006/main">
            <a:r>
              <a:t>Source: main.ipynb §9 | 49 / 67 responders in top 90 / 448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1.75 minutes. </a:t>
            </a:r>
          </a:p>
          <a:p xmlns:a="http://schemas.openxmlformats.org/drawingml/2006/main">
            <a:r>
              <a:t/>
            </a:r>
          </a:p>
          <a:p xmlns:a="http://schemas.openxmlformats.org/drawingml/2006/main">
            <a:r>
              <a:t>This table makes the efficiency-versus-coverage decision explicit. Top 10% is most selective: 27 responders in 45 calls, or 60% response. Top 20% captures 49 responders with 90 calls. Going to 30% adds 44 calls for 10 more observed responders, a marginal yield near 22.7%. Larger contact groups continue to improve coverage but dilute average response. Lift divides the selected response rate by the overall evaluation rate, 67 divided by 448. At top 20%, .5444 divided by .1496 gives 3.64. Calling the top 20% is a practical pilot starting point and not a threshold optimized against unknown costs. The best policy may differ if the call budget or net contribution changes.</a:t>
            </a:r>
          </a:p>
          <a:p xmlns:a="http://schemas.openxmlformats.org/drawingml/2006/main">
            <a:r>
              <a:t/>
            </a:r>
          </a:p>
          <a:p xmlns:a="http://schemas.openxmlformats.org/drawingml/2006/main">
            <a:r>
              <a:t>Source: main.ipynb §9 | nominal contact fractions; customer counts rounded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 minutes. </a:t>
            </a:r>
          </a:p>
          <a:p xmlns:a="http://schemas.openxmlformats.org/drawingml/2006/main">
            <a:r>
              <a:t/>
            </a:r>
          </a:p>
          <a:p xmlns:a="http://schemas.openxmlformats.org/drawingml/2006/main">
            <a:r>
              <a:t>Use exactly the same 90-call budget for the comparison. The top-ranked group contains 49 historical responders. Random selection would contain 90 times 67 over 448, or 13.46 responders on average. The difference is 35.54 observed or expected responder labels. Multiplying by the offer price $499 gives $17,734.55. This is a retrospective, illustrative gross revenue difference, conditional on historical responders corresponding to paid memberships at this price. It is not measured incremental sales caused by calling and not profit. Equal call counts make comparable calling costs cancel in this comparison, but discount redemption and servicing costs may differ. Before a profit claim, obtain net contribution per membership and measure causal conversion improvement in a randomized pilot.</a:t>
            </a:r>
          </a:p>
          <a:p xmlns:a="http://schemas.openxmlformats.org/drawingml/2006/main">
            <a:r>
              <a:t/>
            </a:r>
          </a:p>
          <a:p xmlns:a="http://schemas.openxmlformats.org/drawingml/2006/main">
            <a:r>
              <a:t>Source: main.ipynb §9 arithmetic | $499 offer from Problem Statement.pdf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 minutes. </a:t>
            </a:r>
          </a:p>
          <a:p xmlns:a="http://schemas.openxmlformats.org/drawingml/2006/main">
            <a:r>
              <a:t/>
            </a:r>
          </a:p>
          <a:p xmlns:a="http://schemas.openxmlformats.org/drawingml/2006/main">
            <a:r>
              <a:t>Start with one eligible pool of existing customers and freeze feature values at the contact decision time. Randomly divide customers into comparable policy arms. In the model-policy arm, call the top fraction according to a fixed score cutoff or capacity rule. In the random-policy arm, call the same fraction randomly. Keep offer, script, contact attempts, and budget comparable. Compare completed purchases and net contribution per eligible customer, as well as cost per conversion. This estimates the effect of adopting the targeting policy. A separate randomized no-call control is needed to estimate the incremental effect of contact itself, as opposed to comparing two selection policies. Capture score, selection, contact attempt, acceptance, payment, and subsequent discount cost. Set sample size and a fixed observation window before launch.</a:t>
            </a:r>
          </a:p>
          <a:p xmlns:a="http://schemas.openxmlformats.org/drawingml/2006/main">
            <a:r>
              <a:t/>
            </a:r>
          </a:p>
          <a:p xmlns:a="http://schemas.openxmlformats.org/drawingml/2006/main">
            <a:r>
              <a:t>Source: Proposed deployment plan; no pilot has been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2.25 minutes. </a:t>
            </a:r>
          </a:p>
          <a:p xmlns:a="http://schemas.openxmlformats.org/drawingml/2006/main">
            <a:r>
              <a:t/>
            </a:r>
          </a:p>
          <a:p xmlns:a="http://schemas.openxmlformats.org/drawingml/2006/main">
            <a:r>
              <a:t>Be candid and specific. First, the evaluation set was viewed repeatedly while comparing and selecting models, so it is not an untouched final test. Second, the base models were tuned before ensemble cross-validation, making the CV comparison optimistic relative to a nested design. Balanced weights were calculated from the complete training split before CV; a stricter implementation would calculate them within each training fold. Third, the stacking pipeline preprocesses outside its internal meta-model folds, another reason to keep stacking exploratory. Fourth, the true campaign cutoff and whether spending features precede response are not confirmed. Fifth, weighted probabilities need calibration before expected-value thresholds, and old customer behavior may drift. These limits do not invalidate the prototype's arithmetic; they define the next validation steps.</a:t>
            </a:r>
          </a:p>
          <a:p xmlns:a="http://schemas.openxmlformats.org/drawingml/2006/main">
            <a:r>
              <a:t/>
            </a:r>
          </a:p>
          <a:p xmlns:a="http://schemas.openxmlformats.org/drawingml/2006/main">
            <a:r>
              <a:t>Source: Review of main.ipynb implementation and evaluation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1.25 minutes. </a:t>
            </a:r>
          </a:p>
          <a:p xmlns:a="http://schemas.openxmlformats.org/drawingml/2006/main">
            <a:r>
              <a:t/>
            </a:r>
          </a:p>
          <a:p xmlns:a="http://schemas.openxmlformats.org/drawingml/2006/main">
            <a:r>
              <a:t>Return to the business objective: allocate limited calls to customers more likely to accept. The selected ensemble averages three tuned models and provides a useful historical ranking. It captures 73.1% of observed responders within about 20% of the evaluation list, with 3.64 times response-rate lift over random selection. The practical recommendation is a controlled pilot with a frozen model and explicit budget. Confirm feature timing and calibrate if using probability-based economics. Measure actual completed sales, cost per conversion, and net contribution. Only scale once a new campaign confirms the improvement. Keep the simpler logistic and individual boosting models as benchmarks because the ensemble advantage is modest. Invite questions on the implementation or the campaign design.</a:t>
            </a:r>
          </a:p>
          <a:p xmlns:a="http://schemas.openxmlformats.org/drawingml/2006/main">
            <a:r>
              <a:t/>
            </a:r>
          </a:p>
          <a:p xmlns:a="http://schemas.openxmlformats.org/drawingml/2006/main">
            <a:r>
              <a:t>Source: main.ipynb §7–10 | proposed next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DISCUSSION. </a:t>
            </a:r>
          </a:p>
          <a:p xmlns:a="http://schemas.openxmlformats.org/drawingml/2006/main">
            <a:r>
              <a:t/>
            </a:r>
          </a:p>
          <a:p xmlns:a="http://schemas.openxmlformats.org/drawingml/2006/main">
            <a:r>
              <a:t>This slide is a holding slide for questions, not part of the timed core presentation. Invite discussion of call capacity, relative cost of missed buyers and unsuccessful calls, data availability, and model validation. Backup slide 27 provides all initial model metrics, slide 28 provides tuned parameters, slide 29 distinguishes EDA features from actual model inputs, and slide 30 addresses technical caveats. If time is short, summarize the 20% and 30% tradeoff and the need for a fresh validation campaign.</a:t>
            </a:r>
          </a:p>
          <a:p xmlns:a="http://schemas.openxmlformats.org/drawingml/2006/main">
            <a:r>
              <a:t/>
            </a:r>
          </a:p>
          <a:p xmlns:a="http://schemas.openxmlformats.org/drawingml/2006/main">
            <a:r>
              <a:t>Source: Discussion prompts | appendix follows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DISCUSSION. </a:t>
            </a:r>
          </a:p>
          <a:p xmlns:a="http://schemas.openxmlformats.org/drawingml/2006/main">
            <a:r>
              <a:t/>
            </a:r>
          </a:p>
          <a:p xmlns:a="http://schemas.openxmlformats.org/drawingml/2006/main">
            <a:r>
              <a:t>Backup reference only. These values are from the notebook's initial model_results table. ROC AUC and AP measure ranking across thresholds; precision, recall, F1, and accuracy are measured at the default operating point. The class weighting configurations differ, so recall differences cannot be attributed only to algorithm family. No statistical superiority is established by these rounded single-split metrics.</a:t>
            </a:r>
          </a:p>
          <a:p xmlns:a="http://schemas.openxmlformats.org/drawingml/2006/main">
            <a:r>
              <a:t/>
            </a:r>
          </a:p>
          <a:p xmlns:a="http://schemas.openxmlformats.org/drawingml/2006/main">
            <a:r>
              <a:t>Source: main.ipynb §5 | complete initial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DISCUSSION. </a:t>
            </a:r>
          </a:p>
          <a:p xmlns:a="http://schemas.openxmlformats.org/drawingml/2006/main">
            <a:r>
              <a:t/>
            </a:r>
          </a:p>
          <a:p xmlns:a="http://schemas.openxmlformats.org/drawingml/2006/main">
            <a:r>
              <a:t>Logistic regression selected C=1 and balanced class weight. Random forest selected 100 trees, depth 15, minimum leaf size 4, and balanced class weight. Gradient boosting selected 150 trees, learning rate .05, depth 3, and minimum leaf size 5; subsample .85 was fixed. Structural parameters are cloned from best_estimator_.named_steps['model']. class_weight is set to None on the logistic and forest clones because the voting model passes balanced sample weights to all three. Voting averages probabilities with equal weights and refits cloned estimators. The selected values are not guaranteed globally optimal; they are best among the tested grids.</a:t>
            </a:r>
          </a:p>
          <a:p xmlns:a="http://schemas.openxmlformats.org/drawingml/2006/main">
            <a:r>
              <a:t/>
            </a:r>
          </a:p>
          <a:p xmlns:a="http://schemas.openxmlformats.org/drawingml/2006/main">
            <a:r>
              <a:t>Source: main.ipynb §6–7 | best_params_ and cloned model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DISCUSSION. </a:t>
            </a:r>
          </a:p>
          <a:p xmlns:a="http://schemas.openxmlformats.org/drawingml/2006/main">
            <a:r>
              <a:t/>
            </a:r>
          </a:p>
          <a:p xmlns:a="http://schemas.openxmlformats.org/drawingml/2006/main">
            <a:r>
              <a:t>The final model input contains 18 numeric features and two categorical features. Numeric inputs are Income, Kidhome, Teenhome, Recency, six product spending columns, four purchase-count columns, NumWebVisitsMonth, Complain, Age, and Customer_Tenure_Days. Education and Marital_Status are categorical. Response is the target and ID is excluded as a predictor. Year_Birth and Dt_Customer are replaced by age and tenure. EDA-only aggregates include Total_Spend, Total_Purchases, Children, and quantile groups. The EDA Total_Purchases sums deals and purchase channels, which may double count transactions; it is not a final model input and is not used as a deck claim. Sources: the supplied workbook and notebook, not external research.</a:t>
            </a:r>
          </a:p>
          <a:p xmlns:a="http://schemas.openxmlformats.org/drawingml/2006/main">
            <a:r>
              <a:t/>
            </a:r>
          </a:p>
          <a:p xmlns:a="http://schemas.openxmlformats.org/drawingml/2006/main">
            <a:r>
              <a:t>Source: main.ipynb §3–4 | model_data rebuilt from 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DISCUSSION. </a:t>
            </a:r>
          </a:p>
          <a:p xmlns:a="http://schemas.openxmlformats.org/drawingml/2006/main">
            <a:r>
              <a:t/>
            </a:r>
          </a:p>
          <a:p xmlns:a="http://schemas.openxmlformats.org/drawingml/2006/main">
            <a:r>
              <a:t>Why AP? Only about 15% respond, and the dummy demonstrates that accuracy alone is inadequate. Why voting? Complementary models give a modest observed F1 and CV-AP improvement, with lower complexity than stacking, though it requires three fits. Are the scores calibrated? No calibration was run, so use them for ranking and calibrate on independent folds before expected-profit thresholds. Is the evaluation unbiased? No: full-data EDA, repeated holdout inspection, and tuning before ensemble CV mean a fresh temporal campaign or nested evaluation is needed. Is $17.7k profit? No: it is historical responder enrichment multiplied by the offer price. Is the top 20% optimal? No: it is a capacity scenario. Does the model prove calls cause sales? No: a randomized control design is needed.</a:t>
            </a:r>
          </a:p>
          <a:p xmlns:a="http://schemas.openxmlformats.org/drawingml/2006/main">
            <a:r>
              <a:t/>
            </a:r>
          </a:p>
          <a:p xmlns:a="http://schemas.openxmlformats.org/drawingml/2006/main">
            <a:r>
              <a:t>Source: Implementation review | source references: notebook §4, §6–10; brief pp1–2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8b12671ff94da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8e8a1a137c84b3d" /><Relationship Type="http://schemas.openxmlformats.org/officeDocument/2006/relationships/slideLayout" Target="/ppt/slideLayouts/slideLayout2.xml" Id="Rd38c60aa303b4e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8c60aa303b4e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34a94e63625d43b5" /><Relationship Type="http://schemas.openxmlformats.org/officeDocument/2006/relationships/notesSlide" Target="/ppt/notesSlides/notesSlide1.xml" Id="Rb0a863c3ec0544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75d551fde2145b9" /><Relationship Type="http://schemas.openxmlformats.org/officeDocument/2006/relationships/notesSlide" Target="/ppt/notesSlides/notesSlide2.xml" Id="Rd01d81ef584e42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3c565b18ec14fce" /><Relationship Type="http://schemas.openxmlformats.org/officeDocument/2006/relationships/notesSlide" Target="/ppt/notesSlides/notesSlide3.xml" Id="Ra3f5a8b4773844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ef7d069c84c4858" /><Relationship Type="http://schemas.openxmlformats.org/officeDocument/2006/relationships/notesSlide" Target="/ppt/notesSlides/notesSlide4.xml" Id="Rc30cfed390c943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7c3d5892cae4329" /><Relationship Type="http://schemas.openxmlformats.org/officeDocument/2006/relationships/notesSlide" Target="/ppt/notesSlides/notesSlide5.xml" Id="Rebce6347933e48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341937408f64c3e" /><Relationship Type="http://schemas.openxmlformats.org/officeDocument/2006/relationships/notesSlide" Target="/ppt/notesSlides/notesSlide6.xml" Id="Rdfdc3cca47894c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02a17ddd1ff47af" /><Relationship Type="http://schemas.openxmlformats.org/officeDocument/2006/relationships/notesSlide" Target="/ppt/notesSlides/notesSlide7.xml" Id="R7b26cf5a2d964e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fb14e35981f4538" /><Relationship Type="http://schemas.openxmlformats.org/officeDocument/2006/relationships/notesSlide" Target="/ppt/notesSlides/notesSlide8.xml" Id="R1a174a12d9c54d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c0375c424474c83" /><Relationship Type="http://schemas.openxmlformats.org/officeDocument/2006/relationships/notesSlide" Target="/ppt/notesSlides/notesSlide9.xml" Id="Rd4e8d923501043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9f9c3b43e234a93" /><Relationship Type="http://schemas.openxmlformats.org/officeDocument/2006/relationships/notesSlide" Target="/ppt/notesSlides/notesSlide10.xml" Id="Rffab48491fbd4a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e049bd17ac94749" /><Relationship Type="http://schemas.openxmlformats.org/officeDocument/2006/relationships/notesSlide" Target="/ppt/notesSlides/notesSlide11.xml" Id="Rfa3958787bc649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5a5b44da5ca4685" /><Relationship Type="http://schemas.openxmlformats.org/officeDocument/2006/relationships/notesSlide" Target="/ppt/notesSlides/notesSlide12.xml" Id="R84590b4958f546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ebaf8141cff4063" /><Relationship Type="http://schemas.openxmlformats.org/officeDocument/2006/relationships/notesSlide" Target="/ppt/notesSlides/notesSlide13.xml" Id="R336607f2f06c4d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148898d705847c9" /><Relationship Type="http://schemas.openxmlformats.org/officeDocument/2006/relationships/notesSlide" Target="/ppt/notesSlides/notesSlide14.xml" Id="Rc0e5a7aca38f4c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b714cd22226450e" /><Relationship Type="http://schemas.openxmlformats.org/officeDocument/2006/relationships/notesSlide" Target="/ppt/notesSlides/notesSlide15.xml" Id="Reb21c313ed1b4c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6c7f28b9e7bc476f" /><Relationship Type="http://schemas.openxmlformats.org/officeDocument/2006/relationships/notesSlide" Target="/ppt/notesSlides/notesSlide16.xml" Id="R03854d18c5aa46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cafc4920b10468c" /><Relationship Type="http://schemas.openxmlformats.org/officeDocument/2006/relationships/notesSlide" Target="/ppt/notesSlides/notesSlide17.xml" Id="Rf60cdcfd1d6148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1342792392fd4110" /><Relationship Type="http://schemas.openxmlformats.org/officeDocument/2006/relationships/image" Target="/ppt/media/image.png" Id="Rfd3ff69667cf4628" /><Relationship Type="http://schemas.openxmlformats.org/officeDocument/2006/relationships/image" Target="/ppt/media/image2.png" Id="Re1264a6a3d864eda" /><Relationship Type="http://schemas.openxmlformats.org/officeDocument/2006/relationships/notesSlide" Target="/ppt/notesSlides/notesSlide18.xml" Id="R333c53bbffbe49a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3d18ba9784704650" /><Relationship Type="http://schemas.openxmlformats.org/officeDocument/2006/relationships/notesSlide" Target="/ppt/notesSlides/notesSlide19.xml" Id="R8b52da14127145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edbf5e4138c4ff1" /><Relationship Type="http://schemas.openxmlformats.org/officeDocument/2006/relationships/chart" Target="/ppt/slides/charts/chart1.xml" Id="Rff67142d27884a1d" /><Relationship Type="http://schemas.openxmlformats.org/officeDocument/2006/relationships/notesSlide" Target="/ppt/notesSlides/notesSlide20.xml" Id="R3eec7c9befc14cf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913db20d46a8427c" /><Relationship Type="http://schemas.openxmlformats.org/officeDocument/2006/relationships/notesSlide" Target="/ppt/notesSlides/notesSlide21.xml" Id="R69095e32bc7944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f66e42bdd64d4c3a" /><Relationship Type="http://schemas.openxmlformats.org/officeDocument/2006/relationships/notesSlide" Target="/ppt/notesSlides/notesSlide22.xml" Id="R89a47e26e9a9447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11244fdf0274cb0" /><Relationship Type="http://schemas.openxmlformats.org/officeDocument/2006/relationships/notesSlide" Target="/ppt/notesSlides/notesSlide23.xml" Id="Rc16898ffbbaa4bd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d70d90cd822b439b" /><Relationship Type="http://schemas.openxmlformats.org/officeDocument/2006/relationships/notesSlide" Target="/ppt/notesSlides/notesSlide24.xml" Id="Rdeb3acc0b3f544e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8da9763cdb6b4156" /><Relationship Type="http://schemas.openxmlformats.org/officeDocument/2006/relationships/notesSlide" Target="/ppt/notesSlides/notesSlide25.xml" Id="R7311ba26158841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36fd3080661a49fa" /><Relationship Type="http://schemas.openxmlformats.org/officeDocument/2006/relationships/notesSlide" Target="/ppt/notesSlides/notesSlide26.xml" Id="R17e7ab557582407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44dc805b5e97412f" /><Relationship Type="http://schemas.openxmlformats.org/officeDocument/2006/relationships/notesSlide" Target="/ppt/notesSlides/notesSlide27.xml" Id="R2296ee57419149c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b96a4dbdf7342d9" /><Relationship Type="http://schemas.openxmlformats.org/officeDocument/2006/relationships/notesSlide" Target="/ppt/notesSlides/notesSlide28.xml" Id="Racb44ddb22db430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3d3077563e84ea4" /><Relationship Type="http://schemas.openxmlformats.org/officeDocument/2006/relationships/notesSlide" Target="/ppt/notesSlides/notesSlide29.xml" Id="R4247694033c441f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ab4476cff081400c" /><Relationship Type="http://schemas.openxmlformats.org/officeDocument/2006/relationships/notesSlide" Target="/ppt/notesSlides/notesSlide30.xml" Id="R338df479d1304751" /></Relationships>
</file>

<file path=ppt/slides/charts/chart1.xml><?xml version="1.0" encoding="utf-8"?>
<c:chartSpace xmlns:c="http://schemas.openxmlformats.org/drawingml/2006/chart">
  <c:lang val="en-US"/>
  <c:roundedCorners val="0"/>
  <c:chart>
    <c:plotArea>
      <c:layout/>
      <c:scatterChart>
        <c:varyColors val="0"/>
        <c:ser>
          <c:idx val="0"/>
          <c:order val="0"/>
          <c:tx>
            <c:v>Soft voting</c:v>
          </c:tx>
          <c:spPr>
            <a:solidFill xmlns:a="http://schemas.openxmlformats.org/drawingml/2006/main">
              <a:srgbClr val="4682B4"/>
            </a:solidFill>
            <a:ln xmlns:a="http://schemas.openxmlformats.org/drawingml/2006/main" w="28575">
              <a:solidFill>
                <a:srgbClr val="4682B4"/>
              </a:solidFill>
              <a:prstDash val="solid"/>
            </a:ln>
          </c:spPr>
          <c:xVal>
            <c:numLit>
              <c:formatCode>General</c:formatCode>
              <c:ptCount val="7"/>
              <c:pt idx="0">
                <c:v>0</c:v>
              </c:pt>
              <c:pt idx="1">
                <c:v>10</c:v>
              </c:pt>
              <c:pt idx="2">
                <c:v>20</c:v>
              </c:pt>
              <c:pt idx="3">
                <c:v>30</c:v>
              </c:pt>
              <c:pt idx="4">
                <c:v>40</c:v>
              </c:pt>
              <c:pt idx="5">
                <c:v>50</c:v>
              </c:pt>
              <c:pt idx="6">
                <c:v>100</c:v>
              </c:pt>
            </c:numLit>
          </c:xVal>
          <c:yVal>
            <c:numLit>
              <c:formatCode/>
              <c:ptCount val="7"/>
              <c:pt idx="0">
                <c:v>0</c:v>
              </c:pt>
              <c:pt idx="1">
                <c:v>40.3</c:v>
              </c:pt>
              <c:pt idx="2">
                <c:v>73.13</c:v>
              </c:pt>
              <c:pt idx="3">
                <c:v>88.06</c:v>
              </c:pt>
              <c:pt idx="4">
                <c:v>94.03</c:v>
              </c:pt>
              <c:pt idx="5">
                <c:v>95.52</c:v>
              </c:pt>
              <c:pt idx="6">
                <c:v>100</c:v>
              </c:pt>
            </c:numLit>
          </c:yVal>
        </c:ser>
        <c:ser>
          <c:idx val="1"/>
          <c:order val="1"/>
          <c:tx>
            <c:v>Random selection</c:v>
          </c:tx>
          <c:spPr>
            <a:ln xmlns:a="http://schemas.openxmlformats.org/drawingml/2006/main" w="19050">
              <a:solidFill>
                <a:srgbClr val="7C8793"/>
              </a:solidFill>
              <a:prstDash val="dash"/>
            </a:ln>
          </c:spPr>
          <c:xVal>
            <c:numLit>
              <c:formatCode>General</c:formatCode>
              <c:ptCount val="2"/>
              <c:pt idx="0">
                <c:v>0</c:v>
              </c:pt>
              <c:pt idx="1">
                <c:v>100</c:v>
              </c:pt>
            </c:numLit>
          </c:xVal>
          <c:yVal>
            <c:numLit>
              <c:formatCode/>
              <c:ptCount val="2"/>
              <c:pt idx="0">
                <c:v>0</c:v>
              </c:pt>
              <c:pt idx="1">
                <c:v>100</c:v>
              </c:pt>
            </c:numLit>
          </c:yVal>
        </c:ser>
        <c:dLbls>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numFmt formatCod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defRPr>
            </a:pPr>
          </a:p>
        </c:txPr>
        <c:majorTickMark val="none"/>
        <c:minorTickMark val="none"/>
        <c:crossAx val="48650112"/>
        <c:crosses val="autoZero"/>
      </c:valAx>
      <c:valAx>
        <c:axId val="48650112"/>
        <c:scaling>
          <c:orientation val="minMax"/>
        </c:scaling>
        <c:delete val="0"/>
        <c:axPos val="b"/>
        <c:numFmt formatCod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defRPr>
            </a:pPr>
          </a:p>
        </c:txPr>
        <c:majorTickMark val="none"/>
        <c:minorTickMark val="none"/>
        <c:crossAx val="48672768"/>
        <c:crosses val="autoZero"/>
      </c:valAx>
    </c:plotArea>
    <c:legend>
      <c:legendPos val="b"/>
      <c:overlay val="0"/>
    </c:legend>
    <c:plotVisOnly val="1"/>
  </c:chart>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17BBA827-F5DE-415D-BC13-6EB8F36DA5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283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8DBF6F55-26B4-4B98-8D96-A7C6DC32C59E}"/>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88F9C4A8-C137-4D06-8385-8005FDE4C192}"/>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B7D3E9"/>
                </a:solidFill>
                <a:latin typeface="Arial"/>
                <a:ea typeface="Arial"/>
                <a:cs typeface="Arial"/>
              </a:defRPr>
            </a:pPr>
            <a:r>
              <a:rPr sz="1125" b="1">
                <a:solidFill>
                  <a:srgbClr val="B7D3E9"/>
                </a:solidFill>
                <a:latin typeface="Arial"/>
                <a:ea typeface="Arial"/>
                <a:cs typeface="Arial"/>
              </a:rPr>
              <a:t>CAMPAIGN ANALYSIS</a:t>
            </a:r>
          </a:p>
        </p:txBody>
      </p:sp>
      <p:sp>
        <p:nvSpPr>
          <p:cNvPr id="4" name="text-0">
            <a:extLst xmlns:a="http://schemas.openxmlformats.org/drawingml/2006/main">
              <a:ext uri="{FF2B5EF4-FFF2-40B4-BE49-F238E27FC236}">
                <a16:creationId xmlns:a16="http://schemas.microsoft.com/office/drawing/2014/main" id="{62283145-7929-4BAC-91B9-16C3CB9EFE60}"/>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FFFFFF"/>
                </a:solidFill>
                <a:latin typeface="Georgia"/>
                <a:ea typeface="Georgia"/>
                <a:cs typeface="Georgia"/>
              </a:defRPr>
            </a:pPr>
            <a:r>
              <a:rPr sz="3300" b="0">
                <a:solidFill>
                  <a:srgbClr val="FFFFFF"/>
                </a:solidFill>
                <a:latin typeface="Georgia"/>
                <a:ea typeface="Georgia"/>
                <a:cs typeface="Georgia"/>
              </a:rPr>
              <a:t>Find more likely buyers within a smaller calling list</a:t>
            </a:r>
          </a:p>
        </p:txBody>
      </p:sp>
      <p:sp>
        <p:nvSpPr>
          <p:cNvPr id="5" name="shape-1">
            <a:extLst xmlns:a="http://schemas.openxmlformats.org/drawingml/2006/main">
              <a:ext uri="{FF2B5EF4-FFF2-40B4-BE49-F238E27FC236}">
                <a16:creationId xmlns:a16="http://schemas.microsoft.com/office/drawing/2014/main" id="{E8D067CC-469C-476E-8349-0E68E0E4B009}"/>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3F566D"/>
          </a:solidFill>
          <a:ln xmlns:a="http://schemas.openxmlformats.org/drawingml/2006/main" w="0">
            <a:noFill/>
            <a:prstDash val="solid"/>
          </a:ln>
        </p:spPr>
      </p:sp>
      <p:sp>
        <p:nvSpPr>
          <p:cNvPr id="6" name="text-2">
            <a:extLst xmlns:a="http://schemas.openxmlformats.org/drawingml/2006/main">
              <a:ext uri="{FF2B5EF4-FFF2-40B4-BE49-F238E27FC236}">
                <a16:creationId xmlns:a16="http://schemas.microsoft.com/office/drawing/2014/main" id="{46344231-B746-403B-A97F-493105CCC7B5}"/>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B7C6D5"/>
                </a:solidFill>
                <a:latin typeface="Arial"/>
                <a:ea typeface="Arial"/>
                <a:cs typeface="Arial"/>
              </a:defRPr>
            </a:pPr>
            <a:r>
              <a:rPr sz="975" b="0">
                <a:solidFill>
                  <a:srgbClr val="B7C6D5"/>
                </a:solidFill>
                <a:latin typeface="Arial"/>
                <a:ea typeface="Arial"/>
                <a:cs typeface="Arial"/>
              </a:rPr>
              <a:t>ABC Supermarket assessment | main.ipynb, sections 7–10</a:t>
            </a:r>
          </a:p>
        </p:txBody>
      </p:sp>
      <p:sp>
        <p:nvSpPr>
          <p:cNvPr id="7" name="text-3">
            <a:extLst xmlns:a="http://schemas.openxmlformats.org/drawingml/2006/main">
              <a:ext uri="{FF2B5EF4-FFF2-40B4-BE49-F238E27FC236}">
                <a16:creationId xmlns:a16="http://schemas.microsoft.com/office/drawing/2014/main" id="{9AFEE644-1876-47B1-99B9-A50553BFA6F7}"/>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B7C6D5"/>
                </a:solidFill>
                <a:latin typeface="Arial"/>
                <a:ea typeface="Arial"/>
                <a:cs typeface="Arial"/>
              </a:defRPr>
            </a:pPr>
            <a:r>
              <a:rPr sz="1200" b="0">
                <a:solidFill>
                  <a:srgbClr val="B7C6D5"/>
                </a:solidFill>
                <a:latin typeface="Arial"/>
                <a:ea typeface="Arial"/>
                <a:cs typeface="Arial"/>
              </a:rPr>
              <a:t>01</a:t>
            </a:r>
          </a:p>
        </p:txBody>
      </p:sp>
      <p:sp>
        <p:nvSpPr>
          <p:cNvPr id="8" name="text-4">
            <a:extLst xmlns:a="http://schemas.openxmlformats.org/drawingml/2006/main">
              <a:ext uri="{FF2B5EF4-FFF2-40B4-BE49-F238E27FC236}">
                <a16:creationId xmlns:a16="http://schemas.microsoft.com/office/drawing/2014/main" id="{FA3FA19D-90B6-4FE2-BD27-3FA7B38DF594}"/>
              </a:ext>
            </a:extLst>
          </p:cNvPr>
          <p:cNvSpPr>
            <a:spLocks xmlns:a="http://schemas.openxmlformats.org/drawingml/2006/main" noGrp="1"/>
          </p:cNvSpPr>
          <p:nvPr/>
        </p:nvSpPr>
        <p:spPr>
          <a:xfrm xmlns:a="http://schemas.openxmlformats.org/drawingml/2006/main">
            <a:off x="571500" y="2381250"/>
            <a:ext cx="10477500" cy="333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1">
                <a:solidFill>
                  <a:srgbClr val="B7D3E9"/>
                </a:solidFill>
                <a:latin typeface="Arial"/>
                <a:ea typeface="Arial"/>
                <a:cs typeface="Arial"/>
              </a:defRPr>
            </a:pPr>
            <a:r>
              <a:rPr sz="1500" b="1">
                <a:solidFill>
                  <a:srgbClr val="B7D3E9"/>
                </a:solidFill>
                <a:latin typeface="Arial"/>
                <a:ea typeface="Arial"/>
                <a:cs typeface="Arial"/>
              </a:rPr>
              <a:t>ABC SUPERMARKET  /  GOLD MEMBERSHIP</a:t>
            </a:r>
          </a:p>
        </p:txBody>
      </p:sp>
      <p:sp>
        <p:nvSpPr>
          <p:cNvPr id="9" name="text-5">
            <a:extLst xmlns:a="http://schemas.openxmlformats.org/drawingml/2006/main">
              <a:ext uri="{FF2B5EF4-FFF2-40B4-BE49-F238E27FC236}">
                <a16:creationId xmlns:a16="http://schemas.microsoft.com/office/drawing/2014/main" id="{776FBFA2-9511-4B92-89CE-240ED514561F}"/>
              </a:ext>
            </a:extLst>
          </p:cNvPr>
          <p:cNvSpPr>
            <a:spLocks xmlns:a="http://schemas.openxmlformats.org/drawingml/2006/main" noGrp="1"/>
          </p:cNvSpPr>
          <p:nvPr/>
        </p:nvSpPr>
        <p:spPr>
          <a:xfrm xmlns:a="http://schemas.openxmlformats.org/drawingml/2006/main">
            <a:off x="571500" y="2914650"/>
            <a:ext cx="1000125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A classification and customer-prioritization assessment</a:t>
            </a:r>
          </a:p>
        </p:txBody>
      </p:sp>
      <p:sp>
        <p:nvSpPr>
          <p:cNvPr id="10" name="text-6">
            <a:extLst xmlns:a="http://schemas.openxmlformats.org/drawingml/2006/main">
              <a:ext uri="{FF2B5EF4-FFF2-40B4-BE49-F238E27FC236}">
                <a16:creationId xmlns:a16="http://schemas.microsoft.com/office/drawing/2014/main" id="{3417293D-4079-4E20-B1FF-E01B3392DB90}"/>
              </a:ext>
            </a:extLst>
          </p:cNvPr>
          <p:cNvSpPr>
            <a:spLocks xmlns:a="http://schemas.openxmlformats.org/drawingml/2006/main" noGrp="1"/>
          </p:cNvSpPr>
          <p:nvPr/>
        </p:nvSpPr>
        <p:spPr>
          <a:xfrm xmlns:a="http://schemas.openxmlformats.org/drawingml/2006/main">
            <a:off x="571500" y="4171950"/>
            <a:ext cx="31432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5700" b="0">
                <a:solidFill>
                  <a:srgbClr val="FFFFFF"/>
                </a:solidFill>
                <a:latin typeface="Georgia"/>
                <a:ea typeface="Georgia"/>
                <a:cs typeface="Georgia"/>
              </a:defRPr>
            </a:pPr>
            <a:r>
              <a:rPr sz="5700" b="0">
                <a:solidFill>
                  <a:srgbClr val="FFFFFF"/>
                </a:solidFill>
                <a:latin typeface="Georgia"/>
                <a:ea typeface="Georgia"/>
                <a:cs typeface="Georgia"/>
              </a:rPr>
              <a:t>73.1%</a:t>
            </a:r>
          </a:p>
        </p:txBody>
      </p:sp>
      <p:sp>
        <p:nvSpPr>
          <p:cNvPr id="11" name="text-7">
            <a:extLst xmlns:a="http://schemas.openxmlformats.org/drawingml/2006/main">
              <a:ext uri="{FF2B5EF4-FFF2-40B4-BE49-F238E27FC236}">
                <a16:creationId xmlns:a16="http://schemas.microsoft.com/office/drawing/2014/main" id="{D8971DCA-5242-4523-9942-F826A8D0C28D}"/>
              </a:ext>
            </a:extLst>
          </p:cNvPr>
          <p:cNvSpPr>
            <a:spLocks xmlns:a="http://schemas.openxmlformats.org/drawingml/2006/main" noGrp="1"/>
          </p:cNvSpPr>
          <p:nvPr/>
        </p:nvSpPr>
        <p:spPr>
          <a:xfrm xmlns:a="http://schemas.openxmlformats.org/drawingml/2006/main">
            <a:off x="571500" y="5114925"/>
            <a:ext cx="3429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B7D3E9"/>
                </a:solidFill>
                <a:latin typeface="Arial"/>
                <a:ea typeface="Arial"/>
                <a:cs typeface="Arial"/>
              </a:defRPr>
            </a:pPr>
            <a:r>
              <a:rPr sz="1650" b="0">
                <a:solidFill>
                  <a:srgbClr val="B7D3E9"/>
                </a:solidFill>
                <a:latin typeface="Arial"/>
                <a:ea typeface="Arial"/>
                <a:cs typeface="Arial"/>
              </a:rPr>
              <a:t>historical responders captured</a:t>
            </a:r>
          </a:p>
        </p:txBody>
      </p:sp>
      <p:sp>
        <p:nvSpPr>
          <p:cNvPr id="12" name="text-8">
            <a:extLst xmlns:a="http://schemas.openxmlformats.org/drawingml/2006/main">
              <a:ext uri="{FF2B5EF4-FFF2-40B4-BE49-F238E27FC236}">
                <a16:creationId xmlns:a16="http://schemas.microsoft.com/office/drawing/2014/main" id="{37FF2E5D-A88D-4EEE-962B-9C1CF4EA1BCB}"/>
              </a:ext>
            </a:extLst>
          </p:cNvPr>
          <p:cNvSpPr>
            <a:spLocks xmlns:a="http://schemas.openxmlformats.org/drawingml/2006/main" noGrp="1"/>
          </p:cNvSpPr>
          <p:nvPr/>
        </p:nvSpPr>
        <p:spPr>
          <a:xfrm xmlns:a="http://schemas.openxmlformats.org/drawingml/2006/main">
            <a:off x="4686300" y="4171950"/>
            <a:ext cx="35242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5250" b="0">
                <a:solidFill>
                  <a:srgbClr val="FFFFFF"/>
                </a:solidFill>
                <a:latin typeface="Georgia"/>
                <a:ea typeface="Georgia"/>
                <a:cs typeface="Georgia"/>
              </a:defRPr>
            </a:pPr>
            <a:r>
              <a:rPr sz="5250" b="0">
                <a:solidFill>
                  <a:srgbClr val="FFFFFF"/>
                </a:solidFill>
                <a:latin typeface="Georgia"/>
                <a:ea typeface="Georgia"/>
                <a:cs typeface="Georgia"/>
              </a:rPr>
              <a:t>Top 20%</a:t>
            </a:r>
          </a:p>
        </p:txBody>
      </p:sp>
      <p:sp>
        <p:nvSpPr>
          <p:cNvPr id="13" name="text-9">
            <a:extLst xmlns:a="http://schemas.openxmlformats.org/drawingml/2006/main">
              <a:ext uri="{FF2B5EF4-FFF2-40B4-BE49-F238E27FC236}">
                <a16:creationId xmlns:a16="http://schemas.microsoft.com/office/drawing/2014/main" id="{C269A025-770A-4473-B106-C53F076B0B7E}"/>
              </a:ext>
            </a:extLst>
          </p:cNvPr>
          <p:cNvSpPr>
            <a:spLocks xmlns:a="http://schemas.openxmlformats.org/drawingml/2006/main" noGrp="1"/>
          </p:cNvSpPr>
          <p:nvPr/>
        </p:nvSpPr>
        <p:spPr>
          <a:xfrm xmlns:a="http://schemas.openxmlformats.org/drawingml/2006/main">
            <a:off x="4686300" y="5114925"/>
            <a:ext cx="3619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B7D3E9"/>
                </a:solidFill>
                <a:latin typeface="Arial"/>
                <a:ea typeface="Arial"/>
                <a:cs typeface="Arial"/>
              </a:defRPr>
            </a:pPr>
            <a:r>
              <a:rPr sz="1650" b="0">
                <a:solidFill>
                  <a:srgbClr val="B7D3E9"/>
                </a:solidFill>
                <a:latin typeface="Arial"/>
                <a:ea typeface="Arial"/>
                <a:cs typeface="Arial"/>
              </a:rPr>
              <a:t>of customers ranked by score</a:t>
            </a:r>
          </a:p>
        </p:txBody>
      </p:sp>
      <p:sp>
        <p:nvSpPr>
          <p:cNvPr id="14" name="text-10">
            <a:extLst xmlns:a="http://schemas.openxmlformats.org/drawingml/2006/main">
              <a:ext uri="{FF2B5EF4-FFF2-40B4-BE49-F238E27FC236}">
                <a16:creationId xmlns:a16="http://schemas.microsoft.com/office/drawing/2014/main" id="{D3B6EF72-1698-4B27-84FC-309951E4E3FB}"/>
              </a:ext>
            </a:extLst>
          </p:cNvPr>
          <p:cNvSpPr>
            <a:spLocks xmlns:a="http://schemas.openxmlformats.org/drawingml/2006/main" noGrp="1"/>
          </p:cNvSpPr>
          <p:nvPr/>
        </p:nvSpPr>
        <p:spPr>
          <a:xfrm xmlns:a="http://schemas.openxmlformats.org/drawingml/2006/main">
            <a:off x="8886825" y="4286250"/>
            <a:ext cx="27622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FFFFFF"/>
                </a:solidFill>
                <a:latin typeface="Georgia"/>
                <a:ea typeface="Georgia"/>
                <a:cs typeface="Georgia"/>
              </a:defRPr>
            </a:pPr>
            <a:r>
              <a:rPr sz="2550" b="0">
                <a:solidFill>
                  <a:srgbClr val="FFFFFF"/>
                </a:solidFill>
                <a:latin typeface="Georgia"/>
                <a:ea typeface="Georgia"/>
                <a:cs typeface="Georgia"/>
              </a:rPr>
              <a:t>Soft voting</a:t>
            </a:r>
          </a:p>
        </p:txBody>
      </p:sp>
      <p:sp>
        <p:nvSpPr>
          <p:cNvPr id="15" name="text-11">
            <a:extLst xmlns:a="http://schemas.openxmlformats.org/drawingml/2006/main">
              <a:ext uri="{FF2B5EF4-FFF2-40B4-BE49-F238E27FC236}">
                <a16:creationId xmlns:a16="http://schemas.microsoft.com/office/drawing/2014/main" id="{AFB0CF39-D2FF-47CA-A7A5-73B81D42AFBB}"/>
              </a:ext>
            </a:extLst>
          </p:cNvPr>
          <p:cNvSpPr>
            <a:spLocks xmlns:a="http://schemas.openxmlformats.org/drawingml/2006/main" noGrp="1"/>
          </p:cNvSpPr>
          <p:nvPr/>
        </p:nvSpPr>
        <p:spPr>
          <a:xfrm xmlns:a="http://schemas.openxmlformats.org/drawingml/2006/main">
            <a:off x="8886825" y="5029200"/>
            <a:ext cx="2714625"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B7D3E9"/>
                </a:solidFill>
                <a:latin typeface="Arial"/>
                <a:ea typeface="Arial"/>
                <a:cs typeface="Arial"/>
              </a:defRPr>
            </a:pPr>
            <a:r>
              <a:rPr sz="1575" b="0">
                <a:solidFill>
                  <a:srgbClr val="B7D3E9"/>
                </a:solidFill>
                <a:latin typeface="Arial"/>
                <a:ea typeface="Arial"/>
                <a:cs typeface="Arial"/>
              </a:rPr>
              <a:t>Selected ensemble</a:t>
            </a:r>
          </a:p>
        </p:txBody>
      </p:sp>
      <p:sp>
        <p:nvSpPr>
          <p:cNvPr id="16" name="text-12">
            <a:extLst xmlns:a="http://schemas.openxmlformats.org/drawingml/2006/main">
              <a:ext uri="{FF2B5EF4-FFF2-40B4-BE49-F238E27FC236}">
                <a16:creationId xmlns:a16="http://schemas.microsoft.com/office/drawing/2014/main" id="{03E44686-6C62-4B0C-B0AB-0FA4A092DFE8}"/>
              </a:ext>
            </a:extLst>
          </p:cNvPr>
          <p:cNvSpPr>
            <a:spLocks xmlns:a="http://schemas.openxmlformats.org/drawingml/2006/main" noGrp="1"/>
          </p:cNvSpPr>
          <p:nvPr/>
        </p:nvSpPr>
        <p:spPr>
          <a:xfrm xmlns:a="http://schemas.openxmlformats.org/drawingml/2006/main">
            <a:off x="8886825" y="5353050"/>
            <a:ext cx="2714625"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B7D3E9"/>
                </a:solidFill>
                <a:latin typeface="Arial"/>
                <a:ea typeface="Arial"/>
                <a:cs typeface="Arial"/>
              </a:defRPr>
            </a:pPr>
            <a:r>
              <a:rPr sz="1575" b="0">
                <a:solidFill>
                  <a:srgbClr val="B7D3E9"/>
                </a:solidFill>
                <a:latin typeface="Arial"/>
                <a:ea typeface="Arial"/>
                <a:cs typeface="Arial"/>
              </a:rPr>
              <a:t>Inchcape Digital assessment</a:t>
            </a:r>
          </a:p>
        </p:txBody>
      </p:sp>
    </p:spTree>
    <p:extLst>
      <p:ext uri="{BB962C8B-B14F-4D97-AF65-F5344CB8AC3E}">
        <p14:creationId xmlns:p14="http://schemas.microsoft.com/office/powerpoint/2010/main" val="5112942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2D709AF1-6CE9-4F1E-9506-C5B0090BE6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9C186582-5307-4486-A0A4-BBD4A00E6889}"/>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315A29E1-ECE9-4E94-8243-D3347D94914D}"/>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BUSINESS OBJECTIVE</a:t>
            </a:r>
          </a:p>
        </p:txBody>
      </p:sp>
      <p:sp>
        <p:nvSpPr>
          <p:cNvPr id="4" name="text-13">
            <a:extLst xmlns:a="http://schemas.openxmlformats.org/drawingml/2006/main">
              <a:ext uri="{FF2B5EF4-FFF2-40B4-BE49-F238E27FC236}">
                <a16:creationId xmlns:a16="http://schemas.microsoft.com/office/drawing/2014/main" id="{A3148E40-783B-4052-8262-81EB313E61F3}"/>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A $499 offer needs a disciplined calling strategy</a:t>
            </a:r>
          </a:p>
        </p:txBody>
      </p:sp>
      <p:sp>
        <p:nvSpPr>
          <p:cNvPr id="5" name="shape-14">
            <a:extLst xmlns:a="http://schemas.openxmlformats.org/drawingml/2006/main">
              <a:ext uri="{FF2B5EF4-FFF2-40B4-BE49-F238E27FC236}">
                <a16:creationId xmlns:a16="http://schemas.microsoft.com/office/drawing/2014/main" id="{8A70821B-EC25-4674-86E3-022007B59C7F}"/>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15">
            <a:extLst xmlns:a="http://schemas.openxmlformats.org/drawingml/2006/main">
              <a:ext uri="{FF2B5EF4-FFF2-40B4-BE49-F238E27FC236}">
                <a16:creationId xmlns:a16="http://schemas.microsoft.com/office/drawing/2014/main" id="{17FDB827-375D-4EC0-9725-B07802F679A8}"/>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Problem Statement.pdf, page 1</a:t>
            </a:r>
          </a:p>
        </p:txBody>
      </p:sp>
      <p:sp>
        <p:nvSpPr>
          <p:cNvPr id="7" name="text-16">
            <a:extLst xmlns:a="http://schemas.openxmlformats.org/drawingml/2006/main">
              <a:ext uri="{FF2B5EF4-FFF2-40B4-BE49-F238E27FC236}">
                <a16:creationId xmlns:a16="http://schemas.microsoft.com/office/drawing/2014/main" id="{BDF33304-5033-47D6-AC72-F254C7E344B8}"/>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02</a:t>
            </a:r>
          </a:p>
        </p:txBody>
      </p:sp>
      <p:sp>
        <p:nvSpPr>
          <p:cNvPr id="8" name="text-17">
            <a:extLst xmlns:a="http://schemas.openxmlformats.org/drawingml/2006/main">
              <a:ext uri="{FF2B5EF4-FFF2-40B4-BE49-F238E27FC236}">
                <a16:creationId xmlns:a16="http://schemas.microsoft.com/office/drawing/2014/main" id="{13F0C626-6984-48D2-A0A5-E7BF60171041}"/>
              </a:ext>
            </a:extLst>
          </p:cNvPr>
          <p:cNvSpPr>
            <a:spLocks xmlns:a="http://schemas.openxmlformats.org/drawingml/2006/main" noGrp="1"/>
          </p:cNvSpPr>
          <p:nvPr/>
        </p:nvSpPr>
        <p:spPr>
          <a:xfrm xmlns:a="http://schemas.openxmlformats.org/drawingml/2006/main">
            <a:off x="571500" y="2276475"/>
            <a:ext cx="323850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$499</a:t>
            </a:r>
          </a:p>
        </p:txBody>
      </p:sp>
      <p:sp>
        <p:nvSpPr>
          <p:cNvPr id="9" name="text-18">
            <a:extLst xmlns:a="http://schemas.openxmlformats.org/drawingml/2006/main">
              <a:ext uri="{FF2B5EF4-FFF2-40B4-BE49-F238E27FC236}">
                <a16:creationId xmlns:a16="http://schemas.microsoft.com/office/drawing/2014/main" id="{945A576C-1D28-4A83-834A-3D926040C8D8}"/>
              </a:ext>
            </a:extLst>
          </p:cNvPr>
          <p:cNvSpPr>
            <a:spLocks xmlns:a="http://schemas.openxmlformats.org/drawingml/2006/main" noGrp="1"/>
          </p:cNvSpPr>
          <p:nvPr/>
        </p:nvSpPr>
        <p:spPr>
          <a:xfrm xmlns:a="http://schemas.openxmlformats.org/drawingml/2006/main">
            <a:off x="571500" y="3152775"/>
            <a:ext cx="32385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year-end membership offer</a:t>
            </a:r>
          </a:p>
        </p:txBody>
      </p:sp>
      <p:sp>
        <p:nvSpPr>
          <p:cNvPr id="10" name="text-19">
            <a:extLst xmlns:a="http://schemas.openxmlformats.org/drawingml/2006/main">
              <a:ext uri="{FF2B5EF4-FFF2-40B4-BE49-F238E27FC236}">
                <a16:creationId xmlns:a16="http://schemas.microsoft.com/office/drawing/2014/main" id="{1CF8C26F-1A7A-4AE6-BE4D-F7A7231B39F7}"/>
              </a:ext>
            </a:extLst>
          </p:cNvPr>
          <p:cNvSpPr>
            <a:spLocks xmlns:a="http://schemas.openxmlformats.org/drawingml/2006/main" noGrp="1"/>
          </p:cNvSpPr>
          <p:nvPr/>
        </p:nvSpPr>
        <p:spPr>
          <a:xfrm xmlns:a="http://schemas.openxmlformats.org/drawingml/2006/main">
            <a:off x="571500" y="4105275"/>
            <a:ext cx="32385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596C7D"/>
                </a:solidFill>
                <a:latin typeface="Arial"/>
                <a:ea typeface="Arial"/>
                <a:cs typeface="Arial"/>
              </a:defRPr>
            </a:pPr>
            <a:r>
              <a:rPr sz="1425" b="0">
                <a:solidFill>
                  <a:srgbClr val="596C7D"/>
                </a:solidFill>
                <a:latin typeface="Arial"/>
                <a:ea typeface="Arial"/>
                <a:cs typeface="Arial"/>
              </a:rPr>
              <a:t>Normal price: $999</a:t>
            </a:r>
          </a:p>
        </p:txBody>
      </p:sp>
      <p:sp>
        <p:nvSpPr>
          <p:cNvPr id="11" name="text-20">
            <a:extLst xmlns:a="http://schemas.openxmlformats.org/drawingml/2006/main">
              <a:ext uri="{FF2B5EF4-FFF2-40B4-BE49-F238E27FC236}">
                <a16:creationId xmlns:a16="http://schemas.microsoft.com/office/drawing/2014/main" id="{F19CCCD1-9F99-4B1E-B909-C8B8F72A5501}"/>
              </a:ext>
            </a:extLst>
          </p:cNvPr>
          <p:cNvSpPr>
            <a:spLocks xmlns:a="http://schemas.openxmlformats.org/drawingml/2006/main" noGrp="1"/>
          </p:cNvSpPr>
          <p:nvPr/>
        </p:nvSpPr>
        <p:spPr>
          <a:xfrm xmlns:a="http://schemas.openxmlformats.org/drawingml/2006/main">
            <a:off x="4533900" y="2276475"/>
            <a:ext cx="304800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20%</a:t>
            </a:r>
          </a:p>
        </p:txBody>
      </p:sp>
      <p:sp>
        <p:nvSpPr>
          <p:cNvPr id="12" name="text-21">
            <a:extLst xmlns:a="http://schemas.openxmlformats.org/drawingml/2006/main">
              <a:ext uri="{FF2B5EF4-FFF2-40B4-BE49-F238E27FC236}">
                <a16:creationId xmlns:a16="http://schemas.microsoft.com/office/drawing/2014/main" id="{17953D21-64A9-4081-9D7D-419D8C5019F4}"/>
              </a:ext>
            </a:extLst>
          </p:cNvPr>
          <p:cNvSpPr>
            <a:spLocks xmlns:a="http://schemas.openxmlformats.org/drawingml/2006/main" noGrp="1"/>
          </p:cNvSpPr>
          <p:nvPr/>
        </p:nvSpPr>
        <p:spPr>
          <a:xfrm xmlns:a="http://schemas.openxmlformats.org/drawingml/2006/main">
            <a:off x="4533900" y="3152775"/>
            <a:ext cx="30480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discount on purchases</a:t>
            </a:r>
          </a:p>
        </p:txBody>
      </p:sp>
      <p:sp>
        <p:nvSpPr>
          <p:cNvPr id="13" name="text-22">
            <a:extLst xmlns:a="http://schemas.openxmlformats.org/drawingml/2006/main">
              <a:ext uri="{FF2B5EF4-FFF2-40B4-BE49-F238E27FC236}">
                <a16:creationId xmlns:a16="http://schemas.microsoft.com/office/drawing/2014/main" id="{D81FC770-EDC9-4428-B12B-A288FBB35F03}"/>
              </a:ext>
            </a:extLst>
          </p:cNvPr>
          <p:cNvSpPr>
            <a:spLocks xmlns:a="http://schemas.openxmlformats.org/drawingml/2006/main" noGrp="1"/>
          </p:cNvSpPr>
          <p:nvPr/>
        </p:nvSpPr>
        <p:spPr>
          <a:xfrm xmlns:a="http://schemas.openxmlformats.org/drawingml/2006/main">
            <a:off x="4533900" y="4105275"/>
            <a:ext cx="3048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596C7D"/>
                </a:solidFill>
                <a:latin typeface="Arial"/>
                <a:ea typeface="Arial"/>
                <a:cs typeface="Arial"/>
              </a:defRPr>
            </a:pPr>
            <a:r>
              <a:rPr sz="1425" b="0">
                <a:solidFill>
                  <a:srgbClr val="596C7D"/>
                </a:solidFill>
                <a:latin typeface="Arial"/>
                <a:ea typeface="Arial"/>
                <a:cs typeface="Arial"/>
              </a:rPr>
              <a:t>Benefit stated in the assessment</a:t>
            </a:r>
          </a:p>
        </p:txBody>
      </p:sp>
      <p:sp>
        <p:nvSpPr>
          <p:cNvPr id="14" name="shape-23">
            <a:extLst xmlns:a="http://schemas.openxmlformats.org/drawingml/2006/main">
              <a:ext uri="{FF2B5EF4-FFF2-40B4-BE49-F238E27FC236}">
                <a16:creationId xmlns:a16="http://schemas.microsoft.com/office/drawing/2014/main" id="{B5A47D72-45EF-43CD-9F22-18F0A994D4F3}"/>
              </a:ext>
            </a:extLst>
          </p:cNvPr>
          <p:cNvSpPr>
            <a:spLocks xmlns:a="http://schemas.openxmlformats.org/drawingml/2006/main" noGrp="1"/>
          </p:cNvSpPr>
          <p:nvPr/>
        </p:nvSpPr>
        <p:spPr>
          <a:xfrm xmlns:a="http://schemas.openxmlformats.org/drawingml/2006/main">
            <a:off x="8543925" y="2286000"/>
            <a:ext cx="3048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5" name="text-24">
            <a:extLst xmlns:a="http://schemas.openxmlformats.org/drawingml/2006/main">
              <a:ext uri="{FF2B5EF4-FFF2-40B4-BE49-F238E27FC236}">
                <a16:creationId xmlns:a16="http://schemas.microsoft.com/office/drawing/2014/main" id="{EB7C1BAC-C635-47E1-A9C9-F5F70681D332}"/>
              </a:ext>
            </a:extLst>
          </p:cNvPr>
          <p:cNvSpPr>
            <a:spLocks xmlns:a="http://schemas.openxmlformats.org/drawingml/2006/main" noGrp="1"/>
          </p:cNvSpPr>
          <p:nvPr/>
        </p:nvSpPr>
        <p:spPr>
          <a:xfrm xmlns:a="http://schemas.openxmlformats.org/drawingml/2006/main">
            <a:off x="8543925" y="2457450"/>
            <a:ext cx="30480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4682B4"/>
                </a:solidFill>
                <a:latin typeface="Arial"/>
                <a:ea typeface="Arial"/>
                <a:cs typeface="Arial"/>
              </a:defRPr>
            </a:pPr>
            <a:r>
              <a:rPr sz="1800" b="1">
                <a:solidFill>
                  <a:srgbClr val="4682B4"/>
                </a:solidFill>
                <a:latin typeface="Arial"/>
                <a:ea typeface="Arial"/>
                <a:cs typeface="Arial"/>
              </a:rPr>
              <a:t>The decision</a:t>
            </a:r>
          </a:p>
        </p:txBody>
      </p:sp>
      <p:sp>
        <p:nvSpPr>
          <p:cNvPr id="16" name="text-25">
            <a:extLst xmlns:a="http://schemas.openxmlformats.org/drawingml/2006/main">
              <a:ext uri="{FF2B5EF4-FFF2-40B4-BE49-F238E27FC236}">
                <a16:creationId xmlns:a16="http://schemas.microsoft.com/office/drawing/2014/main" id="{ABB0808D-CDFD-48AD-AD27-BB1CE67A6127}"/>
              </a:ext>
            </a:extLst>
          </p:cNvPr>
          <p:cNvSpPr>
            <a:spLocks xmlns:a="http://schemas.openxmlformats.org/drawingml/2006/main" noGrp="1"/>
          </p:cNvSpPr>
          <p:nvPr/>
        </p:nvSpPr>
        <p:spPr>
          <a:xfrm xmlns:a="http://schemas.openxmlformats.org/drawingml/2006/main">
            <a:off x="8543925" y="2924175"/>
            <a:ext cx="3048000" cy="1066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596C7D"/>
                </a:solidFill>
                <a:latin typeface="Arial"/>
                <a:ea typeface="Arial"/>
                <a:cs typeface="Arial"/>
              </a:defRPr>
            </a:pPr>
            <a:r>
              <a:rPr sz="1650" b="0">
                <a:solidFill>
                  <a:srgbClr val="596C7D"/>
                </a:solidFill>
                <a:latin typeface="Arial"/>
                <a:ea typeface="Arial"/>
                <a:cs typeface="Arial"/>
              </a:rPr>
              <a:t>Which existing customers should ABC call first?</a:t>
            </a:r>
          </a:p>
        </p:txBody>
      </p:sp>
      <p:sp>
        <p:nvSpPr>
          <p:cNvPr id="17" name="shape-26">
            <a:extLst xmlns:a="http://schemas.openxmlformats.org/drawingml/2006/main">
              <a:ext uri="{FF2B5EF4-FFF2-40B4-BE49-F238E27FC236}">
                <a16:creationId xmlns:a16="http://schemas.microsoft.com/office/drawing/2014/main" id="{FAC5A8B3-BE02-4CB8-8405-23E3A4599A75}"/>
              </a:ext>
            </a:extLst>
          </p:cNvPr>
          <p:cNvSpPr>
            <a:spLocks xmlns:a="http://schemas.openxmlformats.org/drawingml/2006/main" noGrp="1"/>
          </p:cNvSpPr>
          <p:nvPr/>
        </p:nvSpPr>
        <p:spPr>
          <a:xfrm xmlns:a="http://schemas.openxmlformats.org/drawingml/2006/main">
            <a:off x="571500" y="475297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8" name="text-27">
            <a:extLst xmlns:a="http://schemas.openxmlformats.org/drawingml/2006/main">
              <a:ext uri="{FF2B5EF4-FFF2-40B4-BE49-F238E27FC236}">
                <a16:creationId xmlns:a16="http://schemas.microsoft.com/office/drawing/2014/main" id="{B0887774-3488-436A-A67C-A3263F29B491}"/>
              </a:ext>
            </a:extLst>
          </p:cNvPr>
          <p:cNvSpPr>
            <a:spLocks xmlns:a="http://schemas.openxmlformats.org/drawingml/2006/main" noGrp="1"/>
          </p:cNvSpPr>
          <p:nvPr/>
        </p:nvSpPr>
        <p:spPr>
          <a:xfrm xmlns:a="http://schemas.openxmlformats.org/drawingml/2006/main">
            <a:off x="571500" y="5057775"/>
            <a:ext cx="328612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1">
                <a:solidFill>
                  <a:srgbClr val="182D43"/>
                </a:solidFill>
                <a:latin typeface="Arial"/>
                <a:ea typeface="Arial"/>
                <a:cs typeface="Arial"/>
              </a:defRPr>
            </a:pPr>
            <a:r>
              <a:rPr sz="2250" b="1">
                <a:solidFill>
                  <a:srgbClr val="182D43"/>
                </a:solidFill>
                <a:latin typeface="Arial"/>
                <a:ea typeface="Arial"/>
                <a:cs typeface="Arial"/>
              </a:rPr>
              <a:t>Predict acceptance</a:t>
            </a:r>
          </a:p>
        </p:txBody>
      </p:sp>
      <p:sp>
        <p:nvSpPr>
          <p:cNvPr id="19" name="text-28">
            <a:extLst xmlns:a="http://schemas.openxmlformats.org/drawingml/2006/main">
              <a:ext uri="{FF2B5EF4-FFF2-40B4-BE49-F238E27FC236}">
                <a16:creationId xmlns:a16="http://schemas.microsoft.com/office/drawing/2014/main" id="{FDBA8D6A-1C5C-43DD-B023-86231041AAAE}"/>
              </a:ext>
            </a:extLst>
          </p:cNvPr>
          <p:cNvSpPr>
            <a:spLocks xmlns:a="http://schemas.openxmlformats.org/drawingml/2006/main" noGrp="1"/>
          </p:cNvSpPr>
          <p:nvPr/>
        </p:nvSpPr>
        <p:spPr>
          <a:xfrm xmlns:a="http://schemas.openxmlformats.org/drawingml/2006/main">
            <a:off x="4448175" y="5057775"/>
            <a:ext cx="319087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1">
                <a:solidFill>
                  <a:srgbClr val="182D43"/>
                </a:solidFill>
                <a:latin typeface="Arial"/>
                <a:ea typeface="Arial"/>
                <a:cs typeface="Arial"/>
              </a:defRPr>
            </a:pPr>
            <a:r>
              <a:rPr sz="2250" b="1">
                <a:solidFill>
                  <a:srgbClr val="182D43"/>
                </a:solidFill>
                <a:latin typeface="Arial"/>
                <a:ea typeface="Arial"/>
                <a:cs typeface="Arial"/>
              </a:rPr>
              <a:t>Rank customers</a:t>
            </a:r>
          </a:p>
        </p:txBody>
      </p:sp>
      <p:sp>
        <p:nvSpPr>
          <p:cNvPr id="20" name="text-29">
            <a:extLst xmlns:a="http://schemas.openxmlformats.org/drawingml/2006/main">
              <a:ext uri="{FF2B5EF4-FFF2-40B4-BE49-F238E27FC236}">
                <a16:creationId xmlns:a16="http://schemas.microsoft.com/office/drawing/2014/main" id="{96DEE76C-FE7A-4AFC-9ECC-96BC7870E549}"/>
              </a:ext>
            </a:extLst>
          </p:cNvPr>
          <p:cNvSpPr>
            <a:spLocks xmlns:a="http://schemas.openxmlformats.org/drawingml/2006/main" noGrp="1"/>
          </p:cNvSpPr>
          <p:nvPr/>
        </p:nvSpPr>
        <p:spPr>
          <a:xfrm xmlns:a="http://schemas.openxmlformats.org/drawingml/2006/main">
            <a:off x="8534400" y="5057775"/>
            <a:ext cx="3048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1">
                <a:solidFill>
                  <a:srgbClr val="182D43"/>
                </a:solidFill>
                <a:latin typeface="Arial"/>
                <a:ea typeface="Arial"/>
                <a:cs typeface="Arial"/>
              </a:defRPr>
            </a:pPr>
            <a:r>
              <a:rPr sz="2250" b="1">
                <a:solidFill>
                  <a:srgbClr val="182D43"/>
                </a:solidFill>
                <a:latin typeface="Arial"/>
                <a:ea typeface="Arial"/>
                <a:cs typeface="Arial"/>
              </a:rPr>
              <a:t>Allocate calls</a:t>
            </a:r>
          </a:p>
        </p:txBody>
      </p:sp>
      <p:sp>
        <p:nvSpPr>
          <p:cNvPr id="21" name="text-30">
            <a:extLst xmlns:a="http://schemas.openxmlformats.org/drawingml/2006/main">
              <a:ext uri="{FF2B5EF4-FFF2-40B4-BE49-F238E27FC236}">
                <a16:creationId xmlns:a16="http://schemas.microsoft.com/office/drawing/2014/main" id="{2E29CA65-C3F8-4E57-9556-5F64D7BADDAD}"/>
              </a:ext>
            </a:extLst>
          </p:cNvPr>
          <p:cNvSpPr>
            <a:spLocks xmlns:a="http://schemas.openxmlformats.org/drawingml/2006/main" noGrp="1"/>
          </p:cNvSpPr>
          <p:nvPr/>
        </p:nvSpPr>
        <p:spPr>
          <a:xfrm xmlns:a="http://schemas.openxmlformats.org/drawingml/2006/main">
            <a:off x="571500" y="5619750"/>
            <a:ext cx="11049000" cy="333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Target: previous campaign Response = 1</a:t>
            </a:r>
          </a:p>
        </p:txBody>
      </p:sp>
    </p:spTree>
    <p:extLst>
      <p:ext uri="{BB962C8B-B14F-4D97-AF65-F5344CB8AC3E}">
        <p14:creationId xmlns:p14="http://schemas.microsoft.com/office/powerpoint/2010/main" val="1275227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2B599EBC-C025-415A-8144-1579264202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1A6B1B2E-09C0-415E-BFA7-2A6AEB0AB1F1}"/>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5DACB564-A48F-4DEC-8965-9E091DFA9733}"/>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PRESENTATION ROUTE</a:t>
            </a:r>
          </a:p>
        </p:txBody>
      </p:sp>
      <p:sp>
        <p:nvSpPr>
          <p:cNvPr id="4" name="text-31">
            <a:extLst xmlns:a="http://schemas.openxmlformats.org/drawingml/2006/main">
              <a:ext uri="{FF2B5EF4-FFF2-40B4-BE49-F238E27FC236}">
                <a16:creationId xmlns:a16="http://schemas.microsoft.com/office/drawing/2014/main" id="{8DEE8B91-BBBC-4E29-9F61-120BD4F33342}"/>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Follow the evidence from customer data to campaign action</a:t>
            </a:r>
          </a:p>
        </p:txBody>
      </p:sp>
      <p:sp>
        <p:nvSpPr>
          <p:cNvPr id="5" name="shape-32">
            <a:extLst xmlns:a="http://schemas.openxmlformats.org/drawingml/2006/main">
              <a:ext uri="{FF2B5EF4-FFF2-40B4-BE49-F238E27FC236}">
                <a16:creationId xmlns:a16="http://schemas.microsoft.com/office/drawing/2014/main" id="{1200B033-B4FC-4873-AFA4-C20EA69CA0D2}"/>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33">
            <a:extLst xmlns:a="http://schemas.openxmlformats.org/drawingml/2006/main">
              <a:ext uri="{FF2B5EF4-FFF2-40B4-BE49-F238E27FC236}">
                <a16:creationId xmlns:a16="http://schemas.microsoft.com/office/drawing/2014/main" id="{F242DEAC-D2EB-4F2E-AA98-5BD488895A00}"/>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Assessment solution expectations, page 2</a:t>
            </a:r>
          </a:p>
        </p:txBody>
      </p:sp>
      <p:sp>
        <p:nvSpPr>
          <p:cNvPr id="7" name="text-34">
            <a:extLst xmlns:a="http://schemas.openxmlformats.org/drawingml/2006/main">
              <a:ext uri="{FF2B5EF4-FFF2-40B4-BE49-F238E27FC236}">
                <a16:creationId xmlns:a16="http://schemas.microsoft.com/office/drawing/2014/main" id="{D6DC8FCB-18C5-4949-9B33-C4569C0BA26B}"/>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03</a:t>
            </a:r>
          </a:p>
        </p:txBody>
      </p:sp>
      <p:sp>
        <p:nvSpPr>
          <p:cNvPr id="8" name="text-35">
            <a:extLst xmlns:a="http://schemas.openxmlformats.org/drawingml/2006/main">
              <a:ext uri="{FF2B5EF4-FFF2-40B4-BE49-F238E27FC236}">
                <a16:creationId xmlns:a16="http://schemas.microsoft.com/office/drawing/2014/main" id="{DFAA45DD-D112-4785-AFE0-68AD3169BAF8}"/>
              </a:ext>
            </a:extLst>
          </p:cNvPr>
          <p:cNvSpPr>
            <a:spLocks xmlns:a="http://schemas.openxmlformats.org/drawingml/2006/main" noGrp="1"/>
          </p:cNvSpPr>
          <p:nvPr/>
        </p:nvSpPr>
        <p:spPr>
          <a:xfrm xmlns:a="http://schemas.openxmlformats.org/drawingml/2006/main">
            <a:off x="571500" y="2200275"/>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01</a:t>
            </a:r>
          </a:p>
        </p:txBody>
      </p:sp>
      <p:sp>
        <p:nvSpPr>
          <p:cNvPr id="9" name="text-36">
            <a:extLst xmlns:a="http://schemas.openxmlformats.org/drawingml/2006/main">
              <a:ext uri="{FF2B5EF4-FFF2-40B4-BE49-F238E27FC236}">
                <a16:creationId xmlns:a16="http://schemas.microsoft.com/office/drawing/2014/main" id="{2DB208E9-2411-4B2E-8BC1-5029C57E2E27}"/>
              </a:ext>
            </a:extLst>
          </p:cNvPr>
          <p:cNvSpPr>
            <a:spLocks xmlns:a="http://schemas.openxmlformats.org/drawingml/2006/main" noGrp="1"/>
          </p:cNvSpPr>
          <p:nvPr/>
        </p:nvSpPr>
        <p:spPr>
          <a:xfrm xmlns:a="http://schemas.openxmlformats.org/drawingml/2006/main">
            <a:off x="1428750" y="2200275"/>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Understand the customer data</a:t>
            </a:r>
          </a:p>
        </p:txBody>
      </p:sp>
      <p:sp>
        <p:nvSpPr>
          <p:cNvPr id="10" name="text-37">
            <a:extLst xmlns:a="http://schemas.openxmlformats.org/drawingml/2006/main">
              <a:ext uri="{FF2B5EF4-FFF2-40B4-BE49-F238E27FC236}">
                <a16:creationId xmlns:a16="http://schemas.microsoft.com/office/drawing/2014/main" id="{A727D596-53DC-45D0-A10B-30B511190D44}"/>
              </a:ext>
            </a:extLst>
          </p:cNvPr>
          <p:cNvSpPr>
            <a:spLocks xmlns:a="http://schemas.openxmlformats.org/drawingml/2006/main" noGrp="1"/>
          </p:cNvSpPr>
          <p:nvPr/>
        </p:nvSpPr>
        <p:spPr>
          <a:xfrm xmlns:a="http://schemas.openxmlformats.org/drawingml/2006/main">
            <a:off x="5810250" y="2200275"/>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Data, quality checks, class imbalance, EDA</a:t>
            </a:r>
          </a:p>
        </p:txBody>
      </p:sp>
      <p:sp>
        <p:nvSpPr>
          <p:cNvPr id="11" name="shape-38">
            <a:extLst xmlns:a="http://schemas.openxmlformats.org/drawingml/2006/main">
              <a:ext uri="{FF2B5EF4-FFF2-40B4-BE49-F238E27FC236}">
                <a16:creationId xmlns:a16="http://schemas.microsoft.com/office/drawing/2014/main" id="{792A7BB2-2FC7-4141-BDC1-26680266820D}"/>
              </a:ext>
            </a:extLst>
          </p:cNvPr>
          <p:cNvSpPr>
            <a:spLocks xmlns:a="http://schemas.openxmlformats.org/drawingml/2006/main" noGrp="1"/>
          </p:cNvSpPr>
          <p:nvPr/>
        </p:nvSpPr>
        <p:spPr>
          <a:xfrm xmlns:a="http://schemas.openxmlformats.org/drawingml/2006/main">
            <a:off x="1428750" y="3038475"/>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2" name="text-39">
            <a:extLst xmlns:a="http://schemas.openxmlformats.org/drawingml/2006/main">
              <a:ext uri="{FF2B5EF4-FFF2-40B4-BE49-F238E27FC236}">
                <a16:creationId xmlns:a16="http://schemas.microsoft.com/office/drawing/2014/main" id="{8609D754-BBDA-492E-AD93-315661B36DCF}"/>
              </a:ext>
            </a:extLst>
          </p:cNvPr>
          <p:cNvSpPr>
            <a:spLocks xmlns:a="http://schemas.openxmlformats.org/drawingml/2006/main" noGrp="1"/>
          </p:cNvSpPr>
          <p:nvPr/>
        </p:nvSpPr>
        <p:spPr>
          <a:xfrm xmlns:a="http://schemas.openxmlformats.org/drawingml/2006/main">
            <a:off x="571500" y="3162300"/>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02</a:t>
            </a:r>
          </a:p>
        </p:txBody>
      </p:sp>
      <p:sp>
        <p:nvSpPr>
          <p:cNvPr id="13" name="text-40">
            <a:extLst xmlns:a="http://schemas.openxmlformats.org/drawingml/2006/main">
              <a:ext uri="{FF2B5EF4-FFF2-40B4-BE49-F238E27FC236}">
                <a16:creationId xmlns:a16="http://schemas.microsoft.com/office/drawing/2014/main" id="{6FDC5C6A-C558-4486-9A77-A71846D51121}"/>
              </a:ext>
            </a:extLst>
          </p:cNvPr>
          <p:cNvSpPr>
            <a:spLocks xmlns:a="http://schemas.openxmlformats.org/drawingml/2006/main" noGrp="1"/>
          </p:cNvSpPr>
          <p:nvPr/>
        </p:nvSpPr>
        <p:spPr>
          <a:xfrm xmlns:a="http://schemas.openxmlformats.org/drawingml/2006/main">
            <a:off x="1428750" y="3162300"/>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Build and compare the models</a:t>
            </a:r>
          </a:p>
        </p:txBody>
      </p:sp>
      <p:sp>
        <p:nvSpPr>
          <p:cNvPr id="14" name="text-41">
            <a:extLst xmlns:a="http://schemas.openxmlformats.org/drawingml/2006/main">
              <a:ext uri="{FF2B5EF4-FFF2-40B4-BE49-F238E27FC236}">
                <a16:creationId xmlns:a16="http://schemas.microsoft.com/office/drawing/2014/main" id="{930A1920-2C2C-4902-B53A-DEAAD0353B58}"/>
              </a:ext>
            </a:extLst>
          </p:cNvPr>
          <p:cNvSpPr>
            <a:spLocks xmlns:a="http://schemas.openxmlformats.org/drawingml/2006/main" noGrp="1"/>
          </p:cNvSpPr>
          <p:nvPr/>
        </p:nvSpPr>
        <p:spPr>
          <a:xfrm xmlns:a="http://schemas.openxmlformats.org/drawingml/2006/main">
            <a:off x="5810250" y="3162300"/>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Pipelines, six models, grid search, ensembles</a:t>
            </a:r>
          </a:p>
        </p:txBody>
      </p:sp>
      <p:sp>
        <p:nvSpPr>
          <p:cNvPr id="15" name="shape-42">
            <a:extLst xmlns:a="http://schemas.openxmlformats.org/drawingml/2006/main">
              <a:ext uri="{FF2B5EF4-FFF2-40B4-BE49-F238E27FC236}">
                <a16:creationId xmlns:a16="http://schemas.microsoft.com/office/drawing/2014/main" id="{59F43D67-CB9D-4A2F-BEBE-334CA90D22D7}"/>
              </a:ext>
            </a:extLst>
          </p:cNvPr>
          <p:cNvSpPr>
            <a:spLocks xmlns:a="http://schemas.openxmlformats.org/drawingml/2006/main" noGrp="1"/>
          </p:cNvSpPr>
          <p:nvPr/>
        </p:nvSpPr>
        <p:spPr>
          <a:xfrm xmlns:a="http://schemas.openxmlformats.org/drawingml/2006/main">
            <a:off x="1428750" y="4000500"/>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6" name="text-43">
            <a:extLst xmlns:a="http://schemas.openxmlformats.org/drawingml/2006/main">
              <a:ext uri="{FF2B5EF4-FFF2-40B4-BE49-F238E27FC236}">
                <a16:creationId xmlns:a16="http://schemas.microsoft.com/office/drawing/2014/main" id="{7EB41F4A-34E6-465C-839C-D1DAE19495C3}"/>
              </a:ext>
            </a:extLst>
          </p:cNvPr>
          <p:cNvSpPr>
            <a:spLocks xmlns:a="http://schemas.openxmlformats.org/drawingml/2006/main" noGrp="1"/>
          </p:cNvSpPr>
          <p:nvPr/>
        </p:nvSpPr>
        <p:spPr>
          <a:xfrm xmlns:a="http://schemas.openxmlformats.org/drawingml/2006/main">
            <a:off x="571500" y="4124325"/>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03</a:t>
            </a:r>
          </a:p>
        </p:txBody>
      </p:sp>
      <p:sp>
        <p:nvSpPr>
          <p:cNvPr id="17" name="text-44">
            <a:extLst xmlns:a="http://schemas.openxmlformats.org/drawingml/2006/main">
              <a:ext uri="{FF2B5EF4-FFF2-40B4-BE49-F238E27FC236}">
                <a16:creationId xmlns:a16="http://schemas.microsoft.com/office/drawing/2014/main" id="{655322C1-107C-4D0A-B32C-FE6B25835687}"/>
              </a:ext>
            </a:extLst>
          </p:cNvPr>
          <p:cNvSpPr>
            <a:spLocks xmlns:a="http://schemas.openxmlformats.org/drawingml/2006/main" noGrp="1"/>
          </p:cNvSpPr>
          <p:nvPr/>
        </p:nvSpPr>
        <p:spPr>
          <a:xfrm xmlns:a="http://schemas.openxmlformats.org/drawingml/2006/main">
            <a:off x="1428750" y="4124325"/>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Translate scores into decisions</a:t>
            </a:r>
          </a:p>
        </p:txBody>
      </p:sp>
      <p:sp>
        <p:nvSpPr>
          <p:cNvPr id="18" name="text-45">
            <a:extLst xmlns:a="http://schemas.openxmlformats.org/drawingml/2006/main">
              <a:ext uri="{FF2B5EF4-FFF2-40B4-BE49-F238E27FC236}">
                <a16:creationId xmlns:a16="http://schemas.microsoft.com/office/drawing/2014/main" id="{CEFF65AF-F402-4F92-9A71-4DC7363C6F4D}"/>
              </a:ext>
            </a:extLst>
          </p:cNvPr>
          <p:cNvSpPr>
            <a:spLocks xmlns:a="http://schemas.openxmlformats.org/drawingml/2006/main" noGrp="1"/>
          </p:cNvSpPr>
          <p:nvPr/>
        </p:nvSpPr>
        <p:spPr>
          <a:xfrm xmlns:a="http://schemas.openxmlformats.org/drawingml/2006/main">
            <a:off x="5810250" y="4124325"/>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Errors, ranking, capacity and value</a:t>
            </a:r>
          </a:p>
        </p:txBody>
      </p:sp>
      <p:sp>
        <p:nvSpPr>
          <p:cNvPr id="19" name="shape-46">
            <a:extLst xmlns:a="http://schemas.openxmlformats.org/drawingml/2006/main">
              <a:ext uri="{FF2B5EF4-FFF2-40B4-BE49-F238E27FC236}">
                <a16:creationId xmlns:a16="http://schemas.microsoft.com/office/drawing/2014/main" id="{D94A7A9F-CF64-4E56-9190-F9AA9421A602}"/>
              </a:ext>
            </a:extLst>
          </p:cNvPr>
          <p:cNvSpPr>
            <a:spLocks xmlns:a="http://schemas.openxmlformats.org/drawingml/2006/main" noGrp="1"/>
          </p:cNvSpPr>
          <p:nvPr/>
        </p:nvSpPr>
        <p:spPr>
          <a:xfrm xmlns:a="http://schemas.openxmlformats.org/drawingml/2006/main">
            <a:off x="1428750" y="4962525"/>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0" name="text-47">
            <a:extLst xmlns:a="http://schemas.openxmlformats.org/drawingml/2006/main">
              <a:ext uri="{FF2B5EF4-FFF2-40B4-BE49-F238E27FC236}">
                <a16:creationId xmlns:a16="http://schemas.microsoft.com/office/drawing/2014/main" id="{B8CF73EA-617E-478B-BA50-85F163AFE702}"/>
              </a:ext>
            </a:extLst>
          </p:cNvPr>
          <p:cNvSpPr>
            <a:spLocks xmlns:a="http://schemas.openxmlformats.org/drawingml/2006/main" noGrp="1"/>
          </p:cNvSpPr>
          <p:nvPr/>
        </p:nvSpPr>
        <p:spPr>
          <a:xfrm xmlns:a="http://schemas.openxmlformats.org/drawingml/2006/main">
            <a:off x="1428750" y="5372100"/>
            <a:ext cx="485775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475" b="0">
                <a:solidFill>
                  <a:srgbClr val="4682B4"/>
                </a:solidFill>
                <a:latin typeface="Georgia"/>
                <a:ea typeface="Georgia"/>
                <a:cs typeface="Georgia"/>
              </a:defRPr>
            </a:pPr>
            <a:r>
              <a:rPr sz="2475" b="0">
                <a:solidFill>
                  <a:srgbClr val="4682B4"/>
                </a:solidFill>
                <a:latin typeface="Georgia"/>
                <a:ea typeface="Georgia"/>
                <a:cs typeface="Georgia"/>
              </a:rPr>
              <a:t>≈40 minutes presenting</a:t>
            </a:r>
          </a:p>
        </p:txBody>
      </p:sp>
      <p:sp>
        <p:nvSpPr>
          <p:cNvPr id="21" name="text-48">
            <a:extLst xmlns:a="http://schemas.openxmlformats.org/drawingml/2006/main">
              <a:ext uri="{FF2B5EF4-FFF2-40B4-BE49-F238E27FC236}">
                <a16:creationId xmlns:a16="http://schemas.microsoft.com/office/drawing/2014/main" id="{946BBDF8-9765-4409-9926-022270F1E576}"/>
              </a:ext>
            </a:extLst>
          </p:cNvPr>
          <p:cNvSpPr>
            <a:spLocks xmlns:a="http://schemas.openxmlformats.org/drawingml/2006/main" noGrp="1"/>
          </p:cNvSpPr>
          <p:nvPr/>
        </p:nvSpPr>
        <p:spPr>
          <a:xfrm xmlns:a="http://schemas.openxmlformats.org/drawingml/2006/main">
            <a:off x="6286500" y="5467350"/>
            <a:ext cx="5286375" cy="438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15 minutes for introductions and questions</a:t>
            </a:r>
          </a:p>
        </p:txBody>
      </p:sp>
    </p:spTree>
    <p:extLst>
      <p:ext uri="{BB962C8B-B14F-4D97-AF65-F5344CB8AC3E}">
        <p14:creationId xmlns:p14="http://schemas.microsoft.com/office/powerpoint/2010/main" val="15110997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B6C0AB59-131D-49AF-B396-154A2123B0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06FDE1B7-11A8-4187-88C0-1B01BDEF7E85}"/>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20ADCCC4-890C-46A6-BB18-C95275366F9E}"/>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DATA &amp; LIBRARIES</a:t>
            </a:r>
          </a:p>
        </p:txBody>
      </p:sp>
      <p:sp>
        <p:nvSpPr>
          <p:cNvPr id="4" name="text-49">
            <a:extLst xmlns:a="http://schemas.openxmlformats.org/drawingml/2006/main">
              <a:ext uri="{FF2B5EF4-FFF2-40B4-BE49-F238E27FC236}">
                <a16:creationId xmlns:a16="http://schemas.microsoft.com/office/drawing/2014/main" id="{B10BACDA-B7B0-466F-8667-EE1EB515C1B5}"/>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2,240 customer records connect behavior with acceptance</a:t>
            </a:r>
          </a:p>
        </p:txBody>
      </p:sp>
      <p:sp>
        <p:nvSpPr>
          <p:cNvPr id="5" name="shape-50">
            <a:extLst xmlns:a="http://schemas.openxmlformats.org/drawingml/2006/main">
              <a:ext uri="{FF2B5EF4-FFF2-40B4-BE49-F238E27FC236}">
                <a16:creationId xmlns:a16="http://schemas.microsoft.com/office/drawing/2014/main" id="{9D4AAD86-3E38-4750-8338-5593B2005943}"/>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51">
            <a:extLst xmlns:a="http://schemas.openxmlformats.org/drawingml/2006/main">
              <a:ext uri="{FF2B5EF4-FFF2-40B4-BE49-F238E27FC236}">
                <a16:creationId xmlns:a16="http://schemas.microsoft.com/office/drawing/2014/main" id="{FE99E740-EE23-4AB5-B68A-23AD8D805676}"/>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§1–2 | marketing_data.xlsx, marketing_data sheet</a:t>
            </a:r>
          </a:p>
        </p:txBody>
      </p:sp>
      <p:sp>
        <p:nvSpPr>
          <p:cNvPr id="7" name="text-52">
            <a:extLst xmlns:a="http://schemas.openxmlformats.org/drawingml/2006/main">
              <a:ext uri="{FF2B5EF4-FFF2-40B4-BE49-F238E27FC236}">
                <a16:creationId xmlns:a16="http://schemas.microsoft.com/office/drawing/2014/main" id="{A9415BBA-21AA-41B0-AF1E-B5F49FFBA956}"/>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04</a:t>
            </a:r>
          </a:p>
        </p:txBody>
      </p:sp>
      <p:sp>
        <p:nvSpPr>
          <p:cNvPr id="8" name="text-53">
            <a:extLst xmlns:a="http://schemas.openxmlformats.org/drawingml/2006/main">
              <a:ext uri="{FF2B5EF4-FFF2-40B4-BE49-F238E27FC236}">
                <a16:creationId xmlns:a16="http://schemas.microsoft.com/office/drawing/2014/main" id="{E3C469F7-5C9B-4676-AAD6-F8B816C476D3}"/>
              </a:ext>
            </a:extLst>
          </p:cNvPr>
          <p:cNvSpPr>
            <a:spLocks xmlns:a="http://schemas.openxmlformats.org/drawingml/2006/main" noGrp="1"/>
          </p:cNvSpPr>
          <p:nvPr/>
        </p:nvSpPr>
        <p:spPr>
          <a:xfrm xmlns:a="http://schemas.openxmlformats.org/drawingml/2006/main">
            <a:off x="571500" y="2181225"/>
            <a:ext cx="323850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2,240</a:t>
            </a:r>
          </a:p>
        </p:txBody>
      </p:sp>
      <p:sp>
        <p:nvSpPr>
          <p:cNvPr id="9" name="text-54">
            <a:extLst xmlns:a="http://schemas.openxmlformats.org/drawingml/2006/main">
              <a:ext uri="{FF2B5EF4-FFF2-40B4-BE49-F238E27FC236}">
                <a16:creationId xmlns:a16="http://schemas.microsoft.com/office/drawing/2014/main" id="{8AD2086B-8CC3-40C3-8304-60C575DE506A}"/>
              </a:ext>
            </a:extLst>
          </p:cNvPr>
          <p:cNvSpPr>
            <a:spLocks xmlns:a="http://schemas.openxmlformats.org/drawingml/2006/main" noGrp="1"/>
          </p:cNvSpPr>
          <p:nvPr/>
        </p:nvSpPr>
        <p:spPr>
          <a:xfrm xmlns:a="http://schemas.openxmlformats.org/drawingml/2006/main">
            <a:off x="571500" y="3057525"/>
            <a:ext cx="32385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customer records</a:t>
            </a:r>
          </a:p>
        </p:txBody>
      </p:sp>
      <p:sp>
        <p:nvSpPr>
          <p:cNvPr id="10" name="text-55">
            <a:extLst xmlns:a="http://schemas.openxmlformats.org/drawingml/2006/main">
              <a:ext uri="{FF2B5EF4-FFF2-40B4-BE49-F238E27FC236}">
                <a16:creationId xmlns:a16="http://schemas.microsoft.com/office/drawing/2014/main" id="{DB57DF27-9F2D-41D0-87D8-BFEDB4204D0E}"/>
              </a:ext>
            </a:extLst>
          </p:cNvPr>
          <p:cNvSpPr>
            <a:spLocks xmlns:a="http://schemas.openxmlformats.org/drawingml/2006/main" noGrp="1"/>
          </p:cNvSpPr>
          <p:nvPr/>
        </p:nvSpPr>
        <p:spPr>
          <a:xfrm xmlns:a="http://schemas.openxmlformats.org/drawingml/2006/main">
            <a:off x="4476750" y="2181225"/>
            <a:ext cx="314325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22</a:t>
            </a:r>
          </a:p>
        </p:txBody>
      </p:sp>
      <p:sp>
        <p:nvSpPr>
          <p:cNvPr id="11" name="text-56">
            <a:extLst xmlns:a="http://schemas.openxmlformats.org/drawingml/2006/main">
              <a:ext uri="{FF2B5EF4-FFF2-40B4-BE49-F238E27FC236}">
                <a16:creationId xmlns:a16="http://schemas.microsoft.com/office/drawing/2014/main" id="{3FF37C82-88D9-45C6-BF27-7917E9CA6F5B}"/>
              </a:ext>
            </a:extLst>
          </p:cNvPr>
          <p:cNvSpPr>
            <a:spLocks xmlns:a="http://schemas.openxmlformats.org/drawingml/2006/main" noGrp="1"/>
          </p:cNvSpPr>
          <p:nvPr/>
        </p:nvSpPr>
        <p:spPr>
          <a:xfrm xmlns:a="http://schemas.openxmlformats.org/drawingml/2006/main">
            <a:off x="4476750" y="3057525"/>
            <a:ext cx="314325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source columns</a:t>
            </a:r>
          </a:p>
        </p:txBody>
      </p:sp>
      <p:sp>
        <p:nvSpPr>
          <p:cNvPr id="12" name="text-57">
            <a:extLst xmlns:a="http://schemas.openxmlformats.org/drawingml/2006/main">
              <a:ext uri="{FF2B5EF4-FFF2-40B4-BE49-F238E27FC236}">
                <a16:creationId xmlns:a16="http://schemas.microsoft.com/office/drawing/2014/main" id="{DBE8BA20-D34F-444A-BEC1-ADB8E27B7961}"/>
              </a:ext>
            </a:extLst>
          </p:cNvPr>
          <p:cNvSpPr>
            <a:spLocks xmlns:a="http://schemas.openxmlformats.org/drawingml/2006/main" noGrp="1"/>
          </p:cNvSpPr>
          <p:nvPr/>
        </p:nvSpPr>
        <p:spPr>
          <a:xfrm xmlns:a="http://schemas.openxmlformats.org/drawingml/2006/main">
            <a:off x="8477250" y="2181225"/>
            <a:ext cx="314325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1 / 0</a:t>
            </a:r>
          </a:p>
        </p:txBody>
      </p:sp>
      <p:sp>
        <p:nvSpPr>
          <p:cNvPr id="13" name="text-58">
            <a:extLst xmlns:a="http://schemas.openxmlformats.org/drawingml/2006/main">
              <a:ext uri="{FF2B5EF4-FFF2-40B4-BE49-F238E27FC236}">
                <a16:creationId xmlns:a16="http://schemas.microsoft.com/office/drawing/2014/main" id="{1290E761-6410-45D9-A877-BEC72AA02638}"/>
              </a:ext>
            </a:extLst>
          </p:cNvPr>
          <p:cNvSpPr>
            <a:spLocks xmlns:a="http://schemas.openxmlformats.org/drawingml/2006/main" noGrp="1"/>
          </p:cNvSpPr>
          <p:nvPr/>
        </p:nvSpPr>
        <p:spPr>
          <a:xfrm xmlns:a="http://schemas.openxmlformats.org/drawingml/2006/main">
            <a:off x="8477250" y="3057525"/>
            <a:ext cx="314325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accepted / did not accept</a:t>
            </a:r>
          </a:p>
        </p:txBody>
      </p:sp>
      <p:sp>
        <p:nvSpPr>
          <p:cNvPr id="14" name="shape-59">
            <a:extLst xmlns:a="http://schemas.openxmlformats.org/drawingml/2006/main">
              <a:ext uri="{FF2B5EF4-FFF2-40B4-BE49-F238E27FC236}">
                <a16:creationId xmlns:a16="http://schemas.microsoft.com/office/drawing/2014/main" id="{6CAADB4B-F584-4C7B-95BB-10D5728D7D70}"/>
              </a:ext>
            </a:extLst>
          </p:cNvPr>
          <p:cNvSpPr>
            <a:spLocks xmlns:a="http://schemas.openxmlformats.org/drawingml/2006/main" noGrp="1"/>
          </p:cNvSpPr>
          <p:nvPr/>
        </p:nvSpPr>
        <p:spPr>
          <a:xfrm xmlns:a="http://schemas.openxmlformats.org/drawingml/2006/main">
            <a:off x="571500" y="4295775"/>
            <a:ext cx="7096125" cy="1457325"/>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5" name="text-60">
            <a:extLst xmlns:a="http://schemas.openxmlformats.org/drawingml/2006/main">
              <a:ext uri="{FF2B5EF4-FFF2-40B4-BE49-F238E27FC236}">
                <a16:creationId xmlns:a16="http://schemas.microsoft.com/office/drawing/2014/main" id="{FF2B8CA8-A5A8-44E4-82DF-F7C0E2E6960C}"/>
              </a:ext>
            </a:extLst>
          </p:cNvPr>
          <p:cNvSpPr>
            <a:spLocks xmlns:a="http://schemas.openxmlformats.org/drawingml/2006/main" noGrp="1"/>
          </p:cNvSpPr>
          <p:nvPr/>
        </p:nvSpPr>
        <p:spPr>
          <a:xfrm xmlns:a="http://schemas.openxmlformats.org/drawingml/2006/main">
            <a:off x="800100" y="4448175"/>
            <a:ext cx="6667500" cy="1200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df = pd.read_excel( "data/marketing_data.xlsx", sheet_name="marketing_data" )</a:t>
            </a:r>
          </a:p>
        </p:txBody>
      </p:sp>
      <p:sp>
        <p:nvSpPr>
          <p:cNvPr id="16" name="text-61">
            <a:extLst xmlns:a="http://schemas.openxmlformats.org/drawingml/2006/main">
              <a:ext uri="{FF2B5EF4-FFF2-40B4-BE49-F238E27FC236}">
                <a16:creationId xmlns:a16="http://schemas.microsoft.com/office/drawing/2014/main" id="{7B8E52E7-B036-4A52-B647-08F812544C68}"/>
              </a:ext>
            </a:extLst>
          </p:cNvPr>
          <p:cNvSpPr>
            <a:spLocks xmlns:a="http://schemas.openxmlformats.org/drawingml/2006/main" noGrp="1"/>
          </p:cNvSpPr>
          <p:nvPr/>
        </p:nvSpPr>
        <p:spPr>
          <a:xfrm xmlns:a="http://schemas.openxmlformats.org/drawingml/2006/main">
            <a:off x="8210550" y="4352925"/>
            <a:ext cx="33337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pandas · matplotlib · seaborn</a:t>
            </a:r>
          </a:p>
        </p:txBody>
      </p:sp>
      <p:sp>
        <p:nvSpPr>
          <p:cNvPr id="17" name="text-62">
            <a:extLst xmlns:a="http://schemas.openxmlformats.org/drawingml/2006/main">
              <a:ext uri="{FF2B5EF4-FFF2-40B4-BE49-F238E27FC236}">
                <a16:creationId xmlns:a16="http://schemas.microsoft.com/office/drawing/2014/main" id="{D598402B-7DFC-4476-A543-311A4BAB7730}"/>
              </a:ext>
            </a:extLst>
          </p:cNvPr>
          <p:cNvSpPr>
            <a:spLocks xmlns:a="http://schemas.openxmlformats.org/drawingml/2006/main" noGrp="1"/>
          </p:cNvSpPr>
          <p:nvPr/>
        </p:nvSpPr>
        <p:spPr>
          <a:xfrm xmlns:a="http://schemas.openxmlformats.org/drawingml/2006/main">
            <a:off x="8210550" y="4914900"/>
            <a:ext cx="333375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scikit-learn</a:t>
            </a:r>
          </a:p>
        </p:txBody>
      </p:sp>
      <p:sp>
        <p:nvSpPr>
          <p:cNvPr id="18" name="text-63">
            <a:extLst xmlns:a="http://schemas.openxmlformats.org/drawingml/2006/main">
              <a:ext uri="{FF2B5EF4-FFF2-40B4-BE49-F238E27FC236}">
                <a16:creationId xmlns:a16="http://schemas.microsoft.com/office/drawing/2014/main" id="{1DA7744E-285E-4F97-BD76-6F17AA9A207E}"/>
              </a:ext>
            </a:extLst>
          </p:cNvPr>
          <p:cNvSpPr>
            <a:spLocks xmlns:a="http://schemas.openxmlformats.org/drawingml/2006/main" noGrp="1"/>
          </p:cNvSpPr>
          <p:nvPr/>
        </p:nvSpPr>
        <p:spPr>
          <a:xfrm xmlns:a="http://schemas.openxmlformats.org/drawingml/2006/main">
            <a:off x="8210550" y="5305425"/>
            <a:ext cx="3333750"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Relative path; raw workbook preserved</a:t>
            </a:r>
          </a:p>
        </p:txBody>
      </p:sp>
    </p:spTree>
    <p:extLst>
      <p:ext uri="{BB962C8B-B14F-4D97-AF65-F5344CB8AC3E}">
        <p14:creationId xmlns:p14="http://schemas.microsoft.com/office/powerpoint/2010/main" val="14667958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C20B7F5C-0FF8-43DF-A073-94A24232EC6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8A63E9B1-FCBF-4DCC-ABE7-EC2D44DAB4F0}"/>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8322A49A-7D49-43A9-922B-03191422BDBD}"/>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METRIC CHOICE</a:t>
            </a:r>
          </a:p>
        </p:txBody>
      </p:sp>
      <p:sp>
        <p:nvSpPr>
          <p:cNvPr id="4" name="text-64">
            <a:extLst xmlns:a="http://schemas.openxmlformats.org/drawingml/2006/main">
              <a:ext uri="{FF2B5EF4-FFF2-40B4-BE49-F238E27FC236}">
                <a16:creationId xmlns:a16="http://schemas.microsoft.com/office/drawing/2014/main" id="{BE48DFC6-0328-4AA4-99BB-A533DCA3EEB0}"/>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85% accuracy can still identify zero responders</a:t>
            </a:r>
          </a:p>
        </p:txBody>
      </p:sp>
      <p:sp>
        <p:nvSpPr>
          <p:cNvPr id="5" name="shape-65">
            <a:extLst xmlns:a="http://schemas.openxmlformats.org/drawingml/2006/main">
              <a:ext uri="{FF2B5EF4-FFF2-40B4-BE49-F238E27FC236}">
                <a16:creationId xmlns:a16="http://schemas.microsoft.com/office/drawing/2014/main" id="{8B83A04C-F11C-4D44-A93B-4D08B7BDC8D1}"/>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66">
            <a:extLst xmlns:a="http://schemas.openxmlformats.org/drawingml/2006/main">
              <a:ext uri="{FF2B5EF4-FFF2-40B4-BE49-F238E27FC236}">
                <a16:creationId xmlns:a16="http://schemas.microsoft.com/office/drawing/2014/main" id="{FB603149-DE2D-418E-AFF8-B4BD4401F126}"/>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§3 and §5; source target distribution</a:t>
            </a:r>
          </a:p>
        </p:txBody>
      </p:sp>
      <p:sp>
        <p:nvSpPr>
          <p:cNvPr id="7" name="text-67">
            <a:extLst xmlns:a="http://schemas.openxmlformats.org/drawingml/2006/main">
              <a:ext uri="{FF2B5EF4-FFF2-40B4-BE49-F238E27FC236}">
                <a16:creationId xmlns:a16="http://schemas.microsoft.com/office/drawing/2014/main" id="{30E20CE9-4C4C-440E-AC44-4CB9A159BC12}"/>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05</a:t>
            </a:r>
          </a:p>
        </p:txBody>
      </p:sp>
      <p:sp>
        <p:nvSpPr>
          <p:cNvPr id="8" name="text-68">
            <a:extLst xmlns:a="http://schemas.openxmlformats.org/drawingml/2006/main">
              <a:ext uri="{FF2B5EF4-FFF2-40B4-BE49-F238E27FC236}">
                <a16:creationId xmlns:a16="http://schemas.microsoft.com/office/drawing/2014/main" id="{35EC1918-E665-4D8F-A222-CAFAAF54B2BD}"/>
              </a:ext>
            </a:extLst>
          </p:cNvPr>
          <p:cNvSpPr>
            <a:spLocks xmlns:a="http://schemas.openxmlformats.org/drawingml/2006/main" noGrp="1"/>
          </p:cNvSpPr>
          <p:nvPr/>
        </p:nvSpPr>
        <p:spPr>
          <a:xfrm xmlns:a="http://schemas.openxmlformats.org/drawingml/2006/main">
            <a:off x="571500" y="2219325"/>
            <a:ext cx="7620000" cy="333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350" b="1">
                <a:solidFill>
                  <a:srgbClr val="596C7D"/>
                </a:solidFill>
                <a:latin typeface="Arial"/>
                <a:ea typeface="Arial"/>
                <a:cs typeface="Arial"/>
              </a:defRPr>
            </a:pPr>
            <a:r>
              <a:rPr sz="1350" b="1">
                <a:solidFill>
                  <a:srgbClr val="596C7D"/>
                </a:solidFill>
                <a:latin typeface="Arial"/>
                <a:ea typeface="Arial"/>
                <a:cs typeface="Arial"/>
              </a:rPr>
              <a:t>SOURCE TARGET DISTRIBUTION</a:t>
            </a:r>
          </a:p>
        </p:txBody>
      </p:sp>
      <p:sp>
        <p:nvSpPr>
          <p:cNvPr id="9" name="shape-69">
            <a:extLst xmlns:a="http://schemas.openxmlformats.org/drawingml/2006/main">
              <a:ext uri="{FF2B5EF4-FFF2-40B4-BE49-F238E27FC236}">
                <a16:creationId xmlns:a16="http://schemas.microsoft.com/office/drawing/2014/main" id="{5F5DF233-567D-4A7B-AC8F-9E5FADA5416C}"/>
              </a:ext>
            </a:extLst>
          </p:cNvPr>
          <p:cNvSpPr>
            <a:spLocks xmlns:a="http://schemas.openxmlformats.org/drawingml/2006/main" noGrp="1"/>
          </p:cNvSpPr>
          <p:nvPr/>
        </p:nvSpPr>
        <p:spPr>
          <a:xfrm xmlns:a="http://schemas.openxmlformats.org/drawingml/2006/main">
            <a:off x="571500" y="2790825"/>
            <a:ext cx="9391650" cy="876300"/>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0" name="shape-70">
            <a:extLst xmlns:a="http://schemas.openxmlformats.org/drawingml/2006/main">
              <a:ext uri="{FF2B5EF4-FFF2-40B4-BE49-F238E27FC236}">
                <a16:creationId xmlns:a16="http://schemas.microsoft.com/office/drawing/2014/main" id="{A12FCA06-67A1-4D2B-BDE7-A53F5275F71F}"/>
              </a:ext>
            </a:extLst>
          </p:cNvPr>
          <p:cNvSpPr>
            <a:spLocks xmlns:a="http://schemas.openxmlformats.org/drawingml/2006/main" noGrp="1"/>
          </p:cNvSpPr>
          <p:nvPr/>
        </p:nvSpPr>
        <p:spPr>
          <a:xfrm xmlns:a="http://schemas.openxmlformats.org/drawingml/2006/main">
            <a:off x="9963150" y="2790825"/>
            <a:ext cx="1657350" cy="8763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1" name="text-71">
            <a:extLst xmlns:a="http://schemas.openxmlformats.org/drawingml/2006/main">
              <a:ext uri="{FF2B5EF4-FFF2-40B4-BE49-F238E27FC236}">
                <a16:creationId xmlns:a16="http://schemas.microsoft.com/office/drawing/2014/main" id="{431DDC04-CF15-48BE-982D-94D566FEA865}"/>
              </a:ext>
            </a:extLst>
          </p:cNvPr>
          <p:cNvSpPr>
            <a:spLocks xmlns:a="http://schemas.openxmlformats.org/drawingml/2006/main" noGrp="1"/>
          </p:cNvSpPr>
          <p:nvPr/>
        </p:nvSpPr>
        <p:spPr>
          <a:xfrm xmlns:a="http://schemas.openxmlformats.org/drawingml/2006/main">
            <a:off x="762000" y="3048000"/>
            <a:ext cx="8715375"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0">
                <a:solidFill>
                  <a:srgbClr val="182D43"/>
                </a:solidFill>
                <a:latin typeface="Arial"/>
                <a:ea typeface="Arial"/>
                <a:cs typeface="Arial"/>
              </a:defRPr>
            </a:pPr>
            <a:r>
              <a:rPr sz="2250" b="0">
                <a:solidFill>
                  <a:srgbClr val="182D43"/>
                </a:solidFill>
                <a:latin typeface="Arial"/>
                <a:ea typeface="Arial"/>
                <a:cs typeface="Arial"/>
              </a:rPr>
              <a:t>1,906 non-responders  ·  85.1%</a:t>
            </a:r>
          </a:p>
        </p:txBody>
      </p:sp>
      <p:sp>
        <p:nvSpPr>
          <p:cNvPr id="12" name="text-72">
            <a:extLst xmlns:a="http://schemas.openxmlformats.org/drawingml/2006/main">
              <a:ext uri="{FF2B5EF4-FFF2-40B4-BE49-F238E27FC236}">
                <a16:creationId xmlns:a16="http://schemas.microsoft.com/office/drawing/2014/main" id="{349CBFDF-6261-43BB-8B23-C83C4285B47C}"/>
              </a:ext>
            </a:extLst>
          </p:cNvPr>
          <p:cNvSpPr>
            <a:spLocks xmlns:a="http://schemas.openxmlformats.org/drawingml/2006/main" noGrp="1"/>
          </p:cNvSpPr>
          <p:nvPr/>
        </p:nvSpPr>
        <p:spPr>
          <a:xfrm xmlns:a="http://schemas.openxmlformats.org/drawingml/2006/main">
            <a:off x="10191750" y="2952750"/>
            <a:ext cx="11430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334</a:t>
            </a:r>
          </a:p>
        </p:txBody>
      </p:sp>
      <p:sp>
        <p:nvSpPr>
          <p:cNvPr id="13" name="text-73">
            <a:extLst xmlns:a="http://schemas.openxmlformats.org/drawingml/2006/main">
              <a:ext uri="{FF2B5EF4-FFF2-40B4-BE49-F238E27FC236}">
                <a16:creationId xmlns:a16="http://schemas.microsoft.com/office/drawing/2014/main" id="{8E1B5503-B0DB-4381-8332-0D9A25F43845}"/>
              </a:ext>
            </a:extLst>
          </p:cNvPr>
          <p:cNvSpPr>
            <a:spLocks xmlns:a="http://schemas.openxmlformats.org/drawingml/2006/main" noGrp="1"/>
          </p:cNvSpPr>
          <p:nvPr/>
        </p:nvSpPr>
        <p:spPr>
          <a:xfrm xmlns:a="http://schemas.openxmlformats.org/drawingml/2006/main">
            <a:off x="9467850" y="3857625"/>
            <a:ext cx="2238375" cy="333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14.9% accepted</a:t>
            </a:r>
          </a:p>
        </p:txBody>
      </p:sp>
      <p:sp>
        <p:nvSpPr>
          <p:cNvPr id="14" name="shape-74">
            <a:extLst xmlns:a="http://schemas.openxmlformats.org/drawingml/2006/main">
              <a:ext uri="{FF2B5EF4-FFF2-40B4-BE49-F238E27FC236}">
                <a16:creationId xmlns:a16="http://schemas.microsoft.com/office/drawing/2014/main" id="{C30D06DB-C3EE-4248-BB14-8B3B86B50384}"/>
              </a:ext>
            </a:extLst>
          </p:cNvPr>
          <p:cNvSpPr>
            <a:spLocks xmlns:a="http://schemas.openxmlformats.org/drawingml/2006/main" noGrp="1"/>
          </p:cNvSpPr>
          <p:nvPr/>
        </p:nvSpPr>
        <p:spPr>
          <a:xfrm xmlns:a="http://schemas.openxmlformats.org/drawingml/2006/main">
            <a:off x="571500" y="4343400"/>
            <a:ext cx="32385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5" name="text-75">
            <a:extLst xmlns:a="http://schemas.openxmlformats.org/drawingml/2006/main">
              <a:ext uri="{FF2B5EF4-FFF2-40B4-BE49-F238E27FC236}">
                <a16:creationId xmlns:a16="http://schemas.microsoft.com/office/drawing/2014/main" id="{D706D5A5-D050-4675-B432-1A08E4558A3F}"/>
              </a:ext>
            </a:extLst>
          </p:cNvPr>
          <p:cNvSpPr>
            <a:spLocks xmlns:a="http://schemas.openxmlformats.org/drawingml/2006/main" noGrp="1"/>
          </p:cNvSpPr>
          <p:nvPr/>
        </p:nvSpPr>
        <p:spPr>
          <a:xfrm xmlns:a="http://schemas.openxmlformats.org/drawingml/2006/main">
            <a:off x="571500" y="4514850"/>
            <a:ext cx="32385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4682B4"/>
                </a:solidFill>
                <a:latin typeface="Arial"/>
                <a:ea typeface="Arial"/>
                <a:cs typeface="Arial"/>
              </a:defRPr>
            </a:pPr>
            <a:r>
              <a:rPr sz="1800" b="1">
                <a:solidFill>
                  <a:srgbClr val="4682B4"/>
                </a:solidFill>
                <a:latin typeface="Arial"/>
                <a:ea typeface="Arial"/>
                <a:cs typeface="Arial"/>
              </a:rPr>
              <a:t>Dummy accuracy: 85%</a:t>
            </a:r>
          </a:p>
        </p:txBody>
      </p:sp>
      <p:sp>
        <p:nvSpPr>
          <p:cNvPr id="16" name="text-76">
            <a:extLst xmlns:a="http://schemas.openxmlformats.org/drawingml/2006/main">
              <a:ext uri="{FF2B5EF4-FFF2-40B4-BE49-F238E27FC236}">
                <a16:creationId xmlns:a16="http://schemas.microsoft.com/office/drawing/2014/main" id="{B8D944E6-7C96-47DA-A8F0-039897363E40}"/>
              </a:ext>
            </a:extLst>
          </p:cNvPr>
          <p:cNvSpPr>
            <a:spLocks xmlns:a="http://schemas.openxmlformats.org/drawingml/2006/main" noGrp="1"/>
          </p:cNvSpPr>
          <p:nvPr/>
        </p:nvSpPr>
        <p:spPr>
          <a:xfrm xmlns:a="http://schemas.openxmlformats.org/drawingml/2006/main">
            <a:off x="571500" y="4981575"/>
            <a:ext cx="3238500" cy="1066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596C7D"/>
                </a:solidFill>
                <a:latin typeface="Arial"/>
                <a:ea typeface="Arial"/>
                <a:cs typeface="Arial"/>
              </a:defRPr>
            </a:pPr>
            <a:r>
              <a:rPr sz="1650" b="0">
                <a:solidFill>
                  <a:srgbClr val="596C7D"/>
                </a:solidFill>
                <a:latin typeface="Arial"/>
                <a:ea typeface="Arial"/>
                <a:cs typeface="Arial"/>
              </a:rPr>
              <a:t>Predicting zero for everyone finds no responders.</a:t>
            </a:r>
          </a:p>
        </p:txBody>
      </p:sp>
      <p:sp>
        <p:nvSpPr>
          <p:cNvPr id="17" name="shape-77">
            <a:extLst xmlns:a="http://schemas.openxmlformats.org/drawingml/2006/main">
              <a:ext uri="{FF2B5EF4-FFF2-40B4-BE49-F238E27FC236}">
                <a16:creationId xmlns:a16="http://schemas.microsoft.com/office/drawing/2014/main" id="{0096EC4E-B0BC-4C01-ADE1-DE91202C1FB4}"/>
              </a:ext>
            </a:extLst>
          </p:cNvPr>
          <p:cNvSpPr>
            <a:spLocks xmlns:a="http://schemas.openxmlformats.org/drawingml/2006/main" noGrp="1"/>
          </p:cNvSpPr>
          <p:nvPr/>
        </p:nvSpPr>
        <p:spPr>
          <a:xfrm xmlns:a="http://schemas.openxmlformats.org/drawingml/2006/main">
            <a:off x="4495800" y="4343400"/>
            <a:ext cx="32385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8" name="text-78">
            <a:extLst xmlns:a="http://schemas.openxmlformats.org/drawingml/2006/main">
              <a:ext uri="{FF2B5EF4-FFF2-40B4-BE49-F238E27FC236}">
                <a16:creationId xmlns:a16="http://schemas.microsoft.com/office/drawing/2014/main" id="{3F9C1E3D-B01B-413B-829D-5803E22352AD}"/>
              </a:ext>
            </a:extLst>
          </p:cNvPr>
          <p:cNvSpPr>
            <a:spLocks xmlns:a="http://schemas.openxmlformats.org/drawingml/2006/main" noGrp="1"/>
          </p:cNvSpPr>
          <p:nvPr/>
        </p:nvSpPr>
        <p:spPr>
          <a:xfrm xmlns:a="http://schemas.openxmlformats.org/drawingml/2006/main">
            <a:off x="4495800" y="4514850"/>
            <a:ext cx="32385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4682B4"/>
                </a:solidFill>
                <a:latin typeface="Arial"/>
                <a:ea typeface="Arial"/>
                <a:cs typeface="Arial"/>
              </a:defRPr>
            </a:pPr>
            <a:r>
              <a:rPr sz="1800" b="1">
                <a:solidFill>
                  <a:srgbClr val="4682B4"/>
                </a:solidFill>
                <a:latin typeface="Arial"/>
                <a:ea typeface="Arial"/>
                <a:cs typeface="Arial"/>
              </a:rPr>
              <a:t>Primary metric: AP</a:t>
            </a:r>
          </a:p>
        </p:txBody>
      </p:sp>
      <p:sp>
        <p:nvSpPr>
          <p:cNvPr id="19" name="text-79">
            <a:extLst xmlns:a="http://schemas.openxmlformats.org/drawingml/2006/main">
              <a:ext uri="{FF2B5EF4-FFF2-40B4-BE49-F238E27FC236}">
                <a16:creationId xmlns:a16="http://schemas.microsoft.com/office/drawing/2014/main" id="{CFD7382E-BFEB-4470-A496-FBE1AD3D951C}"/>
              </a:ext>
            </a:extLst>
          </p:cNvPr>
          <p:cNvSpPr>
            <a:spLocks xmlns:a="http://schemas.openxmlformats.org/drawingml/2006/main" noGrp="1"/>
          </p:cNvSpPr>
          <p:nvPr/>
        </p:nvSpPr>
        <p:spPr>
          <a:xfrm xmlns:a="http://schemas.openxmlformats.org/drawingml/2006/main">
            <a:off x="4495800" y="4981575"/>
            <a:ext cx="3238500" cy="1066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596C7D"/>
                </a:solidFill>
                <a:latin typeface="Arial"/>
                <a:ea typeface="Arial"/>
                <a:cs typeface="Arial"/>
              </a:defRPr>
            </a:pPr>
            <a:r>
              <a:rPr sz="1650" b="0">
                <a:solidFill>
                  <a:srgbClr val="596C7D"/>
                </a:solidFill>
                <a:latin typeface="Arial"/>
                <a:ea typeface="Arial"/>
                <a:cs typeface="Arial"/>
              </a:rPr>
              <a:t>Notebook “PR AUC” uses average precision, summarizing precision versus recall.</a:t>
            </a:r>
          </a:p>
        </p:txBody>
      </p:sp>
      <p:sp>
        <p:nvSpPr>
          <p:cNvPr id="20" name="shape-80">
            <a:extLst xmlns:a="http://schemas.openxmlformats.org/drawingml/2006/main">
              <a:ext uri="{FF2B5EF4-FFF2-40B4-BE49-F238E27FC236}">
                <a16:creationId xmlns:a16="http://schemas.microsoft.com/office/drawing/2014/main" id="{6436DF0F-E316-4474-9E0F-CF3EDE824B9D}"/>
              </a:ext>
            </a:extLst>
          </p:cNvPr>
          <p:cNvSpPr>
            <a:spLocks xmlns:a="http://schemas.openxmlformats.org/drawingml/2006/main" noGrp="1"/>
          </p:cNvSpPr>
          <p:nvPr/>
        </p:nvSpPr>
        <p:spPr>
          <a:xfrm xmlns:a="http://schemas.openxmlformats.org/drawingml/2006/main">
            <a:off x="8420100" y="4343400"/>
            <a:ext cx="32004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1" name="text-81">
            <a:extLst xmlns:a="http://schemas.openxmlformats.org/drawingml/2006/main">
              <a:ext uri="{FF2B5EF4-FFF2-40B4-BE49-F238E27FC236}">
                <a16:creationId xmlns:a16="http://schemas.microsoft.com/office/drawing/2014/main" id="{62157EC4-769F-4C66-9B6D-40C16E91E385}"/>
              </a:ext>
            </a:extLst>
          </p:cNvPr>
          <p:cNvSpPr>
            <a:spLocks xmlns:a="http://schemas.openxmlformats.org/drawingml/2006/main" noGrp="1"/>
          </p:cNvSpPr>
          <p:nvPr/>
        </p:nvSpPr>
        <p:spPr>
          <a:xfrm xmlns:a="http://schemas.openxmlformats.org/drawingml/2006/main">
            <a:off x="8420100" y="4514850"/>
            <a:ext cx="32004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4682B4"/>
                </a:solidFill>
                <a:latin typeface="Arial"/>
                <a:ea typeface="Arial"/>
                <a:cs typeface="Arial"/>
              </a:defRPr>
            </a:pPr>
            <a:r>
              <a:rPr sz="1800" b="1">
                <a:solidFill>
                  <a:srgbClr val="4682B4"/>
                </a:solidFill>
                <a:latin typeface="Arial"/>
                <a:ea typeface="Arial"/>
                <a:cs typeface="Arial"/>
              </a:rPr>
              <a:t>Keep business metrics</a:t>
            </a:r>
          </a:p>
        </p:txBody>
      </p:sp>
      <p:sp>
        <p:nvSpPr>
          <p:cNvPr id="22" name="text-82">
            <a:extLst xmlns:a="http://schemas.openxmlformats.org/drawingml/2006/main">
              <a:ext uri="{FF2B5EF4-FFF2-40B4-BE49-F238E27FC236}">
                <a16:creationId xmlns:a16="http://schemas.microsoft.com/office/drawing/2014/main" id="{DB790AE8-24ED-45DE-8E6E-BE082055E891}"/>
              </a:ext>
            </a:extLst>
          </p:cNvPr>
          <p:cNvSpPr>
            <a:spLocks xmlns:a="http://schemas.openxmlformats.org/drawingml/2006/main" noGrp="1"/>
          </p:cNvSpPr>
          <p:nvPr/>
        </p:nvSpPr>
        <p:spPr>
          <a:xfrm xmlns:a="http://schemas.openxmlformats.org/drawingml/2006/main">
            <a:off x="8420100" y="4981575"/>
            <a:ext cx="3200400" cy="1066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596C7D"/>
                </a:solidFill>
                <a:latin typeface="Arial"/>
                <a:ea typeface="Arial"/>
                <a:cs typeface="Arial"/>
              </a:defRPr>
            </a:pPr>
            <a:r>
              <a:rPr sz="1650" b="0">
                <a:solidFill>
                  <a:srgbClr val="596C7D"/>
                </a:solidFill>
                <a:latin typeface="Arial"/>
                <a:ea typeface="Arial"/>
                <a:cs typeface="Arial"/>
              </a:rPr>
              <a:t>Response at capacity, capture, lift and net contribution.</a:t>
            </a:r>
          </a:p>
        </p:txBody>
      </p:sp>
    </p:spTree>
    <p:extLst>
      <p:ext uri="{BB962C8B-B14F-4D97-AF65-F5344CB8AC3E}">
        <p14:creationId xmlns:p14="http://schemas.microsoft.com/office/powerpoint/2010/main" val="14924630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163F6E47-E462-4BE8-9716-F41D8964FD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94EBE4B3-0F73-44F4-A95D-5121DDA0796C}"/>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1156B730-5FA6-4C2A-9A98-E5CFCD77E1FF}"/>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DATA QUALITY</a:t>
            </a:r>
          </a:p>
        </p:txBody>
      </p:sp>
      <p:sp>
        <p:nvSpPr>
          <p:cNvPr id="4" name="text-83">
            <a:extLst xmlns:a="http://schemas.openxmlformats.org/drawingml/2006/main">
              <a:ext uri="{FF2B5EF4-FFF2-40B4-BE49-F238E27FC236}">
                <a16:creationId xmlns:a16="http://schemas.microsoft.com/office/drawing/2014/main" id="{0190889F-9B26-4E1A-A11B-3108AC7237ED}"/>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Four records are excluded; missing income stays for imputation</a:t>
            </a:r>
          </a:p>
        </p:txBody>
      </p:sp>
      <p:sp>
        <p:nvSpPr>
          <p:cNvPr id="5" name="shape-84">
            <a:extLst xmlns:a="http://schemas.openxmlformats.org/drawingml/2006/main">
              <a:ext uri="{FF2B5EF4-FFF2-40B4-BE49-F238E27FC236}">
                <a16:creationId xmlns:a16="http://schemas.microsoft.com/office/drawing/2014/main" id="{C48AFB83-8E46-40BD-8A99-3D7FFB8D449B}"/>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85">
            <a:extLst xmlns:a="http://schemas.openxmlformats.org/drawingml/2006/main">
              <a:ext uri="{FF2B5EF4-FFF2-40B4-BE49-F238E27FC236}">
                <a16:creationId xmlns:a16="http://schemas.microsoft.com/office/drawing/2014/main" id="{5C790A6A-DD85-4136-A737-876CB02C0108}"/>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§2 and §4</a:t>
            </a:r>
          </a:p>
        </p:txBody>
      </p:sp>
      <p:sp>
        <p:nvSpPr>
          <p:cNvPr id="7" name="text-86">
            <a:extLst xmlns:a="http://schemas.openxmlformats.org/drawingml/2006/main">
              <a:ext uri="{FF2B5EF4-FFF2-40B4-BE49-F238E27FC236}">
                <a16:creationId xmlns:a16="http://schemas.microsoft.com/office/drawing/2014/main" id="{73718120-4A2F-4553-9914-CA6C3B973A92}"/>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06</a:t>
            </a:r>
          </a:p>
        </p:txBody>
      </p:sp>
      <p:sp>
        <p:nvSpPr>
          <p:cNvPr id="8" name="text-87">
            <a:extLst xmlns:a="http://schemas.openxmlformats.org/drawingml/2006/main">
              <a:ext uri="{FF2B5EF4-FFF2-40B4-BE49-F238E27FC236}">
                <a16:creationId xmlns:a16="http://schemas.microsoft.com/office/drawing/2014/main" id="{92A76690-2043-4B72-A558-A2D028D5ADEB}"/>
              </a:ext>
            </a:extLst>
          </p:cNvPr>
          <p:cNvSpPr>
            <a:spLocks xmlns:a="http://schemas.openxmlformats.org/drawingml/2006/main" noGrp="1"/>
          </p:cNvSpPr>
          <p:nvPr/>
        </p:nvSpPr>
        <p:spPr>
          <a:xfrm xmlns:a="http://schemas.openxmlformats.org/drawingml/2006/main">
            <a:off x="571500" y="2190750"/>
            <a:ext cx="1000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600" b="0">
                <a:solidFill>
                  <a:srgbClr val="4682B4"/>
                </a:solidFill>
                <a:latin typeface="Georgia"/>
                <a:ea typeface="Georgia"/>
                <a:cs typeface="Georgia"/>
              </a:defRPr>
            </a:pPr>
            <a:r>
              <a:rPr sz="3600" b="0">
                <a:solidFill>
                  <a:srgbClr val="4682B4"/>
                </a:solidFill>
                <a:latin typeface="Georgia"/>
                <a:ea typeface="Georgia"/>
                <a:cs typeface="Georgia"/>
              </a:rPr>
              <a:t>24</a:t>
            </a:r>
          </a:p>
        </p:txBody>
      </p:sp>
      <p:sp>
        <p:nvSpPr>
          <p:cNvPr id="9" name="text-88">
            <a:extLst xmlns:a="http://schemas.openxmlformats.org/drawingml/2006/main">
              <a:ext uri="{FF2B5EF4-FFF2-40B4-BE49-F238E27FC236}">
                <a16:creationId xmlns:a16="http://schemas.microsoft.com/office/drawing/2014/main" id="{FD366EC9-F4D9-4AAD-9850-9F79272576AE}"/>
              </a:ext>
            </a:extLst>
          </p:cNvPr>
          <p:cNvSpPr>
            <a:spLocks xmlns:a="http://schemas.openxmlformats.org/drawingml/2006/main" noGrp="1"/>
          </p:cNvSpPr>
          <p:nvPr/>
        </p:nvSpPr>
        <p:spPr>
          <a:xfrm xmlns:a="http://schemas.openxmlformats.org/drawingml/2006/main">
            <a:off x="1933575" y="2286000"/>
            <a:ext cx="37719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1">
                <a:solidFill>
                  <a:srgbClr val="182D43"/>
                </a:solidFill>
                <a:latin typeface="Arial"/>
                <a:ea typeface="Arial"/>
                <a:cs typeface="Arial"/>
              </a:defRPr>
            </a:pPr>
            <a:r>
              <a:rPr sz="2025" b="1">
                <a:solidFill>
                  <a:srgbClr val="182D43"/>
                </a:solidFill>
                <a:latin typeface="Arial"/>
                <a:ea typeface="Arial"/>
                <a:cs typeface="Arial"/>
              </a:rPr>
              <a:t>missing incomes</a:t>
            </a:r>
          </a:p>
        </p:txBody>
      </p:sp>
      <p:sp>
        <p:nvSpPr>
          <p:cNvPr id="10" name="text-89">
            <a:extLst xmlns:a="http://schemas.openxmlformats.org/drawingml/2006/main">
              <a:ext uri="{FF2B5EF4-FFF2-40B4-BE49-F238E27FC236}">
                <a16:creationId xmlns:a16="http://schemas.microsoft.com/office/drawing/2014/main" id="{1D010178-9257-4C65-B2FD-14DA3CA715FF}"/>
              </a:ext>
            </a:extLst>
          </p:cNvPr>
          <p:cNvSpPr>
            <a:spLocks xmlns:a="http://schemas.openxmlformats.org/drawingml/2006/main" noGrp="1"/>
          </p:cNvSpPr>
          <p:nvPr/>
        </p:nvSpPr>
        <p:spPr>
          <a:xfrm xmlns:a="http://schemas.openxmlformats.org/drawingml/2006/main">
            <a:off x="6429375" y="2295525"/>
            <a:ext cx="5191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Retain; impute inside the pipeline</a:t>
            </a:r>
          </a:p>
        </p:txBody>
      </p:sp>
      <p:sp>
        <p:nvSpPr>
          <p:cNvPr id="11" name="shape-90">
            <a:extLst xmlns:a="http://schemas.openxmlformats.org/drawingml/2006/main">
              <a:ext uri="{FF2B5EF4-FFF2-40B4-BE49-F238E27FC236}">
                <a16:creationId xmlns:a16="http://schemas.microsoft.com/office/drawing/2014/main" id="{6604CFEA-7E34-4DE1-9439-0E9D33D7E21C}"/>
              </a:ext>
            </a:extLst>
          </p:cNvPr>
          <p:cNvSpPr>
            <a:spLocks xmlns:a="http://schemas.openxmlformats.org/drawingml/2006/main" noGrp="1"/>
          </p:cNvSpPr>
          <p:nvPr/>
        </p:nvSpPr>
        <p:spPr>
          <a:xfrm xmlns:a="http://schemas.openxmlformats.org/drawingml/2006/main">
            <a:off x="1933575" y="2933700"/>
            <a:ext cx="9686925"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2" name="text-91">
            <a:extLst xmlns:a="http://schemas.openxmlformats.org/drawingml/2006/main">
              <a:ext uri="{FF2B5EF4-FFF2-40B4-BE49-F238E27FC236}">
                <a16:creationId xmlns:a16="http://schemas.microsoft.com/office/drawing/2014/main" id="{38CA0558-8E05-4611-BC91-860CCABFB22A}"/>
              </a:ext>
            </a:extLst>
          </p:cNvPr>
          <p:cNvSpPr>
            <a:spLocks xmlns:a="http://schemas.openxmlformats.org/drawingml/2006/main" noGrp="1"/>
          </p:cNvSpPr>
          <p:nvPr/>
        </p:nvSpPr>
        <p:spPr>
          <a:xfrm xmlns:a="http://schemas.openxmlformats.org/drawingml/2006/main">
            <a:off x="571500" y="3057525"/>
            <a:ext cx="1000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600" b="0">
                <a:solidFill>
                  <a:srgbClr val="4682B4"/>
                </a:solidFill>
                <a:latin typeface="Georgia"/>
                <a:ea typeface="Georgia"/>
                <a:cs typeface="Georgia"/>
              </a:defRPr>
            </a:pPr>
            <a:r>
              <a:rPr sz="3600" b="0">
                <a:solidFill>
                  <a:srgbClr val="4682B4"/>
                </a:solidFill>
                <a:latin typeface="Georgia"/>
                <a:ea typeface="Georgia"/>
                <a:cs typeface="Georgia"/>
              </a:rPr>
              <a:t>3</a:t>
            </a:r>
          </a:p>
        </p:txBody>
      </p:sp>
      <p:sp>
        <p:nvSpPr>
          <p:cNvPr id="13" name="text-92">
            <a:extLst xmlns:a="http://schemas.openxmlformats.org/drawingml/2006/main">
              <a:ext uri="{FF2B5EF4-FFF2-40B4-BE49-F238E27FC236}">
                <a16:creationId xmlns:a16="http://schemas.microsoft.com/office/drawing/2014/main" id="{27F525C1-9FCD-4AD2-9A45-44E70EC9DC3B}"/>
              </a:ext>
            </a:extLst>
          </p:cNvPr>
          <p:cNvSpPr>
            <a:spLocks xmlns:a="http://schemas.openxmlformats.org/drawingml/2006/main" noGrp="1"/>
          </p:cNvSpPr>
          <p:nvPr/>
        </p:nvSpPr>
        <p:spPr>
          <a:xfrm xmlns:a="http://schemas.openxmlformats.org/drawingml/2006/main">
            <a:off x="1933575" y="3152775"/>
            <a:ext cx="37719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1">
                <a:solidFill>
                  <a:srgbClr val="182D43"/>
                </a:solidFill>
                <a:latin typeface="Arial"/>
                <a:ea typeface="Arial"/>
                <a:cs typeface="Arial"/>
              </a:defRPr>
            </a:pPr>
            <a:r>
              <a:rPr sz="2025" b="1">
                <a:solidFill>
                  <a:srgbClr val="182D43"/>
                </a:solidFill>
                <a:latin typeface="Arial"/>
                <a:ea typeface="Arial"/>
                <a:cs typeface="Arial"/>
              </a:rPr>
              <a:t>ages above 100</a:t>
            </a:r>
          </a:p>
        </p:txBody>
      </p:sp>
      <p:sp>
        <p:nvSpPr>
          <p:cNvPr id="14" name="text-93">
            <a:extLst xmlns:a="http://schemas.openxmlformats.org/drawingml/2006/main">
              <a:ext uri="{FF2B5EF4-FFF2-40B4-BE49-F238E27FC236}">
                <a16:creationId xmlns:a16="http://schemas.microsoft.com/office/drawing/2014/main" id="{4854F985-98F9-463B-9956-AA4DAFCBC0CF}"/>
              </a:ext>
            </a:extLst>
          </p:cNvPr>
          <p:cNvSpPr>
            <a:spLocks xmlns:a="http://schemas.openxmlformats.org/drawingml/2006/main" noGrp="1"/>
          </p:cNvSpPr>
          <p:nvPr/>
        </p:nvSpPr>
        <p:spPr>
          <a:xfrm xmlns:a="http://schemas.openxmlformats.org/drawingml/2006/main">
            <a:off x="6429375" y="3162300"/>
            <a:ext cx="5191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Exclude using a documented rule</a:t>
            </a:r>
          </a:p>
        </p:txBody>
      </p:sp>
      <p:sp>
        <p:nvSpPr>
          <p:cNvPr id="15" name="shape-94">
            <a:extLst xmlns:a="http://schemas.openxmlformats.org/drawingml/2006/main">
              <a:ext uri="{FF2B5EF4-FFF2-40B4-BE49-F238E27FC236}">
                <a16:creationId xmlns:a16="http://schemas.microsoft.com/office/drawing/2014/main" id="{744A4822-5F5D-4A86-B0F6-39A7E84D76C2}"/>
              </a:ext>
            </a:extLst>
          </p:cNvPr>
          <p:cNvSpPr>
            <a:spLocks xmlns:a="http://schemas.openxmlformats.org/drawingml/2006/main" noGrp="1"/>
          </p:cNvSpPr>
          <p:nvPr/>
        </p:nvSpPr>
        <p:spPr>
          <a:xfrm xmlns:a="http://schemas.openxmlformats.org/drawingml/2006/main">
            <a:off x="1933575" y="3800475"/>
            <a:ext cx="9686925"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6" name="text-95">
            <a:extLst xmlns:a="http://schemas.openxmlformats.org/drawingml/2006/main">
              <a:ext uri="{FF2B5EF4-FFF2-40B4-BE49-F238E27FC236}">
                <a16:creationId xmlns:a16="http://schemas.microsoft.com/office/drawing/2014/main" id="{AFE2E3EC-B4BF-4735-8D05-60AF9F9D70B8}"/>
              </a:ext>
            </a:extLst>
          </p:cNvPr>
          <p:cNvSpPr>
            <a:spLocks xmlns:a="http://schemas.openxmlformats.org/drawingml/2006/main" noGrp="1"/>
          </p:cNvSpPr>
          <p:nvPr/>
        </p:nvSpPr>
        <p:spPr>
          <a:xfrm xmlns:a="http://schemas.openxmlformats.org/drawingml/2006/main">
            <a:off x="571500" y="3924300"/>
            <a:ext cx="1000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600" b="0">
                <a:solidFill>
                  <a:srgbClr val="4682B4"/>
                </a:solidFill>
                <a:latin typeface="Georgia"/>
                <a:ea typeface="Georgia"/>
                <a:cs typeface="Georgia"/>
              </a:defRPr>
            </a:pPr>
            <a:r>
              <a:rPr sz="3600" b="0">
                <a:solidFill>
                  <a:srgbClr val="4682B4"/>
                </a:solidFill>
                <a:latin typeface="Georgia"/>
                <a:ea typeface="Georgia"/>
                <a:cs typeface="Georgia"/>
              </a:rPr>
              <a:t>1</a:t>
            </a:r>
          </a:p>
        </p:txBody>
      </p:sp>
      <p:sp>
        <p:nvSpPr>
          <p:cNvPr id="17" name="text-96">
            <a:extLst xmlns:a="http://schemas.openxmlformats.org/drawingml/2006/main">
              <a:ext uri="{FF2B5EF4-FFF2-40B4-BE49-F238E27FC236}">
                <a16:creationId xmlns:a16="http://schemas.microsoft.com/office/drawing/2014/main" id="{3239B02D-DDE5-4E03-BACD-A249CE1EDE66}"/>
              </a:ext>
            </a:extLst>
          </p:cNvPr>
          <p:cNvSpPr>
            <a:spLocks xmlns:a="http://schemas.openxmlformats.org/drawingml/2006/main" noGrp="1"/>
          </p:cNvSpPr>
          <p:nvPr/>
        </p:nvSpPr>
        <p:spPr>
          <a:xfrm xmlns:a="http://schemas.openxmlformats.org/drawingml/2006/main">
            <a:off x="1933575" y="4019550"/>
            <a:ext cx="37719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1">
                <a:solidFill>
                  <a:srgbClr val="182D43"/>
                </a:solidFill>
                <a:latin typeface="Arial"/>
                <a:ea typeface="Arial"/>
                <a:cs typeface="Arial"/>
              </a:defRPr>
            </a:pPr>
            <a:r>
              <a:rPr sz="2025" b="1">
                <a:solidFill>
                  <a:srgbClr val="182D43"/>
                </a:solidFill>
                <a:latin typeface="Arial"/>
                <a:ea typeface="Arial"/>
                <a:cs typeface="Arial"/>
              </a:rPr>
              <a:t>income above 200,000</a:t>
            </a:r>
          </a:p>
        </p:txBody>
      </p:sp>
      <p:sp>
        <p:nvSpPr>
          <p:cNvPr id="18" name="text-97">
            <a:extLst xmlns:a="http://schemas.openxmlformats.org/drawingml/2006/main">
              <a:ext uri="{FF2B5EF4-FFF2-40B4-BE49-F238E27FC236}">
                <a16:creationId xmlns:a16="http://schemas.microsoft.com/office/drawing/2014/main" id="{98315834-2854-4BBF-86C0-A2105A37F287}"/>
              </a:ext>
            </a:extLst>
          </p:cNvPr>
          <p:cNvSpPr>
            <a:spLocks xmlns:a="http://schemas.openxmlformats.org/drawingml/2006/main" noGrp="1"/>
          </p:cNvSpPr>
          <p:nvPr/>
        </p:nvSpPr>
        <p:spPr>
          <a:xfrm xmlns:a="http://schemas.openxmlformats.org/drawingml/2006/main">
            <a:off x="6429375" y="4029075"/>
            <a:ext cx="5191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Exclude; sensitivity check still needed</a:t>
            </a:r>
          </a:p>
        </p:txBody>
      </p:sp>
      <p:sp>
        <p:nvSpPr>
          <p:cNvPr id="19" name="shape-98">
            <a:extLst xmlns:a="http://schemas.openxmlformats.org/drawingml/2006/main">
              <a:ext uri="{FF2B5EF4-FFF2-40B4-BE49-F238E27FC236}">
                <a16:creationId xmlns:a16="http://schemas.microsoft.com/office/drawing/2014/main" id="{87A2AAD3-7EB4-45C3-99A5-DCC3586E668A}"/>
              </a:ext>
            </a:extLst>
          </p:cNvPr>
          <p:cNvSpPr>
            <a:spLocks xmlns:a="http://schemas.openxmlformats.org/drawingml/2006/main" noGrp="1"/>
          </p:cNvSpPr>
          <p:nvPr/>
        </p:nvSpPr>
        <p:spPr>
          <a:xfrm xmlns:a="http://schemas.openxmlformats.org/drawingml/2006/main">
            <a:off x="1933575" y="4667250"/>
            <a:ext cx="9686925"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0" name="text-99">
            <a:extLst xmlns:a="http://schemas.openxmlformats.org/drawingml/2006/main">
              <a:ext uri="{FF2B5EF4-FFF2-40B4-BE49-F238E27FC236}">
                <a16:creationId xmlns:a16="http://schemas.microsoft.com/office/drawing/2014/main" id="{2C6ED6C2-F12F-4CDD-BDD4-A3EFB03E4BD4}"/>
              </a:ext>
            </a:extLst>
          </p:cNvPr>
          <p:cNvSpPr>
            <a:spLocks xmlns:a="http://schemas.openxmlformats.org/drawingml/2006/main" noGrp="1"/>
          </p:cNvSpPr>
          <p:nvPr/>
        </p:nvSpPr>
        <p:spPr>
          <a:xfrm xmlns:a="http://schemas.openxmlformats.org/drawingml/2006/main">
            <a:off x="571500" y="4791075"/>
            <a:ext cx="1000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600" b="0">
                <a:solidFill>
                  <a:srgbClr val="4682B4"/>
                </a:solidFill>
                <a:latin typeface="Georgia"/>
                <a:ea typeface="Georgia"/>
                <a:cs typeface="Georgia"/>
              </a:defRPr>
            </a:pPr>
            <a:r>
              <a:rPr sz="3600" b="0">
                <a:solidFill>
                  <a:srgbClr val="4682B4"/>
                </a:solidFill>
                <a:latin typeface="Georgia"/>
                <a:ea typeface="Georgia"/>
                <a:cs typeface="Georgia"/>
              </a:rPr>
              <a:t>0</a:t>
            </a:r>
          </a:p>
        </p:txBody>
      </p:sp>
      <p:sp>
        <p:nvSpPr>
          <p:cNvPr id="21" name="text-100">
            <a:extLst xmlns:a="http://schemas.openxmlformats.org/drawingml/2006/main">
              <a:ext uri="{FF2B5EF4-FFF2-40B4-BE49-F238E27FC236}">
                <a16:creationId xmlns:a16="http://schemas.microsoft.com/office/drawing/2014/main" id="{3591C591-73AA-4A18-A025-5D76F5DECE71}"/>
              </a:ext>
            </a:extLst>
          </p:cNvPr>
          <p:cNvSpPr>
            <a:spLocks xmlns:a="http://schemas.openxmlformats.org/drawingml/2006/main" noGrp="1"/>
          </p:cNvSpPr>
          <p:nvPr/>
        </p:nvSpPr>
        <p:spPr>
          <a:xfrm xmlns:a="http://schemas.openxmlformats.org/drawingml/2006/main">
            <a:off x="1933575" y="4886325"/>
            <a:ext cx="37719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1">
                <a:solidFill>
                  <a:srgbClr val="182D43"/>
                </a:solidFill>
                <a:latin typeface="Arial"/>
                <a:ea typeface="Arial"/>
                <a:cs typeface="Arial"/>
              </a:defRPr>
            </a:pPr>
            <a:r>
              <a:rPr sz="2025" b="1">
                <a:solidFill>
                  <a:srgbClr val="182D43"/>
                </a:solidFill>
                <a:latin typeface="Arial"/>
                <a:ea typeface="Arial"/>
                <a:cs typeface="Arial"/>
              </a:rPr>
              <a:t>duplicate rows / IDs</a:t>
            </a:r>
          </a:p>
        </p:txBody>
      </p:sp>
      <p:sp>
        <p:nvSpPr>
          <p:cNvPr id="22" name="text-101">
            <a:extLst xmlns:a="http://schemas.openxmlformats.org/drawingml/2006/main">
              <a:ext uri="{FF2B5EF4-FFF2-40B4-BE49-F238E27FC236}">
                <a16:creationId xmlns:a16="http://schemas.microsoft.com/office/drawing/2014/main" id="{AC92BD8E-30A0-4CD8-8F73-E7C4B5429F45}"/>
              </a:ext>
            </a:extLst>
          </p:cNvPr>
          <p:cNvSpPr>
            <a:spLocks xmlns:a="http://schemas.openxmlformats.org/drawingml/2006/main" noGrp="1"/>
          </p:cNvSpPr>
          <p:nvPr/>
        </p:nvSpPr>
        <p:spPr>
          <a:xfrm xmlns:a="http://schemas.openxmlformats.org/drawingml/2006/main">
            <a:off x="6429375" y="4895850"/>
            <a:ext cx="5191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No deduplication required</a:t>
            </a:r>
          </a:p>
        </p:txBody>
      </p:sp>
      <p:sp>
        <p:nvSpPr>
          <p:cNvPr id="23" name="shape-102">
            <a:extLst xmlns:a="http://schemas.openxmlformats.org/drawingml/2006/main">
              <a:ext uri="{FF2B5EF4-FFF2-40B4-BE49-F238E27FC236}">
                <a16:creationId xmlns:a16="http://schemas.microsoft.com/office/drawing/2014/main" id="{AB3850FC-0ACE-4BEA-AEED-0CC248C94F2A}"/>
              </a:ext>
            </a:extLst>
          </p:cNvPr>
          <p:cNvSpPr>
            <a:spLocks xmlns:a="http://schemas.openxmlformats.org/drawingml/2006/main" noGrp="1"/>
          </p:cNvSpPr>
          <p:nvPr/>
        </p:nvSpPr>
        <p:spPr>
          <a:xfrm xmlns:a="http://schemas.openxmlformats.org/drawingml/2006/main">
            <a:off x="1933575" y="5534025"/>
            <a:ext cx="9686925"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4" name="text-103">
            <a:extLst xmlns:a="http://schemas.openxmlformats.org/drawingml/2006/main">
              <a:ext uri="{FF2B5EF4-FFF2-40B4-BE49-F238E27FC236}">
                <a16:creationId xmlns:a16="http://schemas.microsoft.com/office/drawing/2014/main" id="{ABE79325-D368-46D4-9E6A-6AD2200D5C06}"/>
              </a:ext>
            </a:extLst>
          </p:cNvPr>
          <p:cNvSpPr>
            <a:spLocks xmlns:a="http://schemas.openxmlformats.org/drawingml/2006/main" noGrp="1"/>
          </p:cNvSpPr>
          <p:nvPr/>
        </p:nvSpPr>
        <p:spPr>
          <a:xfrm xmlns:a="http://schemas.openxmlformats.org/drawingml/2006/main">
            <a:off x="571500" y="5867400"/>
            <a:ext cx="110490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596C7D"/>
                </a:solidFill>
                <a:latin typeface="Arial"/>
                <a:ea typeface="Arial"/>
                <a:cs typeface="Arial"/>
              </a:defRPr>
            </a:pPr>
            <a:r>
              <a:rPr sz="1425" b="0">
                <a:solidFill>
                  <a:srgbClr val="596C7D"/>
                </a:solidFill>
                <a:latin typeface="Arial"/>
                <a:ea typeface="Arial"/>
                <a:cs typeface="Arial"/>
              </a:rPr>
              <a:t>2,240 rows → 2,236 retained. Extreme values are flags, not independently verified errors.</a:t>
            </a:r>
          </a:p>
        </p:txBody>
      </p:sp>
    </p:spTree>
    <p:extLst>
      <p:ext uri="{BB962C8B-B14F-4D97-AF65-F5344CB8AC3E}">
        <p14:creationId xmlns:p14="http://schemas.microsoft.com/office/powerpoint/2010/main" val="3973655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2AFFDB2-E0C9-4610-B44D-5C253913F2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ED8BC62B-12E4-48E5-8BEC-BE2CA3AB54A8}"/>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ADA04756-ED81-4FCA-96C4-793DD8C7406C}"/>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EDA / RECENCY</a:t>
            </a:r>
          </a:p>
        </p:txBody>
      </p:sp>
      <p:sp>
        <p:nvSpPr>
          <p:cNvPr id="4" name="text-104">
            <a:extLst xmlns:a="http://schemas.openxmlformats.org/drawingml/2006/main">
              <a:ext uri="{FF2B5EF4-FFF2-40B4-BE49-F238E27FC236}">
                <a16:creationId xmlns:a16="http://schemas.microsoft.com/office/drawing/2014/main" id="{2BE4F142-4ABA-4E25-945A-B3BF73FA5DE5}"/>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Recent purchasers responded more often</a:t>
            </a:r>
          </a:p>
        </p:txBody>
      </p:sp>
      <p:sp>
        <p:nvSpPr>
          <p:cNvPr id="5" name="shape-105">
            <a:extLst xmlns:a="http://schemas.openxmlformats.org/drawingml/2006/main">
              <a:ext uri="{FF2B5EF4-FFF2-40B4-BE49-F238E27FC236}">
                <a16:creationId xmlns:a16="http://schemas.microsoft.com/office/drawing/2014/main" id="{CE4D1C5D-CB49-4F97-BC84-818A8FCB334A}"/>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106">
            <a:extLst xmlns:a="http://schemas.openxmlformats.org/drawingml/2006/main">
              <a:ext uri="{FF2B5EF4-FFF2-40B4-BE49-F238E27FC236}">
                <a16:creationId xmlns:a16="http://schemas.microsoft.com/office/drawing/2014/main" id="{B34AEA8B-4370-4EF7-AF8F-4BA4CA45FBD0}"/>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§3 | raw 2,240-customer EDA</a:t>
            </a:r>
          </a:p>
        </p:txBody>
      </p:sp>
      <p:sp>
        <p:nvSpPr>
          <p:cNvPr id="7" name="text-107">
            <a:extLst xmlns:a="http://schemas.openxmlformats.org/drawingml/2006/main">
              <a:ext uri="{FF2B5EF4-FFF2-40B4-BE49-F238E27FC236}">
                <a16:creationId xmlns:a16="http://schemas.microsoft.com/office/drawing/2014/main" id="{4D2C3A06-22CC-4530-A887-9EB236CB2D41}"/>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07</a:t>
            </a:r>
          </a:p>
        </p:txBody>
      </p:sp>
      <p:sp>
        <p:nvSpPr>
          <p:cNvPr id="8" name="text-108">
            <a:extLst xmlns:a="http://schemas.openxmlformats.org/drawingml/2006/main">
              <a:ext uri="{FF2B5EF4-FFF2-40B4-BE49-F238E27FC236}">
                <a16:creationId xmlns:a16="http://schemas.microsoft.com/office/drawing/2014/main" id="{D91EE6DF-FBC2-4904-88FA-65BC91B66CD5}"/>
              </a:ext>
            </a:extLst>
          </p:cNvPr>
          <p:cNvSpPr>
            <a:spLocks xmlns:a="http://schemas.openxmlformats.org/drawingml/2006/main" noGrp="1"/>
          </p:cNvSpPr>
          <p:nvPr/>
        </p:nvSpPr>
        <p:spPr>
          <a:xfrm xmlns:a="http://schemas.openxmlformats.org/drawingml/2006/main">
            <a:off x="571500" y="2362200"/>
            <a:ext cx="26193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0–24 days</a:t>
            </a:r>
          </a:p>
        </p:txBody>
      </p:sp>
      <p:sp>
        <p:nvSpPr>
          <p:cNvPr id="9" name="shape-109">
            <a:extLst xmlns:a="http://schemas.openxmlformats.org/drawingml/2006/main">
              <a:ext uri="{FF2B5EF4-FFF2-40B4-BE49-F238E27FC236}">
                <a16:creationId xmlns:a16="http://schemas.microsoft.com/office/drawing/2014/main" id="{FF117B01-29B5-47AE-9193-33AE5BD40671}"/>
              </a:ext>
            </a:extLst>
          </p:cNvPr>
          <p:cNvSpPr>
            <a:spLocks xmlns:a="http://schemas.openxmlformats.org/drawingml/2006/main" noGrp="1"/>
          </p:cNvSpPr>
          <p:nvPr/>
        </p:nvSpPr>
        <p:spPr>
          <a:xfrm xmlns:a="http://schemas.openxmlformats.org/drawingml/2006/main">
            <a:off x="3286125" y="2314575"/>
            <a:ext cx="3307288" cy="3429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0" name="text-110">
            <a:extLst xmlns:a="http://schemas.openxmlformats.org/drawingml/2006/main">
              <a:ext uri="{FF2B5EF4-FFF2-40B4-BE49-F238E27FC236}">
                <a16:creationId xmlns:a16="http://schemas.microsoft.com/office/drawing/2014/main" id="{64842D5D-DA72-4A3F-A882-1AAFC4926210}"/>
              </a:ext>
            </a:extLst>
          </p:cNvPr>
          <p:cNvSpPr>
            <a:spLocks xmlns:a="http://schemas.openxmlformats.org/drawingml/2006/main" noGrp="1"/>
          </p:cNvSpPr>
          <p:nvPr/>
        </p:nvSpPr>
        <p:spPr>
          <a:xfrm xmlns:a="http://schemas.openxmlformats.org/drawingml/2006/main">
            <a:off x="6707713" y="2352675"/>
            <a:ext cx="952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4682B4"/>
                </a:solidFill>
                <a:latin typeface="Arial"/>
                <a:ea typeface="Arial"/>
                <a:cs typeface="Arial"/>
              </a:defRPr>
            </a:pPr>
            <a:r>
              <a:rPr sz="1650" b="1">
                <a:solidFill>
                  <a:srgbClr val="4682B4"/>
                </a:solidFill>
                <a:latin typeface="Arial"/>
                <a:ea typeface="Arial"/>
                <a:cs typeface="Arial"/>
              </a:rPr>
              <a:t>26.5%</a:t>
            </a:r>
          </a:p>
        </p:txBody>
      </p:sp>
      <p:sp>
        <p:nvSpPr>
          <p:cNvPr id="11" name="text-111">
            <a:extLst xmlns:a="http://schemas.openxmlformats.org/drawingml/2006/main">
              <a:ext uri="{FF2B5EF4-FFF2-40B4-BE49-F238E27FC236}">
                <a16:creationId xmlns:a16="http://schemas.microsoft.com/office/drawing/2014/main" id="{AD650D27-2501-42C5-AC34-AA83F5104AC6}"/>
              </a:ext>
            </a:extLst>
          </p:cNvPr>
          <p:cNvSpPr>
            <a:spLocks xmlns:a="http://schemas.openxmlformats.org/drawingml/2006/main" noGrp="1"/>
          </p:cNvSpPr>
          <p:nvPr/>
        </p:nvSpPr>
        <p:spPr>
          <a:xfrm xmlns:a="http://schemas.openxmlformats.org/drawingml/2006/main">
            <a:off x="571500" y="3105150"/>
            <a:ext cx="26193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25–49 days</a:t>
            </a:r>
          </a:p>
        </p:txBody>
      </p:sp>
      <p:sp>
        <p:nvSpPr>
          <p:cNvPr id="12" name="shape-112">
            <a:extLst xmlns:a="http://schemas.openxmlformats.org/drawingml/2006/main">
              <a:ext uri="{FF2B5EF4-FFF2-40B4-BE49-F238E27FC236}">
                <a16:creationId xmlns:a16="http://schemas.microsoft.com/office/drawing/2014/main" id="{8BF51644-E780-468C-A153-1778DD605364}"/>
              </a:ext>
            </a:extLst>
          </p:cNvPr>
          <p:cNvSpPr>
            <a:spLocks xmlns:a="http://schemas.openxmlformats.org/drawingml/2006/main" noGrp="1"/>
          </p:cNvSpPr>
          <p:nvPr/>
        </p:nvSpPr>
        <p:spPr>
          <a:xfrm xmlns:a="http://schemas.openxmlformats.org/drawingml/2006/main">
            <a:off x="3286125" y="3057525"/>
            <a:ext cx="1779472" cy="3429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3" name="text-113">
            <a:extLst xmlns:a="http://schemas.openxmlformats.org/drawingml/2006/main">
              <a:ext uri="{FF2B5EF4-FFF2-40B4-BE49-F238E27FC236}">
                <a16:creationId xmlns:a16="http://schemas.microsoft.com/office/drawing/2014/main" id="{AA292659-9C2F-4BA4-A1DA-FEC91C546BFF}"/>
              </a:ext>
            </a:extLst>
          </p:cNvPr>
          <p:cNvSpPr>
            <a:spLocks xmlns:a="http://schemas.openxmlformats.org/drawingml/2006/main" noGrp="1"/>
          </p:cNvSpPr>
          <p:nvPr/>
        </p:nvSpPr>
        <p:spPr>
          <a:xfrm xmlns:a="http://schemas.openxmlformats.org/drawingml/2006/main">
            <a:off x="5179897" y="3095625"/>
            <a:ext cx="952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4682B4"/>
                </a:solidFill>
                <a:latin typeface="Arial"/>
                <a:ea typeface="Arial"/>
                <a:cs typeface="Arial"/>
              </a:defRPr>
            </a:pPr>
            <a:r>
              <a:rPr sz="1650" b="1">
                <a:solidFill>
                  <a:srgbClr val="4682B4"/>
                </a:solidFill>
                <a:latin typeface="Arial"/>
                <a:ea typeface="Arial"/>
                <a:cs typeface="Arial"/>
              </a:rPr>
              <a:t>14.2%</a:t>
            </a:r>
          </a:p>
        </p:txBody>
      </p:sp>
      <p:sp>
        <p:nvSpPr>
          <p:cNvPr id="14" name="text-114">
            <a:extLst xmlns:a="http://schemas.openxmlformats.org/drawingml/2006/main">
              <a:ext uri="{FF2B5EF4-FFF2-40B4-BE49-F238E27FC236}">
                <a16:creationId xmlns:a16="http://schemas.microsoft.com/office/drawing/2014/main" id="{24E1685B-06A4-4B30-AA95-88308A4573F8}"/>
              </a:ext>
            </a:extLst>
          </p:cNvPr>
          <p:cNvSpPr>
            <a:spLocks xmlns:a="http://schemas.openxmlformats.org/drawingml/2006/main" noGrp="1"/>
          </p:cNvSpPr>
          <p:nvPr/>
        </p:nvSpPr>
        <p:spPr>
          <a:xfrm xmlns:a="http://schemas.openxmlformats.org/drawingml/2006/main">
            <a:off x="571500" y="3848100"/>
            <a:ext cx="26193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50–74 days</a:t>
            </a:r>
          </a:p>
        </p:txBody>
      </p:sp>
      <p:sp>
        <p:nvSpPr>
          <p:cNvPr id="15" name="shape-115">
            <a:extLst xmlns:a="http://schemas.openxmlformats.org/drawingml/2006/main">
              <a:ext uri="{FF2B5EF4-FFF2-40B4-BE49-F238E27FC236}">
                <a16:creationId xmlns:a16="http://schemas.microsoft.com/office/drawing/2014/main" id="{D731B337-5F2B-466F-B667-9B96401AD8D0}"/>
              </a:ext>
            </a:extLst>
          </p:cNvPr>
          <p:cNvSpPr>
            <a:spLocks xmlns:a="http://schemas.openxmlformats.org/drawingml/2006/main" noGrp="1"/>
          </p:cNvSpPr>
          <p:nvPr/>
        </p:nvSpPr>
        <p:spPr>
          <a:xfrm xmlns:a="http://schemas.openxmlformats.org/drawingml/2006/main">
            <a:off x="3286125" y="3800475"/>
            <a:ext cx="1411176" cy="3429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6" name="text-116">
            <a:extLst xmlns:a="http://schemas.openxmlformats.org/drawingml/2006/main">
              <a:ext uri="{FF2B5EF4-FFF2-40B4-BE49-F238E27FC236}">
                <a16:creationId xmlns:a16="http://schemas.microsoft.com/office/drawing/2014/main" id="{4169DE58-A0DD-4484-AD0C-6F6A344A1215}"/>
              </a:ext>
            </a:extLst>
          </p:cNvPr>
          <p:cNvSpPr>
            <a:spLocks xmlns:a="http://schemas.openxmlformats.org/drawingml/2006/main" noGrp="1"/>
          </p:cNvSpPr>
          <p:nvPr/>
        </p:nvSpPr>
        <p:spPr>
          <a:xfrm xmlns:a="http://schemas.openxmlformats.org/drawingml/2006/main">
            <a:off x="4811601" y="3838575"/>
            <a:ext cx="952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4682B4"/>
                </a:solidFill>
                <a:latin typeface="Arial"/>
                <a:ea typeface="Arial"/>
                <a:cs typeface="Arial"/>
              </a:defRPr>
            </a:pPr>
            <a:r>
              <a:rPr sz="1650" b="1">
                <a:solidFill>
                  <a:srgbClr val="4682B4"/>
                </a:solidFill>
                <a:latin typeface="Arial"/>
                <a:ea typeface="Arial"/>
                <a:cs typeface="Arial"/>
              </a:rPr>
              <a:t>11.3%</a:t>
            </a:r>
          </a:p>
        </p:txBody>
      </p:sp>
      <p:sp>
        <p:nvSpPr>
          <p:cNvPr id="17" name="text-117">
            <a:extLst xmlns:a="http://schemas.openxmlformats.org/drawingml/2006/main">
              <a:ext uri="{FF2B5EF4-FFF2-40B4-BE49-F238E27FC236}">
                <a16:creationId xmlns:a16="http://schemas.microsoft.com/office/drawing/2014/main" id="{ADDF090D-86CB-434C-A836-D9FC11667B8D}"/>
              </a:ext>
            </a:extLst>
          </p:cNvPr>
          <p:cNvSpPr>
            <a:spLocks xmlns:a="http://schemas.openxmlformats.org/drawingml/2006/main" noGrp="1"/>
          </p:cNvSpPr>
          <p:nvPr/>
        </p:nvSpPr>
        <p:spPr>
          <a:xfrm xmlns:a="http://schemas.openxmlformats.org/drawingml/2006/main">
            <a:off x="571500" y="4591050"/>
            <a:ext cx="26193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75–99 days</a:t>
            </a:r>
          </a:p>
        </p:txBody>
      </p:sp>
      <p:sp>
        <p:nvSpPr>
          <p:cNvPr id="18" name="shape-118">
            <a:extLst xmlns:a="http://schemas.openxmlformats.org/drawingml/2006/main">
              <a:ext uri="{FF2B5EF4-FFF2-40B4-BE49-F238E27FC236}">
                <a16:creationId xmlns:a16="http://schemas.microsoft.com/office/drawing/2014/main" id="{209EA526-C82F-418B-9C3D-A7EFC5278818}"/>
              </a:ext>
            </a:extLst>
          </p:cNvPr>
          <p:cNvSpPr>
            <a:spLocks xmlns:a="http://schemas.openxmlformats.org/drawingml/2006/main" noGrp="1"/>
          </p:cNvSpPr>
          <p:nvPr/>
        </p:nvSpPr>
        <p:spPr>
          <a:xfrm xmlns:a="http://schemas.openxmlformats.org/drawingml/2006/main">
            <a:off x="3286125" y="4543425"/>
            <a:ext cx="930241" cy="3429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9" name="text-119">
            <a:extLst xmlns:a="http://schemas.openxmlformats.org/drawingml/2006/main">
              <a:ext uri="{FF2B5EF4-FFF2-40B4-BE49-F238E27FC236}">
                <a16:creationId xmlns:a16="http://schemas.microsoft.com/office/drawing/2014/main" id="{98A0C2B3-93B5-436C-9A78-FF7F19ABF4AF}"/>
              </a:ext>
            </a:extLst>
          </p:cNvPr>
          <p:cNvSpPr>
            <a:spLocks xmlns:a="http://schemas.openxmlformats.org/drawingml/2006/main" noGrp="1"/>
          </p:cNvSpPr>
          <p:nvPr/>
        </p:nvSpPr>
        <p:spPr>
          <a:xfrm xmlns:a="http://schemas.openxmlformats.org/drawingml/2006/main">
            <a:off x="4330666" y="4581525"/>
            <a:ext cx="952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4682B4"/>
                </a:solidFill>
                <a:latin typeface="Arial"/>
                <a:ea typeface="Arial"/>
                <a:cs typeface="Arial"/>
              </a:defRPr>
            </a:pPr>
            <a:r>
              <a:rPr sz="1650" b="1">
                <a:solidFill>
                  <a:srgbClr val="4682B4"/>
                </a:solidFill>
                <a:latin typeface="Arial"/>
                <a:ea typeface="Arial"/>
                <a:cs typeface="Arial"/>
              </a:rPr>
              <a:t>7.4%</a:t>
            </a:r>
          </a:p>
        </p:txBody>
      </p:sp>
      <p:sp>
        <p:nvSpPr>
          <p:cNvPr id="20" name="text-120">
            <a:extLst xmlns:a="http://schemas.openxmlformats.org/drawingml/2006/main">
              <a:ext uri="{FF2B5EF4-FFF2-40B4-BE49-F238E27FC236}">
                <a16:creationId xmlns:a16="http://schemas.microsoft.com/office/drawing/2014/main" id="{8A2E0264-9818-4FE7-8116-746F83F3FC7E}"/>
              </a:ext>
            </a:extLst>
          </p:cNvPr>
          <p:cNvSpPr>
            <a:spLocks xmlns:a="http://schemas.openxmlformats.org/drawingml/2006/main" noGrp="1"/>
          </p:cNvSpPr>
          <p:nvPr/>
        </p:nvSpPr>
        <p:spPr>
          <a:xfrm xmlns:a="http://schemas.openxmlformats.org/drawingml/2006/main">
            <a:off x="3286125" y="5334000"/>
            <a:ext cx="4429125" cy="333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596C7D"/>
                </a:solidFill>
                <a:latin typeface="Arial"/>
                <a:ea typeface="Arial"/>
                <a:cs typeface="Arial"/>
              </a:defRPr>
            </a:pPr>
            <a:r>
              <a:rPr sz="1425" b="0">
                <a:solidFill>
                  <a:srgbClr val="596C7D"/>
                </a:solidFill>
                <a:latin typeface="Arial"/>
                <a:ea typeface="Arial"/>
                <a:cs typeface="Arial"/>
              </a:rPr>
              <a:t>Historical response rate (%)</a:t>
            </a:r>
          </a:p>
        </p:txBody>
      </p:sp>
      <p:sp>
        <p:nvSpPr>
          <p:cNvPr id="21" name="shape-121">
            <a:extLst xmlns:a="http://schemas.openxmlformats.org/drawingml/2006/main">
              <a:ext uri="{FF2B5EF4-FFF2-40B4-BE49-F238E27FC236}">
                <a16:creationId xmlns:a16="http://schemas.microsoft.com/office/drawing/2014/main" id="{D11FFFDB-ACA0-433C-BA73-9774581BC25F}"/>
              </a:ext>
            </a:extLst>
          </p:cNvPr>
          <p:cNvSpPr>
            <a:spLocks xmlns:a="http://schemas.openxmlformats.org/drawingml/2006/main" noGrp="1"/>
          </p:cNvSpPr>
          <p:nvPr/>
        </p:nvSpPr>
        <p:spPr>
          <a:xfrm xmlns:a="http://schemas.openxmlformats.org/drawingml/2006/main">
            <a:off x="8410575" y="2209800"/>
            <a:ext cx="9525" cy="3333750"/>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2" name="text-122">
            <a:extLst xmlns:a="http://schemas.openxmlformats.org/drawingml/2006/main">
              <a:ext uri="{FF2B5EF4-FFF2-40B4-BE49-F238E27FC236}">
                <a16:creationId xmlns:a16="http://schemas.microsoft.com/office/drawing/2014/main" id="{A033731E-8599-4243-80B3-7D9FA792F3A9}"/>
              </a:ext>
            </a:extLst>
          </p:cNvPr>
          <p:cNvSpPr>
            <a:spLocks xmlns:a="http://schemas.openxmlformats.org/drawingml/2006/main" noGrp="1"/>
          </p:cNvSpPr>
          <p:nvPr/>
        </p:nvSpPr>
        <p:spPr>
          <a:xfrm xmlns:a="http://schemas.openxmlformats.org/drawingml/2006/main">
            <a:off x="8848725" y="2276475"/>
            <a:ext cx="276225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3.6×</a:t>
            </a:r>
          </a:p>
        </p:txBody>
      </p:sp>
      <p:sp>
        <p:nvSpPr>
          <p:cNvPr id="23" name="text-123">
            <a:extLst xmlns:a="http://schemas.openxmlformats.org/drawingml/2006/main">
              <a:ext uri="{FF2B5EF4-FFF2-40B4-BE49-F238E27FC236}">
                <a16:creationId xmlns:a16="http://schemas.microsoft.com/office/drawing/2014/main" id="{6B08E17A-122E-4DE7-944A-75246ECB596D}"/>
              </a:ext>
            </a:extLst>
          </p:cNvPr>
          <p:cNvSpPr>
            <a:spLocks xmlns:a="http://schemas.openxmlformats.org/drawingml/2006/main" noGrp="1"/>
          </p:cNvSpPr>
          <p:nvPr/>
        </p:nvSpPr>
        <p:spPr>
          <a:xfrm xmlns:a="http://schemas.openxmlformats.org/drawingml/2006/main">
            <a:off x="8848725" y="3152775"/>
            <a:ext cx="276225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response rate in the most-recent versus least-recent quartile</a:t>
            </a:r>
          </a:p>
        </p:txBody>
      </p:sp>
      <p:sp>
        <p:nvSpPr>
          <p:cNvPr id="24" name="text-124">
            <a:extLst xmlns:a="http://schemas.openxmlformats.org/drawingml/2006/main">
              <a:ext uri="{FF2B5EF4-FFF2-40B4-BE49-F238E27FC236}">
                <a16:creationId xmlns:a16="http://schemas.microsoft.com/office/drawing/2014/main" id="{F819A47D-D3E3-43FB-A8FE-3B84EF64410A}"/>
              </a:ext>
            </a:extLst>
          </p:cNvPr>
          <p:cNvSpPr>
            <a:spLocks xmlns:a="http://schemas.openxmlformats.org/drawingml/2006/main" noGrp="1"/>
          </p:cNvSpPr>
          <p:nvPr/>
        </p:nvSpPr>
        <p:spPr>
          <a:xfrm xmlns:a="http://schemas.openxmlformats.org/drawingml/2006/main">
            <a:off x="8848725" y="4524375"/>
            <a:ext cx="2762250" cy="13239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An association worth testing in a model. It does not show that recency causes acceptance.</a:t>
            </a:r>
          </a:p>
        </p:txBody>
      </p:sp>
    </p:spTree>
    <p:extLst>
      <p:ext uri="{BB962C8B-B14F-4D97-AF65-F5344CB8AC3E}">
        <p14:creationId xmlns:p14="http://schemas.microsoft.com/office/powerpoint/2010/main" val="19752790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6008A025-00FA-40D1-BB69-BE6C67B0E6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BFBA0338-ADBA-4D0F-B3E0-6923C502553F}"/>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4DEEBBE0-4E93-4F0F-AEE0-F2203833291E}"/>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EDA / CUSTOMER VALUE</a:t>
            </a:r>
          </a:p>
        </p:txBody>
      </p:sp>
      <p:sp>
        <p:nvSpPr>
          <p:cNvPr id="4" name="text-125">
            <a:extLst xmlns:a="http://schemas.openxmlformats.org/drawingml/2006/main">
              <a:ext uri="{FF2B5EF4-FFF2-40B4-BE49-F238E27FC236}">
                <a16:creationId xmlns:a16="http://schemas.microsoft.com/office/drawing/2014/main" id="{828D98F4-D39F-49B8-8BA9-7B774850C6DC}"/>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Historical spend and catalog activity carry useful signal</a:t>
            </a:r>
          </a:p>
        </p:txBody>
      </p:sp>
      <p:sp>
        <p:nvSpPr>
          <p:cNvPr id="5" name="shape-126">
            <a:extLst xmlns:a="http://schemas.openxmlformats.org/drawingml/2006/main">
              <a:ext uri="{FF2B5EF4-FFF2-40B4-BE49-F238E27FC236}">
                <a16:creationId xmlns:a16="http://schemas.microsoft.com/office/drawing/2014/main" id="{33E14465-3A3D-412D-9BEE-0E7AF5FA467F}"/>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127">
            <a:extLst xmlns:a="http://schemas.openxmlformats.org/drawingml/2006/main">
              <a:ext uri="{FF2B5EF4-FFF2-40B4-BE49-F238E27FC236}">
                <a16:creationId xmlns:a16="http://schemas.microsoft.com/office/drawing/2014/main" id="{338EDFAB-B24E-4FA5-A105-79771EA634DD}"/>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§3 | Spearman correlations, raw data</a:t>
            </a:r>
          </a:p>
        </p:txBody>
      </p:sp>
      <p:sp>
        <p:nvSpPr>
          <p:cNvPr id="7" name="text-128">
            <a:extLst xmlns:a="http://schemas.openxmlformats.org/drawingml/2006/main">
              <a:ext uri="{FF2B5EF4-FFF2-40B4-BE49-F238E27FC236}">
                <a16:creationId xmlns:a16="http://schemas.microsoft.com/office/drawing/2014/main" id="{AC99614E-0FBA-4BB9-A054-9C704241781F}"/>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08</a:t>
            </a:r>
          </a:p>
        </p:txBody>
      </p:sp>
      <p:sp>
        <p:nvSpPr>
          <p:cNvPr id="8" name="text-129">
            <a:extLst xmlns:a="http://schemas.openxmlformats.org/drawingml/2006/main">
              <a:ext uri="{FF2B5EF4-FFF2-40B4-BE49-F238E27FC236}">
                <a16:creationId xmlns:a16="http://schemas.microsoft.com/office/drawing/2014/main" id="{DF9876A4-DF39-4C9F-B1E2-96E182749EB5}"/>
              </a:ext>
            </a:extLst>
          </p:cNvPr>
          <p:cNvSpPr>
            <a:spLocks xmlns:a="http://schemas.openxmlformats.org/drawingml/2006/main" noGrp="1"/>
          </p:cNvSpPr>
          <p:nvPr/>
        </p:nvSpPr>
        <p:spPr>
          <a:xfrm xmlns:a="http://schemas.openxmlformats.org/drawingml/2006/main">
            <a:off x="571500" y="2362200"/>
            <a:ext cx="26193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Total spend</a:t>
            </a:r>
          </a:p>
        </p:txBody>
      </p:sp>
      <p:sp>
        <p:nvSpPr>
          <p:cNvPr id="9" name="shape-130">
            <a:extLst xmlns:a="http://schemas.openxmlformats.org/drawingml/2006/main">
              <a:ext uri="{FF2B5EF4-FFF2-40B4-BE49-F238E27FC236}">
                <a16:creationId xmlns:a16="http://schemas.microsoft.com/office/drawing/2014/main" id="{38567791-3337-4FC0-BAC2-2D826469892F}"/>
              </a:ext>
            </a:extLst>
          </p:cNvPr>
          <p:cNvSpPr>
            <a:spLocks xmlns:a="http://schemas.openxmlformats.org/drawingml/2006/main" noGrp="1"/>
          </p:cNvSpPr>
          <p:nvPr/>
        </p:nvSpPr>
        <p:spPr>
          <a:xfrm xmlns:a="http://schemas.openxmlformats.org/drawingml/2006/main">
            <a:off x="3286125" y="2314575"/>
            <a:ext cx="3414712" cy="3429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0" name="text-131">
            <a:extLst xmlns:a="http://schemas.openxmlformats.org/drawingml/2006/main">
              <a:ext uri="{FF2B5EF4-FFF2-40B4-BE49-F238E27FC236}">
                <a16:creationId xmlns:a16="http://schemas.microsoft.com/office/drawing/2014/main" id="{F0E5D662-5FE5-40DE-A0DE-191172887473}"/>
              </a:ext>
            </a:extLst>
          </p:cNvPr>
          <p:cNvSpPr>
            <a:spLocks xmlns:a="http://schemas.openxmlformats.org/drawingml/2006/main" noGrp="1"/>
          </p:cNvSpPr>
          <p:nvPr/>
        </p:nvSpPr>
        <p:spPr>
          <a:xfrm xmlns:a="http://schemas.openxmlformats.org/drawingml/2006/main">
            <a:off x="6815138" y="2352675"/>
            <a:ext cx="952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4682B4"/>
                </a:solidFill>
                <a:latin typeface="Arial"/>
                <a:ea typeface="Arial"/>
                <a:cs typeface="Arial"/>
              </a:defRPr>
            </a:pPr>
            <a:r>
              <a:rPr sz="1650" b="1">
                <a:solidFill>
                  <a:srgbClr val="4682B4"/>
                </a:solidFill>
                <a:latin typeface="Arial"/>
                <a:ea typeface="Arial"/>
                <a:cs typeface="Arial"/>
              </a:rPr>
              <a:t>0.239</a:t>
            </a:r>
          </a:p>
        </p:txBody>
      </p:sp>
      <p:sp>
        <p:nvSpPr>
          <p:cNvPr id="11" name="text-132">
            <a:extLst xmlns:a="http://schemas.openxmlformats.org/drawingml/2006/main">
              <a:ext uri="{FF2B5EF4-FFF2-40B4-BE49-F238E27FC236}">
                <a16:creationId xmlns:a16="http://schemas.microsoft.com/office/drawing/2014/main" id="{551518DD-806C-414F-BAA7-1264AE556649}"/>
              </a:ext>
            </a:extLst>
          </p:cNvPr>
          <p:cNvSpPr>
            <a:spLocks xmlns:a="http://schemas.openxmlformats.org/drawingml/2006/main" noGrp="1"/>
          </p:cNvSpPr>
          <p:nvPr/>
        </p:nvSpPr>
        <p:spPr>
          <a:xfrm xmlns:a="http://schemas.openxmlformats.org/drawingml/2006/main">
            <a:off x="571500" y="2962275"/>
            <a:ext cx="26193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Catalog purchases</a:t>
            </a:r>
          </a:p>
        </p:txBody>
      </p:sp>
      <p:sp>
        <p:nvSpPr>
          <p:cNvPr id="12" name="shape-133">
            <a:extLst xmlns:a="http://schemas.openxmlformats.org/drawingml/2006/main">
              <a:ext uri="{FF2B5EF4-FFF2-40B4-BE49-F238E27FC236}">
                <a16:creationId xmlns:a16="http://schemas.microsoft.com/office/drawing/2014/main" id="{E4BD45DD-ACC7-4031-9350-F2892B63585E}"/>
              </a:ext>
            </a:extLst>
          </p:cNvPr>
          <p:cNvSpPr>
            <a:spLocks xmlns:a="http://schemas.openxmlformats.org/drawingml/2006/main" noGrp="1"/>
          </p:cNvSpPr>
          <p:nvPr/>
        </p:nvSpPr>
        <p:spPr>
          <a:xfrm xmlns:a="http://schemas.openxmlformats.org/drawingml/2006/main">
            <a:off x="3286125" y="2914650"/>
            <a:ext cx="3328987" cy="3429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3" name="text-134">
            <a:extLst xmlns:a="http://schemas.openxmlformats.org/drawingml/2006/main">
              <a:ext uri="{FF2B5EF4-FFF2-40B4-BE49-F238E27FC236}">
                <a16:creationId xmlns:a16="http://schemas.microsoft.com/office/drawing/2014/main" id="{E47B38A1-94AC-4797-84DC-C16DEF45CD31}"/>
              </a:ext>
            </a:extLst>
          </p:cNvPr>
          <p:cNvSpPr>
            <a:spLocks xmlns:a="http://schemas.openxmlformats.org/drawingml/2006/main" noGrp="1"/>
          </p:cNvSpPr>
          <p:nvPr/>
        </p:nvSpPr>
        <p:spPr>
          <a:xfrm xmlns:a="http://schemas.openxmlformats.org/drawingml/2006/main">
            <a:off x="6729413" y="2952750"/>
            <a:ext cx="952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4682B4"/>
                </a:solidFill>
                <a:latin typeface="Arial"/>
                <a:ea typeface="Arial"/>
                <a:cs typeface="Arial"/>
              </a:defRPr>
            </a:pPr>
            <a:r>
              <a:rPr sz="1650" b="1">
                <a:solidFill>
                  <a:srgbClr val="4682B4"/>
                </a:solidFill>
                <a:latin typeface="Arial"/>
                <a:ea typeface="Arial"/>
                <a:cs typeface="Arial"/>
              </a:rPr>
              <a:t>0.233</a:t>
            </a:r>
          </a:p>
        </p:txBody>
      </p:sp>
      <p:sp>
        <p:nvSpPr>
          <p:cNvPr id="14" name="text-135">
            <a:extLst xmlns:a="http://schemas.openxmlformats.org/drawingml/2006/main">
              <a:ext uri="{FF2B5EF4-FFF2-40B4-BE49-F238E27FC236}">
                <a16:creationId xmlns:a16="http://schemas.microsoft.com/office/drawing/2014/main" id="{4AB29D55-1E6E-4CAA-915F-1F3B783CC05F}"/>
              </a:ext>
            </a:extLst>
          </p:cNvPr>
          <p:cNvSpPr>
            <a:spLocks xmlns:a="http://schemas.openxmlformats.org/drawingml/2006/main" noGrp="1"/>
          </p:cNvSpPr>
          <p:nvPr/>
        </p:nvSpPr>
        <p:spPr>
          <a:xfrm xmlns:a="http://schemas.openxmlformats.org/drawingml/2006/main">
            <a:off x="571500" y="3562350"/>
            <a:ext cx="26193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Meat spend</a:t>
            </a:r>
          </a:p>
        </p:txBody>
      </p:sp>
      <p:sp>
        <p:nvSpPr>
          <p:cNvPr id="15" name="shape-136">
            <a:extLst xmlns:a="http://schemas.openxmlformats.org/drawingml/2006/main">
              <a:ext uri="{FF2B5EF4-FFF2-40B4-BE49-F238E27FC236}">
                <a16:creationId xmlns:a16="http://schemas.microsoft.com/office/drawing/2014/main" id="{1C1D7A5E-8CBA-425A-BD9B-11F2E2973ECD}"/>
              </a:ext>
            </a:extLst>
          </p:cNvPr>
          <p:cNvSpPr>
            <a:spLocks xmlns:a="http://schemas.openxmlformats.org/drawingml/2006/main" noGrp="1"/>
          </p:cNvSpPr>
          <p:nvPr/>
        </p:nvSpPr>
        <p:spPr>
          <a:xfrm xmlns:a="http://schemas.openxmlformats.org/drawingml/2006/main">
            <a:off x="3286125" y="3514725"/>
            <a:ext cx="3186112" cy="3429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6" name="text-137">
            <a:extLst xmlns:a="http://schemas.openxmlformats.org/drawingml/2006/main">
              <a:ext uri="{FF2B5EF4-FFF2-40B4-BE49-F238E27FC236}">
                <a16:creationId xmlns:a16="http://schemas.microsoft.com/office/drawing/2014/main" id="{6FCAC823-4AAB-4E5F-99EC-F555A415EE66}"/>
              </a:ext>
            </a:extLst>
          </p:cNvPr>
          <p:cNvSpPr>
            <a:spLocks xmlns:a="http://schemas.openxmlformats.org/drawingml/2006/main" noGrp="1"/>
          </p:cNvSpPr>
          <p:nvPr/>
        </p:nvSpPr>
        <p:spPr>
          <a:xfrm xmlns:a="http://schemas.openxmlformats.org/drawingml/2006/main">
            <a:off x="6586538" y="3552825"/>
            <a:ext cx="952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4682B4"/>
                </a:solidFill>
                <a:latin typeface="Arial"/>
                <a:ea typeface="Arial"/>
                <a:cs typeface="Arial"/>
              </a:defRPr>
            </a:pPr>
            <a:r>
              <a:rPr sz="1650" b="1">
                <a:solidFill>
                  <a:srgbClr val="4682B4"/>
                </a:solidFill>
                <a:latin typeface="Arial"/>
                <a:ea typeface="Arial"/>
                <a:cs typeface="Arial"/>
              </a:rPr>
              <a:t>0.223</a:t>
            </a:r>
          </a:p>
        </p:txBody>
      </p:sp>
      <p:sp>
        <p:nvSpPr>
          <p:cNvPr id="17" name="text-138">
            <a:extLst xmlns:a="http://schemas.openxmlformats.org/drawingml/2006/main">
              <a:ext uri="{FF2B5EF4-FFF2-40B4-BE49-F238E27FC236}">
                <a16:creationId xmlns:a16="http://schemas.microsoft.com/office/drawing/2014/main" id="{A4508BA1-DACE-4A6C-BF7E-E79038621FC0}"/>
              </a:ext>
            </a:extLst>
          </p:cNvPr>
          <p:cNvSpPr>
            <a:spLocks xmlns:a="http://schemas.openxmlformats.org/drawingml/2006/main" noGrp="1"/>
          </p:cNvSpPr>
          <p:nvPr/>
        </p:nvSpPr>
        <p:spPr>
          <a:xfrm xmlns:a="http://schemas.openxmlformats.org/drawingml/2006/main">
            <a:off x="571500" y="4162425"/>
            <a:ext cx="26193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Wine spend</a:t>
            </a:r>
          </a:p>
        </p:txBody>
      </p:sp>
      <p:sp>
        <p:nvSpPr>
          <p:cNvPr id="18" name="shape-139">
            <a:extLst xmlns:a="http://schemas.openxmlformats.org/drawingml/2006/main">
              <a:ext uri="{FF2B5EF4-FFF2-40B4-BE49-F238E27FC236}">
                <a16:creationId xmlns:a16="http://schemas.microsoft.com/office/drawing/2014/main" id="{D58612D5-4023-4563-8FD7-01878CC11639}"/>
              </a:ext>
            </a:extLst>
          </p:cNvPr>
          <p:cNvSpPr>
            <a:spLocks xmlns:a="http://schemas.openxmlformats.org/drawingml/2006/main" noGrp="1"/>
          </p:cNvSpPr>
          <p:nvPr/>
        </p:nvSpPr>
        <p:spPr>
          <a:xfrm xmlns:a="http://schemas.openxmlformats.org/drawingml/2006/main">
            <a:off x="3286125" y="4114800"/>
            <a:ext cx="2843212" cy="3429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9" name="text-140">
            <a:extLst xmlns:a="http://schemas.openxmlformats.org/drawingml/2006/main">
              <a:ext uri="{FF2B5EF4-FFF2-40B4-BE49-F238E27FC236}">
                <a16:creationId xmlns:a16="http://schemas.microsoft.com/office/drawing/2014/main" id="{86510BF4-05E8-4F0D-81AA-2B41B112F416}"/>
              </a:ext>
            </a:extLst>
          </p:cNvPr>
          <p:cNvSpPr>
            <a:spLocks xmlns:a="http://schemas.openxmlformats.org/drawingml/2006/main" noGrp="1"/>
          </p:cNvSpPr>
          <p:nvPr/>
        </p:nvSpPr>
        <p:spPr>
          <a:xfrm xmlns:a="http://schemas.openxmlformats.org/drawingml/2006/main">
            <a:off x="6243638" y="4152900"/>
            <a:ext cx="952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4682B4"/>
                </a:solidFill>
                <a:latin typeface="Arial"/>
                <a:ea typeface="Arial"/>
                <a:cs typeface="Arial"/>
              </a:defRPr>
            </a:pPr>
            <a:r>
              <a:rPr sz="1650" b="1">
                <a:solidFill>
                  <a:srgbClr val="4682B4"/>
                </a:solidFill>
                <a:latin typeface="Arial"/>
                <a:ea typeface="Arial"/>
                <a:cs typeface="Arial"/>
              </a:rPr>
              <a:t>0.199</a:t>
            </a:r>
          </a:p>
        </p:txBody>
      </p:sp>
      <p:sp>
        <p:nvSpPr>
          <p:cNvPr id="20" name="text-141">
            <a:extLst xmlns:a="http://schemas.openxmlformats.org/drawingml/2006/main">
              <a:ext uri="{FF2B5EF4-FFF2-40B4-BE49-F238E27FC236}">
                <a16:creationId xmlns:a16="http://schemas.microsoft.com/office/drawing/2014/main" id="{209844FD-2E73-49F0-BBD9-94560E28F703}"/>
              </a:ext>
            </a:extLst>
          </p:cNvPr>
          <p:cNvSpPr>
            <a:spLocks xmlns:a="http://schemas.openxmlformats.org/drawingml/2006/main" noGrp="1"/>
          </p:cNvSpPr>
          <p:nvPr/>
        </p:nvSpPr>
        <p:spPr>
          <a:xfrm xmlns:a="http://schemas.openxmlformats.org/drawingml/2006/main">
            <a:off x="571500" y="4762500"/>
            <a:ext cx="26193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Income</a:t>
            </a:r>
          </a:p>
        </p:txBody>
      </p:sp>
      <p:sp>
        <p:nvSpPr>
          <p:cNvPr id="21" name="shape-142">
            <a:extLst xmlns:a="http://schemas.openxmlformats.org/drawingml/2006/main">
              <a:ext uri="{FF2B5EF4-FFF2-40B4-BE49-F238E27FC236}">
                <a16:creationId xmlns:a16="http://schemas.microsoft.com/office/drawing/2014/main" id="{774B1FB6-2F7D-471E-8E5E-3A82D00A7AC1}"/>
              </a:ext>
            </a:extLst>
          </p:cNvPr>
          <p:cNvSpPr>
            <a:spLocks xmlns:a="http://schemas.openxmlformats.org/drawingml/2006/main" noGrp="1"/>
          </p:cNvSpPr>
          <p:nvPr/>
        </p:nvSpPr>
        <p:spPr>
          <a:xfrm xmlns:a="http://schemas.openxmlformats.org/drawingml/2006/main">
            <a:off x="3286125" y="4714875"/>
            <a:ext cx="2300288" cy="3429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22" name="text-143">
            <a:extLst xmlns:a="http://schemas.openxmlformats.org/drawingml/2006/main">
              <a:ext uri="{FF2B5EF4-FFF2-40B4-BE49-F238E27FC236}">
                <a16:creationId xmlns:a16="http://schemas.microsoft.com/office/drawing/2014/main" id="{E95FAC48-CE7C-44EA-85CF-4935206B0733}"/>
              </a:ext>
            </a:extLst>
          </p:cNvPr>
          <p:cNvSpPr>
            <a:spLocks xmlns:a="http://schemas.openxmlformats.org/drawingml/2006/main" noGrp="1"/>
          </p:cNvSpPr>
          <p:nvPr/>
        </p:nvSpPr>
        <p:spPr>
          <a:xfrm xmlns:a="http://schemas.openxmlformats.org/drawingml/2006/main">
            <a:off x="5700713" y="4752975"/>
            <a:ext cx="952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4682B4"/>
                </a:solidFill>
                <a:latin typeface="Arial"/>
                <a:ea typeface="Arial"/>
                <a:cs typeface="Arial"/>
              </a:defRPr>
            </a:pPr>
            <a:r>
              <a:rPr sz="1650" b="1">
                <a:solidFill>
                  <a:srgbClr val="4682B4"/>
                </a:solidFill>
                <a:latin typeface="Arial"/>
                <a:ea typeface="Arial"/>
                <a:cs typeface="Arial"/>
              </a:rPr>
              <a:t>0.161</a:t>
            </a:r>
          </a:p>
        </p:txBody>
      </p:sp>
      <p:sp>
        <p:nvSpPr>
          <p:cNvPr id="23" name="text-144">
            <a:extLst xmlns:a="http://schemas.openxmlformats.org/drawingml/2006/main">
              <a:ext uri="{FF2B5EF4-FFF2-40B4-BE49-F238E27FC236}">
                <a16:creationId xmlns:a16="http://schemas.microsoft.com/office/drawing/2014/main" id="{528DCFB9-BA9F-4CC1-AADC-C4399573A533}"/>
              </a:ext>
            </a:extLst>
          </p:cNvPr>
          <p:cNvSpPr>
            <a:spLocks xmlns:a="http://schemas.openxmlformats.org/drawingml/2006/main" noGrp="1"/>
          </p:cNvSpPr>
          <p:nvPr/>
        </p:nvSpPr>
        <p:spPr>
          <a:xfrm xmlns:a="http://schemas.openxmlformats.org/drawingml/2006/main">
            <a:off x="3286125" y="5362575"/>
            <a:ext cx="4429125" cy="333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596C7D"/>
                </a:solidFill>
                <a:latin typeface="Arial"/>
                <a:ea typeface="Arial"/>
                <a:cs typeface="Arial"/>
              </a:defRPr>
            </a:pPr>
            <a:r>
              <a:rPr sz="1425" b="0">
                <a:solidFill>
                  <a:srgbClr val="596C7D"/>
                </a:solidFill>
                <a:latin typeface="Arial"/>
                <a:ea typeface="Arial"/>
                <a:cs typeface="Arial"/>
              </a:rPr>
              <a:t>Spearman correlation with Response</a:t>
            </a:r>
          </a:p>
        </p:txBody>
      </p:sp>
      <p:sp>
        <p:nvSpPr>
          <p:cNvPr id="24" name="shape-145">
            <a:extLst xmlns:a="http://schemas.openxmlformats.org/drawingml/2006/main">
              <a:ext uri="{FF2B5EF4-FFF2-40B4-BE49-F238E27FC236}">
                <a16:creationId xmlns:a16="http://schemas.microsoft.com/office/drawing/2014/main" id="{9B6F11DA-478A-4636-86AB-387445A18DB8}"/>
              </a:ext>
            </a:extLst>
          </p:cNvPr>
          <p:cNvSpPr>
            <a:spLocks xmlns:a="http://schemas.openxmlformats.org/drawingml/2006/main" noGrp="1"/>
          </p:cNvSpPr>
          <p:nvPr/>
        </p:nvSpPr>
        <p:spPr>
          <a:xfrm xmlns:a="http://schemas.openxmlformats.org/drawingml/2006/main">
            <a:off x="8410575" y="2209800"/>
            <a:ext cx="9525" cy="3333750"/>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5" name="text-146">
            <a:extLst xmlns:a="http://schemas.openxmlformats.org/drawingml/2006/main">
              <a:ext uri="{FF2B5EF4-FFF2-40B4-BE49-F238E27FC236}">
                <a16:creationId xmlns:a16="http://schemas.microsoft.com/office/drawing/2014/main" id="{5BEC5217-2634-46ED-B65F-5E9501B1ECD6}"/>
              </a:ext>
            </a:extLst>
          </p:cNvPr>
          <p:cNvSpPr>
            <a:spLocks xmlns:a="http://schemas.openxmlformats.org/drawingml/2006/main" noGrp="1"/>
          </p:cNvSpPr>
          <p:nvPr/>
        </p:nvSpPr>
        <p:spPr>
          <a:xfrm xmlns:a="http://schemas.openxmlformats.org/drawingml/2006/main">
            <a:off x="8848725" y="2276475"/>
            <a:ext cx="276225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+0.24</a:t>
            </a:r>
          </a:p>
        </p:txBody>
      </p:sp>
      <p:sp>
        <p:nvSpPr>
          <p:cNvPr id="26" name="text-147">
            <a:extLst xmlns:a="http://schemas.openxmlformats.org/drawingml/2006/main">
              <a:ext uri="{FF2B5EF4-FFF2-40B4-BE49-F238E27FC236}">
                <a16:creationId xmlns:a16="http://schemas.microsoft.com/office/drawing/2014/main" id="{FBB8C66C-1B0A-4F50-8322-9395A4A48521}"/>
              </a:ext>
            </a:extLst>
          </p:cNvPr>
          <p:cNvSpPr>
            <a:spLocks xmlns:a="http://schemas.openxmlformats.org/drawingml/2006/main" noGrp="1"/>
          </p:cNvSpPr>
          <p:nvPr/>
        </p:nvSpPr>
        <p:spPr>
          <a:xfrm xmlns:a="http://schemas.openxmlformats.org/drawingml/2006/main">
            <a:off x="8848725" y="3152775"/>
            <a:ext cx="276225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Spearman correlation between total spend and response</a:t>
            </a:r>
          </a:p>
        </p:txBody>
      </p:sp>
      <p:sp>
        <p:nvSpPr>
          <p:cNvPr id="27" name="text-148">
            <a:extLst xmlns:a="http://schemas.openxmlformats.org/drawingml/2006/main">
              <a:ext uri="{FF2B5EF4-FFF2-40B4-BE49-F238E27FC236}">
                <a16:creationId xmlns:a16="http://schemas.microsoft.com/office/drawing/2014/main" id="{C083A46B-6F70-4F0D-9306-1F2E9BF77CD5}"/>
              </a:ext>
            </a:extLst>
          </p:cNvPr>
          <p:cNvSpPr>
            <a:spLocks xmlns:a="http://schemas.openxmlformats.org/drawingml/2006/main" noGrp="1"/>
          </p:cNvSpPr>
          <p:nvPr/>
        </p:nvSpPr>
        <p:spPr>
          <a:xfrm xmlns:a="http://schemas.openxmlformats.org/drawingml/2006/main">
            <a:off x="8848725" y="4524375"/>
            <a:ext cx="2762250" cy="13239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These are univariate associations, not final-model feature importance. Total spend is an EDA aggregate only.</a:t>
            </a:r>
          </a:p>
        </p:txBody>
      </p:sp>
    </p:spTree>
    <p:extLst>
      <p:ext uri="{BB962C8B-B14F-4D97-AF65-F5344CB8AC3E}">
        <p14:creationId xmlns:p14="http://schemas.microsoft.com/office/powerpoint/2010/main" val="198534375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2CA1923E-264F-4550-A26F-88BC84CE9B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520A4D6B-B976-4692-B22D-0ED800578B4C}"/>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3AC62D45-66C8-4819-A3FA-C3E75269E440}"/>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EDA / CUSTOMER PROFILE</a:t>
            </a:r>
          </a:p>
        </p:txBody>
      </p:sp>
      <p:sp>
        <p:nvSpPr>
          <p:cNvPr id="4" name="text-149">
            <a:extLst xmlns:a="http://schemas.openxmlformats.org/drawingml/2006/main">
              <a:ext uri="{FF2B5EF4-FFF2-40B4-BE49-F238E27FC236}">
                <a16:creationId xmlns:a16="http://schemas.microsoft.com/office/drawing/2014/main" id="{70FA5C18-2E0B-4F4E-87B6-A7E1F07DA375}"/>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Response differs across groups, but sample size matters</a:t>
            </a:r>
          </a:p>
        </p:txBody>
      </p:sp>
      <p:sp>
        <p:nvSpPr>
          <p:cNvPr id="5" name="shape-150">
            <a:extLst xmlns:a="http://schemas.openxmlformats.org/drawingml/2006/main">
              <a:ext uri="{FF2B5EF4-FFF2-40B4-BE49-F238E27FC236}">
                <a16:creationId xmlns:a16="http://schemas.microsoft.com/office/drawing/2014/main" id="{01581E5A-393C-441D-A02E-C898F1C1E2A4}"/>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151">
            <a:extLst xmlns:a="http://schemas.openxmlformats.org/drawingml/2006/main">
              <a:ext uri="{FF2B5EF4-FFF2-40B4-BE49-F238E27FC236}">
                <a16:creationId xmlns:a16="http://schemas.microsoft.com/office/drawing/2014/main" id="{95E597F7-F3C9-4086-9330-7A8168907892}"/>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§3 | education response rates</a:t>
            </a:r>
          </a:p>
        </p:txBody>
      </p:sp>
      <p:sp>
        <p:nvSpPr>
          <p:cNvPr id="7" name="text-152">
            <a:extLst xmlns:a="http://schemas.openxmlformats.org/drawingml/2006/main">
              <a:ext uri="{FF2B5EF4-FFF2-40B4-BE49-F238E27FC236}">
                <a16:creationId xmlns:a16="http://schemas.microsoft.com/office/drawing/2014/main" id="{BF86006B-9CB8-41B7-AB5F-97DB23F00DD6}"/>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09</a:t>
            </a:r>
          </a:p>
        </p:txBody>
      </p:sp>
      <p:sp>
        <p:nvSpPr>
          <p:cNvPr id="8" name="shape-153">
            <a:extLst xmlns:a="http://schemas.openxmlformats.org/drawingml/2006/main">
              <a:ext uri="{FF2B5EF4-FFF2-40B4-BE49-F238E27FC236}">
                <a16:creationId xmlns:a16="http://schemas.microsoft.com/office/drawing/2014/main" id="{1033A46C-833E-42FE-B35C-9FB4EB7D2CD2}"/>
              </a:ext>
            </a:extLst>
          </p:cNvPr>
          <p:cNvSpPr>
            <a:spLocks xmlns:a="http://schemas.openxmlformats.org/drawingml/2006/main" noGrp="1"/>
          </p:cNvSpPr>
          <p:nvPr/>
        </p:nvSpPr>
        <p:spPr>
          <a:xfrm xmlns:a="http://schemas.openxmlformats.org/drawingml/2006/main">
            <a:off x="571500" y="2200275"/>
            <a:ext cx="11049000" cy="457200"/>
          </a:xfrm>
          <a:prstGeom xmlns:a="http://schemas.openxmlformats.org/drawingml/2006/main" prst="rect">
            <a:avLst/>
          </a:prstGeom>
          <a:solidFill xmlns:a="http://schemas.openxmlformats.org/drawingml/2006/main">
            <a:srgbClr val="182D43"/>
          </a:solidFill>
          <a:ln xmlns:a="http://schemas.openxmlformats.org/drawingml/2006/main" w="0">
            <a:noFill/>
            <a:prstDash val="solid"/>
          </a:ln>
        </p:spPr>
      </p:sp>
      <p:sp>
        <p:nvSpPr>
          <p:cNvPr id="9" name="text-154">
            <a:extLst xmlns:a="http://schemas.openxmlformats.org/drawingml/2006/main">
              <a:ext uri="{FF2B5EF4-FFF2-40B4-BE49-F238E27FC236}">
                <a16:creationId xmlns:a16="http://schemas.microsoft.com/office/drawing/2014/main" id="{29C5E305-7F98-45E0-8D7E-C28D956C33C7}"/>
              </a:ext>
            </a:extLst>
          </p:cNvPr>
          <p:cNvSpPr>
            <a:spLocks xmlns:a="http://schemas.openxmlformats.org/drawingml/2006/main" noGrp="1"/>
          </p:cNvSpPr>
          <p:nvPr/>
        </p:nvSpPr>
        <p:spPr>
          <a:xfrm xmlns:a="http://schemas.openxmlformats.org/drawingml/2006/main">
            <a:off x="685800" y="2314575"/>
            <a:ext cx="45339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Education group</a:t>
            </a:r>
          </a:p>
        </p:txBody>
      </p:sp>
      <p:sp>
        <p:nvSpPr>
          <p:cNvPr id="10" name="text-155">
            <a:extLst xmlns:a="http://schemas.openxmlformats.org/drawingml/2006/main">
              <a:ext uri="{FF2B5EF4-FFF2-40B4-BE49-F238E27FC236}">
                <a16:creationId xmlns:a16="http://schemas.microsoft.com/office/drawing/2014/main" id="{E244CD8D-07B6-4B91-9CE6-0E5F151C6FD3}"/>
              </a:ext>
            </a:extLst>
          </p:cNvPr>
          <p:cNvSpPr>
            <a:spLocks xmlns:a="http://schemas.openxmlformats.org/drawingml/2006/main" noGrp="1"/>
          </p:cNvSpPr>
          <p:nvPr/>
        </p:nvSpPr>
        <p:spPr>
          <a:xfrm xmlns:a="http://schemas.openxmlformats.org/drawingml/2006/main">
            <a:off x="5448300" y="2314575"/>
            <a:ext cx="26289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Customers</a:t>
            </a:r>
          </a:p>
        </p:txBody>
      </p:sp>
      <p:sp>
        <p:nvSpPr>
          <p:cNvPr id="11" name="text-156">
            <a:extLst xmlns:a="http://schemas.openxmlformats.org/drawingml/2006/main">
              <a:ext uri="{FF2B5EF4-FFF2-40B4-BE49-F238E27FC236}">
                <a16:creationId xmlns:a16="http://schemas.microsoft.com/office/drawing/2014/main" id="{3914300E-6FBB-4CDD-BF8E-923270E988EC}"/>
              </a:ext>
            </a:extLst>
          </p:cNvPr>
          <p:cNvSpPr>
            <a:spLocks xmlns:a="http://schemas.openxmlformats.org/drawingml/2006/main" noGrp="1"/>
          </p:cNvSpPr>
          <p:nvPr/>
        </p:nvSpPr>
        <p:spPr>
          <a:xfrm xmlns:a="http://schemas.openxmlformats.org/drawingml/2006/main">
            <a:off x="8305800" y="2314575"/>
            <a:ext cx="32004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Response rate</a:t>
            </a:r>
          </a:p>
        </p:txBody>
      </p:sp>
      <p:sp>
        <p:nvSpPr>
          <p:cNvPr id="12" name="text-157">
            <a:extLst xmlns:a="http://schemas.openxmlformats.org/drawingml/2006/main">
              <a:ext uri="{FF2B5EF4-FFF2-40B4-BE49-F238E27FC236}">
                <a16:creationId xmlns:a16="http://schemas.microsoft.com/office/drawing/2014/main" id="{A1AF2BE4-F7B4-407F-98C1-4518A4695E80}"/>
              </a:ext>
            </a:extLst>
          </p:cNvPr>
          <p:cNvSpPr>
            <a:spLocks xmlns:a="http://schemas.openxmlformats.org/drawingml/2006/main" noGrp="1"/>
          </p:cNvSpPr>
          <p:nvPr/>
        </p:nvSpPr>
        <p:spPr>
          <a:xfrm xmlns:a="http://schemas.openxmlformats.org/drawingml/2006/main">
            <a:off x="685800" y="2771775"/>
            <a:ext cx="4533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PhD</a:t>
            </a:r>
          </a:p>
        </p:txBody>
      </p:sp>
      <p:sp>
        <p:nvSpPr>
          <p:cNvPr id="13" name="text-158">
            <a:extLst xmlns:a="http://schemas.openxmlformats.org/drawingml/2006/main">
              <a:ext uri="{FF2B5EF4-FFF2-40B4-BE49-F238E27FC236}">
                <a16:creationId xmlns:a16="http://schemas.microsoft.com/office/drawing/2014/main" id="{1E2D7891-D0D3-4AC5-81F2-78A71D02F647}"/>
              </a:ext>
            </a:extLst>
          </p:cNvPr>
          <p:cNvSpPr>
            <a:spLocks xmlns:a="http://schemas.openxmlformats.org/drawingml/2006/main" noGrp="1"/>
          </p:cNvSpPr>
          <p:nvPr/>
        </p:nvSpPr>
        <p:spPr>
          <a:xfrm xmlns:a="http://schemas.openxmlformats.org/drawingml/2006/main">
            <a:off x="5448300" y="2771775"/>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486</a:t>
            </a:r>
          </a:p>
        </p:txBody>
      </p:sp>
      <p:sp>
        <p:nvSpPr>
          <p:cNvPr id="14" name="text-159">
            <a:extLst xmlns:a="http://schemas.openxmlformats.org/drawingml/2006/main">
              <a:ext uri="{FF2B5EF4-FFF2-40B4-BE49-F238E27FC236}">
                <a16:creationId xmlns:a16="http://schemas.microsoft.com/office/drawing/2014/main" id="{A30CE48F-B90C-4D9C-A2CF-5E3BBD6E64E0}"/>
              </a:ext>
            </a:extLst>
          </p:cNvPr>
          <p:cNvSpPr>
            <a:spLocks xmlns:a="http://schemas.openxmlformats.org/drawingml/2006/main" noGrp="1"/>
          </p:cNvSpPr>
          <p:nvPr/>
        </p:nvSpPr>
        <p:spPr>
          <a:xfrm xmlns:a="http://schemas.openxmlformats.org/drawingml/2006/main">
            <a:off x="8305800" y="2771775"/>
            <a:ext cx="3200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20.8%</a:t>
            </a:r>
          </a:p>
        </p:txBody>
      </p:sp>
      <p:sp>
        <p:nvSpPr>
          <p:cNvPr id="15" name="shape-160">
            <a:extLst xmlns:a="http://schemas.openxmlformats.org/drawingml/2006/main">
              <a:ext uri="{FF2B5EF4-FFF2-40B4-BE49-F238E27FC236}">
                <a16:creationId xmlns:a16="http://schemas.microsoft.com/office/drawing/2014/main" id="{7B2A7AA0-16F4-416B-933B-453A8B13FAE9}"/>
              </a:ext>
            </a:extLst>
          </p:cNvPr>
          <p:cNvSpPr>
            <a:spLocks xmlns:a="http://schemas.openxmlformats.org/drawingml/2006/main" noGrp="1"/>
          </p:cNvSpPr>
          <p:nvPr/>
        </p:nvSpPr>
        <p:spPr>
          <a:xfrm xmlns:a="http://schemas.openxmlformats.org/drawingml/2006/main">
            <a:off x="571500" y="32766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6" name="text-161">
            <a:extLst xmlns:a="http://schemas.openxmlformats.org/drawingml/2006/main">
              <a:ext uri="{FF2B5EF4-FFF2-40B4-BE49-F238E27FC236}">
                <a16:creationId xmlns:a16="http://schemas.microsoft.com/office/drawing/2014/main" id="{AA4380D4-3265-4F74-8055-25517D3671FF}"/>
              </a:ext>
            </a:extLst>
          </p:cNvPr>
          <p:cNvSpPr>
            <a:spLocks xmlns:a="http://schemas.openxmlformats.org/drawingml/2006/main" noGrp="1"/>
          </p:cNvSpPr>
          <p:nvPr/>
        </p:nvSpPr>
        <p:spPr>
          <a:xfrm xmlns:a="http://schemas.openxmlformats.org/drawingml/2006/main">
            <a:off x="685800" y="3390900"/>
            <a:ext cx="4533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Master</a:t>
            </a:r>
          </a:p>
        </p:txBody>
      </p:sp>
      <p:sp>
        <p:nvSpPr>
          <p:cNvPr id="17" name="text-162">
            <a:extLst xmlns:a="http://schemas.openxmlformats.org/drawingml/2006/main">
              <a:ext uri="{FF2B5EF4-FFF2-40B4-BE49-F238E27FC236}">
                <a16:creationId xmlns:a16="http://schemas.microsoft.com/office/drawing/2014/main" id="{A2398CEB-301D-4C2A-A9BF-89AB7735035D}"/>
              </a:ext>
            </a:extLst>
          </p:cNvPr>
          <p:cNvSpPr>
            <a:spLocks xmlns:a="http://schemas.openxmlformats.org/drawingml/2006/main" noGrp="1"/>
          </p:cNvSpPr>
          <p:nvPr/>
        </p:nvSpPr>
        <p:spPr>
          <a:xfrm xmlns:a="http://schemas.openxmlformats.org/drawingml/2006/main">
            <a:off x="5448300" y="3390900"/>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370</a:t>
            </a:r>
          </a:p>
        </p:txBody>
      </p:sp>
      <p:sp>
        <p:nvSpPr>
          <p:cNvPr id="18" name="text-163">
            <a:extLst xmlns:a="http://schemas.openxmlformats.org/drawingml/2006/main">
              <a:ext uri="{FF2B5EF4-FFF2-40B4-BE49-F238E27FC236}">
                <a16:creationId xmlns:a16="http://schemas.microsoft.com/office/drawing/2014/main" id="{1C571EAD-26B7-4E2C-B476-30B1005EAC70}"/>
              </a:ext>
            </a:extLst>
          </p:cNvPr>
          <p:cNvSpPr>
            <a:spLocks xmlns:a="http://schemas.openxmlformats.org/drawingml/2006/main" noGrp="1"/>
          </p:cNvSpPr>
          <p:nvPr/>
        </p:nvSpPr>
        <p:spPr>
          <a:xfrm xmlns:a="http://schemas.openxmlformats.org/drawingml/2006/main">
            <a:off x="8305800" y="3390900"/>
            <a:ext cx="3200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15.4%</a:t>
            </a:r>
          </a:p>
        </p:txBody>
      </p:sp>
      <p:sp>
        <p:nvSpPr>
          <p:cNvPr id="19" name="shape-164">
            <a:extLst xmlns:a="http://schemas.openxmlformats.org/drawingml/2006/main">
              <a:ext uri="{FF2B5EF4-FFF2-40B4-BE49-F238E27FC236}">
                <a16:creationId xmlns:a16="http://schemas.microsoft.com/office/drawing/2014/main" id="{06EA277B-1169-4A64-ACF4-686F92C88A7E}"/>
              </a:ext>
            </a:extLst>
          </p:cNvPr>
          <p:cNvSpPr>
            <a:spLocks xmlns:a="http://schemas.openxmlformats.org/drawingml/2006/main" noGrp="1"/>
          </p:cNvSpPr>
          <p:nvPr/>
        </p:nvSpPr>
        <p:spPr>
          <a:xfrm xmlns:a="http://schemas.openxmlformats.org/drawingml/2006/main">
            <a:off x="571500" y="389572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0" name="text-165">
            <a:extLst xmlns:a="http://schemas.openxmlformats.org/drawingml/2006/main">
              <a:ext uri="{FF2B5EF4-FFF2-40B4-BE49-F238E27FC236}">
                <a16:creationId xmlns:a16="http://schemas.microsoft.com/office/drawing/2014/main" id="{B0CC5CE4-0F73-4102-B46A-C35DA1D162D6}"/>
              </a:ext>
            </a:extLst>
          </p:cNvPr>
          <p:cNvSpPr>
            <a:spLocks xmlns:a="http://schemas.openxmlformats.org/drawingml/2006/main" noGrp="1"/>
          </p:cNvSpPr>
          <p:nvPr/>
        </p:nvSpPr>
        <p:spPr>
          <a:xfrm xmlns:a="http://schemas.openxmlformats.org/drawingml/2006/main">
            <a:off x="685800" y="4010025"/>
            <a:ext cx="4533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Graduation</a:t>
            </a:r>
          </a:p>
        </p:txBody>
      </p:sp>
      <p:sp>
        <p:nvSpPr>
          <p:cNvPr id="21" name="text-166">
            <a:extLst xmlns:a="http://schemas.openxmlformats.org/drawingml/2006/main">
              <a:ext uri="{FF2B5EF4-FFF2-40B4-BE49-F238E27FC236}">
                <a16:creationId xmlns:a16="http://schemas.microsoft.com/office/drawing/2014/main" id="{CE5FFA3D-45E3-4904-8B1E-784EFC311052}"/>
              </a:ext>
            </a:extLst>
          </p:cNvPr>
          <p:cNvSpPr>
            <a:spLocks xmlns:a="http://schemas.openxmlformats.org/drawingml/2006/main" noGrp="1"/>
          </p:cNvSpPr>
          <p:nvPr/>
        </p:nvSpPr>
        <p:spPr>
          <a:xfrm xmlns:a="http://schemas.openxmlformats.org/drawingml/2006/main">
            <a:off x="5448300" y="4010025"/>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1,127</a:t>
            </a:r>
          </a:p>
        </p:txBody>
      </p:sp>
      <p:sp>
        <p:nvSpPr>
          <p:cNvPr id="22" name="text-167">
            <a:extLst xmlns:a="http://schemas.openxmlformats.org/drawingml/2006/main">
              <a:ext uri="{FF2B5EF4-FFF2-40B4-BE49-F238E27FC236}">
                <a16:creationId xmlns:a16="http://schemas.microsoft.com/office/drawing/2014/main" id="{8844A9C6-8789-4664-81C9-DE39644E19EB}"/>
              </a:ext>
            </a:extLst>
          </p:cNvPr>
          <p:cNvSpPr>
            <a:spLocks xmlns:a="http://schemas.openxmlformats.org/drawingml/2006/main" noGrp="1"/>
          </p:cNvSpPr>
          <p:nvPr/>
        </p:nvSpPr>
        <p:spPr>
          <a:xfrm xmlns:a="http://schemas.openxmlformats.org/drawingml/2006/main">
            <a:off x="8305800" y="4010025"/>
            <a:ext cx="3200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13.5%</a:t>
            </a:r>
          </a:p>
        </p:txBody>
      </p:sp>
      <p:sp>
        <p:nvSpPr>
          <p:cNvPr id="23" name="shape-168">
            <a:extLst xmlns:a="http://schemas.openxmlformats.org/drawingml/2006/main">
              <a:ext uri="{FF2B5EF4-FFF2-40B4-BE49-F238E27FC236}">
                <a16:creationId xmlns:a16="http://schemas.microsoft.com/office/drawing/2014/main" id="{65E61BD0-B971-4E96-8BF3-EACEB7FF7060}"/>
              </a:ext>
            </a:extLst>
          </p:cNvPr>
          <p:cNvSpPr>
            <a:spLocks xmlns:a="http://schemas.openxmlformats.org/drawingml/2006/main" noGrp="1"/>
          </p:cNvSpPr>
          <p:nvPr/>
        </p:nvSpPr>
        <p:spPr>
          <a:xfrm xmlns:a="http://schemas.openxmlformats.org/drawingml/2006/main">
            <a:off x="571500" y="451485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4" name="text-169">
            <a:extLst xmlns:a="http://schemas.openxmlformats.org/drawingml/2006/main">
              <a:ext uri="{FF2B5EF4-FFF2-40B4-BE49-F238E27FC236}">
                <a16:creationId xmlns:a16="http://schemas.microsoft.com/office/drawing/2014/main" id="{F4D96855-15DB-4F31-83E1-5712565722D4}"/>
              </a:ext>
            </a:extLst>
          </p:cNvPr>
          <p:cNvSpPr>
            <a:spLocks xmlns:a="http://schemas.openxmlformats.org/drawingml/2006/main" noGrp="1"/>
          </p:cNvSpPr>
          <p:nvPr/>
        </p:nvSpPr>
        <p:spPr>
          <a:xfrm xmlns:a="http://schemas.openxmlformats.org/drawingml/2006/main">
            <a:off x="685800" y="4629150"/>
            <a:ext cx="4533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2n Cycle</a:t>
            </a:r>
          </a:p>
        </p:txBody>
      </p:sp>
      <p:sp>
        <p:nvSpPr>
          <p:cNvPr id="25" name="text-170">
            <a:extLst xmlns:a="http://schemas.openxmlformats.org/drawingml/2006/main">
              <a:ext uri="{FF2B5EF4-FFF2-40B4-BE49-F238E27FC236}">
                <a16:creationId xmlns:a16="http://schemas.microsoft.com/office/drawing/2014/main" id="{6DB58028-C62C-4167-AEA3-B8E8F502724C}"/>
              </a:ext>
            </a:extLst>
          </p:cNvPr>
          <p:cNvSpPr>
            <a:spLocks xmlns:a="http://schemas.openxmlformats.org/drawingml/2006/main" noGrp="1"/>
          </p:cNvSpPr>
          <p:nvPr/>
        </p:nvSpPr>
        <p:spPr>
          <a:xfrm xmlns:a="http://schemas.openxmlformats.org/drawingml/2006/main">
            <a:off x="5448300" y="4629150"/>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203</a:t>
            </a:r>
          </a:p>
        </p:txBody>
      </p:sp>
      <p:sp>
        <p:nvSpPr>
          <p:cNvPr id="26" name="text-171">
            <a:extLst xmlns:a="http://schemas.openxmlformats.org/drawingml/2006/main">
              <a:ext uri="{FF2B5EF4-FFF2-40B4-BE49-F238E27FC236}">
                <a16:creationId xmlns:a16="http://schemas.microsoft.com/office/drawing/2014/main" id="{FC8AAC50-4C9B-4BB4-8B37-667ED9F76AFB}"/>
              </a:ext>
            </a:extLst>
          </p:cNvPr>
          <p:cNvSpPr>
            <a:spLocks xmlns:a="http://schemas.openxmlformats.org/drawingml/2006/main" noGrp="1"/>
          </p:cNvSpPr>
          <p:nvPr/>
        </p:nvSpPr>
        <p:spPr>
          <a:xfrm xmlns:a="http://schemas.openxmlformats.org/drawingml/2006/main">
            <a:off x="8305800" y="4629150"/>
            <a:ext cx="3200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10.8%</a:t>
            </a:r>
          </a:p>
        </p:txBody>
      </p:sp>
      <p:sp>
        <p:nvSpPr>
          <p:cNvPr id="27" name="shape-172">
            <a:extLst xmlns:a="http://schemas.openxmlformats.org/drawingml/2006/main">
              <a:ext uri="{FF2B5EF4-FFF2-40B4-BE49-F238E27FC236}">
                <a16:creationId xmlns:a16="http://schemas.microsoft.com/office/drawing/2014/main" id="{DDCE5FAF-83DF-4150-965E-FEBA24FB1A43}"/>
              </a:ext>
            </a:extLst>
          </p:cNvPr>
          <p:cNvSpPr>
            <a:spLocks xmlns:a="http://schemas.openxmlformats.org/drawingml/2006/main" noGrp="1"/>
          </p:cNvSpPr>
          <p:nvPr/>
        </p:nvSpPr>
        <p:spPr>
          <a:xfrm xmlns:a="http://schemas.openxmlformats.org/drawingml/2006/main">
            <a:off x="571500" y="513397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8" name="text-173">
            <a:extLst xmlns:a="http://schemas.openxmlformats.org/drawingml/2006/main">
              <a:ext uri="{FF2B5EF4-FFF2-40B4-BE49-F238E27FC236}">
                <a16:creationId xmlns:a16="http://schemas.microsoft.com/office/drawing/2014/main" id="{69EE6171-7587-4CEE-84AA-61EBDC27944C}"/>
              </a:ext>
            </a:extLst>
          </p:cNvPr>
          <p:cNvSpPr>
            <a:spLocks xmlns:a="http://schemas.openxmlformats.org/drawingml/2006/main" noGrp="1"/>
          </p:cNvSpPr>
          <p:nvPr/>
        </p:nvSpPr>
        <p:spPr>
          <a:xfrm xmlns:a="http://schemas.openxmlformats.org/drawingml/2006/main">
            <a:off x="685800" y="5248275"/>
            <a:ext cx="4533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Basic</a:t>
            </a:r>
          </a:p>
        </p:txBody>
      </p:sp>
      <p:sp>
        <p:nvSpPr>
          <p:cNvPr id="29" name="text-174">
            <a:extLst xmlns:a="http://schemas.openxmlformats.org/drawingml/2006/main">
              <a:ext uri="{FF2B5EF4-FFF2-40B4-BE49-F238E27FC236}">
                <a16:creationId xmlns:a16="http://schemas.microsoft.com/office/drawing/2014/main" id="{7D95756E-BB35-4022-B667-5DB5B4B72688}"/>
              </a:ext>
            </a:extLst>
          </p:cNvPr>
          <p:cNvSpPr>
            <a:spLocks xmlns:a="http://schemas.openxmlformats.org/drawingml/2006/main" noGrp="1"/>
          </p:cNvSpPr>
          <p:nvPr/>
        </p:nvSpPr>
        <p:spPr>
          <a:xfrm xmlns:a="http://schemas.openxmlformats.org/drawingml/2006/main">
            <a:off x="5448300" y="5248275"/>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54</a:t>
            </a:r>
          </a:p>
        </p:txBody>
      </p:sp>
      <p:sp>
        <p:nvSpPr>
          <p:cNvPr id="30" name="text-175">
            <a:extLst xmlns:a="http://schemas.openxmlformats.org/drawingml/2006/main">
              <a:ext uri="{FF2B5EF4-FFF2-40B4-BE49-F238E27FC236}">
                <a16:creationId xmlns:a16="http://schemas.microsoft.com/office/drawing/2014/main" id="{36B5B4F2-E0C9-4B28-B7BD-ADDB1464DB88}"/>
              </a:ext>
            </a:extLst>
          </p:cNvPr>
          <p:cNvSpPr>
            <a:spLocks xmlns:a="http://schemas.openxmlformats.org/drawingml/2006/main" noGrp="1"/>
          </p:cNvSpPr>
          <p:nvPr/>
        </p:nvSpPr>
        <p:spPr>
          <a:xfrm xmlns:a="http://schemas.openxmlformats.org/drawingml/2006/main">
            <a:off x="8305800" y="5248275"/>
            <a:ext cx="3200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3.7%</a:t>
            </a:r>
          </a:p>
        </p:txBody>
      </p:sp>
      <p:sp>
        <p:nvSpPr>
          <p:cNvPr id="31" name="shape-176">
            <a:extLst xmlns:a="http://schemas.openxmlformats.org/drawingml/2006/main">
              <a:ext uri="{FF2B5EF4-FFF2-40B4-BE49-F238E27FC236}">
                <a16:creationId xmlns:a16="http://schemas.microsoft.com/office/drawing/2014/main" id="{C22F79DC-075E-4275-ADC5-71CDF34D1F72}"/>
              </a:ext>
            </a:extLst>
          </p:cNvPr>
          <p:cNvSpPr>
            <a:spLocks xmlns:a="http://schemas.openxmlformats.org/drawingml/2006/main" noGrp="1"/>
          </p:cNvSpPr>
          <p:nvPr/>
        </p:nvSpPr>
        <p:spPr>
          <a:xfrm xmlns:a="http://schemas.openxmlformats.org/drawingml/2006/main">
            <a:off x="571500" y="57531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32" name="text-177">
            <a:extLst xmlns:a="http://schemas.openxmlformats.org/drawingml/2006/main">
              <a:ext uri="{FF2B5EF4-FFF2-40B4-BE49-F238E27FC236}">
                <a16:creationId xmlns:a16="http://schemas.microsoft.com/office/drawing/2014/main" id="{6AC9BEC1-04E4-407A-B1F6-E4DCE43B9384}"/>
              </a:ext>
            </a:extLst>
          </p:cNvPr>
          <p:cNvSpPr>
            <a:spLocks xmlns:a="http://schemas.openxmlformats.org/drawingml/2006/main" noGrp="1"/>
          </p:cNvSpPr>
          <p:nvPr/>
        </p:nvSpPr>
        <p:spPr>
          <a:xfrm xmlns:a="http://schemas.openxmlformats.org/drawingml/2006/main">
            <a:off x="571500" y="5810250"/>
            <a:ext cx="110490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0">
                <a:solidFill>
                  <a:srgbClr val="596C7D"/>
                </a:solidFill>
                <a:latin typeface="Arial"/>
                <a:ea typeface="Arial"/>
                <a:cs typeface="Arial"/>
              </a:defRPr>
            </a:pPr>
            <a:r>
              <a:rPr sz="1500" b="0">
                <a:solidFill>
                  <a:srgbClr val="596C7D"/>
                </a:solidFill>
                <a:latin typeface="Arial"/>
                <a:ea typeface="Arial"/>
                <a:cs typeface="Arial"/>
              </a:rPr>
              <a:t>Descriptive differences, not blanket targeting rules. Validate performance across segments.</a:t>
            </a:r>
          </a:p>
        </p:txBody>
      </p:sp>
    </p:spTree>
    <p:extLst>
      <p:ext uri="{BB962C8B-B14F-4D97-AF65-F5344CB8AC3E}">
        <p14:creationId xmlns:p14="http://schemas.microsoft.com/office/powerpoint/2010/main" val="12103799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EBD871D3-ABC6-42E7-8410-626B9E62CB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4B0E8BF0-AFF7-46F8-925F-25E5FFB933D4}"/>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1830E91D-72E7-4C86-86D7-6182140D0BD8}"/>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PREPARATION</a:t>
            </a:r>
          </a:p>
        </p:txBody>
      </p:sp>
      <p:sp>
        <p:nvSpPr>
          <p:cNvPr id="4" name="text-178">
            <a:extLst xmlns:a="http://schemas.openxmlformats.org/drawingml/2006/main">
              <a:ext uri="{FF2B5EF4-FFF2-40B4-BE49-F238E27FC236}">
                <a16:creationId xmlns:a16="http://schemas.microsoft.com/office/drawing/2014/main" id="{1A9D326B-44A9-4E63-A53F-2A45F791DAED}"/>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A stratified split leaves 448 customers for evaluation</a:t>
            </a:r>
          </a:p>
        </p:txBody>
      </p:sp>
      <p:sp>
        <p:nvSpPr>
          <p:cNvPr id="5" name="shape-179">
            <a:extLst xmlns:a="http://schemas.openxmlformats.org/drawingml/2006/main">
              <a:ext uri="{FF2B5EF4-FFF2-40B4-BE49-F238E27FC236}">
                <a16:creationId xmlns:a16="http://schemas.microsoft.com/office/drawing/2014/main" id="{517C52F5-9456-4676-B5AE-7CE6BDD06C8E}"/>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180">
            <a:extLst xmlns:a="http://schemas.openxmlformats.org/drawingml/2006/main">
              <a:ext uri="{FF2B5EF4-FFF2-40B4-BE49-F238E27FC236}">
                <a16:creationId xmlns:a16="http://schemas.microsoft.com/office/drawing/2014/main" id="{C4C72855-47EF-4395-A645-1CEA7A112314}"/>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§4 | random_state=42; stratify=y</a:t>
            </a:r>
          </a:p>
        </p:txBody>
      </p:sp>
      <p:sp>
        <p:nvSpPr>
          <p:cNvPr id="7" name="text-181">
            <a:extLst xmlns:a="http://schemas.openxmlformats.org/drawingml/2006/main">
              <a:ext uri="{FF2B5EF4-FFF2-40B4-BE49-F238E27FC236}">
                <a16:creationId xmlns:a16="http://schemas.microsoft.com/office/drawing/2014/main" id="{F085F45A-7092-4D27-89EA-F616552265DE}"/>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10</a:t>
            </a:r>
          </a:p>
        </p:txBody>
      </p:sp>
      <p:sp>
        <p:nvSpPr>
          <p:cNvPr id="8" name="text-182">
            <a:extLst xmlns:a="http://schemas.openxmlformats.org/drawingml/2006/main">
              <a:ext uri="{FF2B5EF4-FFF2-40B4-BE49-F238E27FC236}">
                <a16:creationId xmlns:a16="http://schemas.microsoft.com/office/drawing/2014/main" id="{81912920-523F-4AE5-9B84-FF46F2927D5D}"/>
              </a:ext>
            </a:extLst>
          </p:cNvPr>
          <p:cNvSpPr>
            <a:spLocks xmlns:a="http://schemas.openxmlformats.org/drawingml/2006/main" noGrp="1"/>
          </p:cNvSpPr>
          <p:nvPr/>
        </p:nvSpPr>
        <p:spPr>
          <a:xfrm xmlns:a="http://schemas.openxmlformats.org/drawingml/2006/main">
            <a:off x="571500" y="2190750"/>
            <a:ext cx="342900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2,240</a:t>
            </a:r>
          </a:p>
        </p:txBody>
      </p:sp>
      <p:sp>
        <p:nvSpPr>
          <p:cNvPr id="9" name="text-183">
            <a:extLst xmlns:a="http://schemas.openxmlformats.org/drawingml/2006/main">
              <a:ext uri="{FF2B5EF4-FFF2-40B4-BE49-F238E27FC236}">
                <a16:creationId xmlns:a16="http://schemas.microsoft.com/office/drawing/2014/main" id="{E40DA438-ADC1-4620-A854-3FAB89EA9D33}"/>
              </a:ext>
            </a:extLst>
          </p:cNvPr>
          <p:cNvSpPr>
            <a:spLocks xmlns:a="http://schemas.openxmlformats.org/drawingml/2006/main" noGrp="1"/>
          </p:cNvSpPr>
          <p:nvPr/>
        </p:nvSpPr>
        <p:spPr>
          <a:xfrm xmlns:a="http://schemas.openxmlformats.org/drawingml/2006/main">
            <a:off x="571500" y="3067050"/>
            <a:ext cx="34290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Source rows</a:t>
            </a:r>
          </a:p>
        </p:txBody>
      </p:sp>
      <p:sp>
        <p:nvSpPr>
          <p:cNvPr id="10" name="text-184">
            <a:extLst xmlns:a="http://schemas.openxmlformats.org/drawingml/2006/main">
              <a:ext uri="{FF2B5EF4-FFF2-40B4-BE49-F238E27FC236}">
                <a16:creationId xmlns:a16="http://schemas.microsoft.com/office/drawing/2014/main" id="{40D5BDAD-0A18-4EA7-AEBE-6690ED02D27A}"/>
              </a:ext>
            </a:extLst>
          </p:cNvPr>
          <p:cNvSpPr>
            <a:spLocks xmlns:a="http://schemas.openxmlformats.org/drawingml/2006/main" noGrp="1"/>
          </p:cNvSpPr>
          <p:nvPr/>
        </p:nvSpPr>
        <p:spPr>
          <a:xfrm xmlns:a="http://schemas.openxmlformats.org/drawingml/2006/main">
            <a:off x="4476750" y="2190750"/>
            <a:ext cx="342900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2,236</a:t>
            </a:r>
          </a:p>
        </p:txBody>
      </p:sp>
      <p:sp>
        <p:nvSpPr>
          <p:cNvPr id="11" name="text-185">
            <a:extLst xmlns:a="http://schemas.openxmlformats.org/drawingml/2006/main">
              <a:ext uri="{FF2B5EF4-FFF2-40B4-BE49-F238E27FC236}">
                <a16:creationId xmlns:a16="http://schemas.microsoft.com/office/drawing/2014/main" id="{365AB55F-60EC-4676-B032-DC7A94FDDE43}"/>
              </a:ext>
            </a:extLst>
          </p:cNvPr>
          <p:cNvSpPr>
            <a:spLocks xmlns:a="http://schemas.openxmlformats.org/drawingml/2006/main" noGrp="1"/>
          </p:cNvSpPr>
          <p:nvPr/>
        </p:nvSpPr>
        <p:spPr>
          <a:xfrm xmlns:a="http://schemas.openxmlformats.org/drawingml/2006/main">
            <a:off x="4476750" y="3067050"/>
            <a:ext cx="34290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After exclusions</a:t>
            </a:r>
          </a:p>
        </p:txBody>
      </p:sp>
      <p:sp>
        <p:nvSpPr>
          <p:cNvPr id="12" name="text-186">
            <a:extLst xmlns:a="http://schemas.openxmlformats.org/drawingml/2006/main">
              <a:ext uri="{FF2B5EF4-FFF2-40B4-BE49-F238E27FC236}">
                <a16:creationId xmlns:a16="http://schemas.microsoft.com/office/drawing/2014/main" id="{561644C9-8677-478C-A9BA-3FCE8707782B}"/>
              </a:ext>
            </a:extLst>
          </p:cNvPr>
          <p:cNvSpPr>
            <a:spLocks xmlns:a="http://schemas.openxmlformats.org/drawingml/2006/main" noGrp="1"/>
          </p:cNvSpPr>
          <p:nvPr/>
        </p:nvSpPr>
        <p:spPr>
          <a:xfrm xmlns:a="http://schemas.openxmlformats.org/drawingml/2006/main">
            <a:off x="8382000" y="2190750"/>
            <a:ext cx="342900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20</a:t>
            </a:r>
          </a:p>
        </p:txBody>
      </p:sp>
      <p:sp>
        <p:nvSpPr>
          <p:cNvPr id="13" name="text-187">
            <a:extLst xmlns:a="http://schemas.openxmlformats.org/drawingml/2006/main">
              <a:ext uri="{FF2B5EF4-FFF2-40B4-BE49-F238E27FC236}">
                <a16:creationId xmlns:a16="http://schemas.microsoft.com/office/drawing/2014/main" id="{8DEA98D7-DC73-4491-9654-38B0184D768B}"/>
              </a:ext>
            </a:extLst>
          </p:cNvPr>
          <p:cNvSpPr>
            <a:spLocks xmlns:a="http://schemas.openxmlformats.org/drawingml/2006/main" noGrp="1"/>
          </p:cNvSpPr>
          <p:nvPr/>
        </p:nvSpPr>
        <p:spPr>
          <a:xfrm xmlns:a="http://schemas.openxmlformats.org/drawingml/2006/main">
            <a:off x="8382000" y="3067050"/>
            <a:ext cx="34290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Model inputs</a:t>
            </a:r>
          </a:p>
        </p:txBody>
      </p:sp>
      <p:sp>
        <p:nvSpPr>
          <p:cNvPr id="14" name="shape-188">
            <a:extLst xmlns:a="http://schemas.openxmlformats.org/drawingml/2006/main">
              <a:ext uri="{FF2B5EF4-FFF2-40B4-BE49-F238E27FC236}">
                <a16:creationId xmlns:a16="http://schemas.microsoft.com/office/drawing/2014/main" id="{B055A90F-88B2-479A-81CF-458202067764}"/>
              </a:ext>
            </a:extLst>
          </p:cNvPr>
          <p:cNvSpPr>
            <a:spLocks xmlns:a="http://schemas.openxmlformats.org/drawingml/2006/main" noGrp="1"/>
          </p:cNvSpPr>
          <p:nvPr/>
        </p:nvSpPr>
        <p:spPr>
          <a:xfrm xmlns:a="http://schemas.openxmlformats.org/drawingml/2006/main">
            <a:off x="571500" y="4200525"/>
            <a:ext cx="8839200" cy="78105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15" name="shape-189">
            <a:extLst xmlns:a="http://schemas.openxmlformats.org/drawingml/2006/main">
              <a:ext uri="{FF2B5EF4-FFF2-40B4-BE49-F238E27FC236}">
                <a16:creationId xmlns:a16="http://schemas.microsoft.com/office/drawing/2014/main" id="{3D70E537-7F99-49CE-9C58-929901A3A679}"/>
              </a:ext>
            </a:extLst>
          </p:cNvPr>
          <p:cNvSpPr>
            <a:spLocks xmlns:a="http://schemas.openxmlformats.org/drawingml/2006/main" noGrp="1"/>
          </p:cNvSpPr>
          <p:nvPr/>
        </p:nvSpPr>
        <p:spPr>
          <a:xfrm xmlns:a="http://schemas.openxmlformats.org/drawingml/2006/main">
            <a:off x="9410700" y="4200525"/>
            <a:ext cx="2209800" cy="781050"/>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6" name="text-190">
            <a:extLst xmlns:a="http://schemas.openxmlformats.org/drawingml/2006/main">
              <a:ext uri="{FF2B5EF4-FFF2-40B4-BE49-F238E27FC236}">
                <a16:creationId xmlns:a16="http://schemas.microsoft.com/office/drawing/2014/main" id="{86137AB0-9162-4B4C-97B6-D5131C789778}"/>
              </a:ext>
            </a:extLst>
          </p:cNvPr>
          <p:cNvSpPr>
            <a:spLocks xmlns:a="http://schemas.openxmlformats.org/drawingml/2006/main" noGrp="1"/>
          </p:cNvSpPr>
          <p:nvPr/>
        </p:nvSpPr>
        <p:spPr>
          <a:xfrm xmlns:a="http://schemas.openxmlformats.org/drawingml/2006/main">
            <a:off x="819150" y="4429125"/>
            <a:ext cx="83820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1,788 training rows  ·  80%</a:t>
            </a:r>
          </a:p>
        </p:txBody>
      </p:sp>
      <p:sp>
        <p:nvSpPr>
          <p:cNvPr id="17" name="text-191">
            <a:extLst xmlns:a="http://schemas.openxmlformats.org/drawingml/2006/main">
              <a:ext uri="{FF2B5EF4-FFF2-40B4-BE49-F238E27FC236}">
                <a16:creationId xmlns:a16="http://schemas.microsoft.com/office/drawing/2014/main" id="{A001F07C-C1B3-44E7-8FB5-55AD3C87B61A}"/>
              </a:ext>
            </a:extLst>
          </p:cNvPr>
          <p:cNvSpPr>
            <a:spLocks xmlns:a="http://schemas.openxmlformats.org/drawingml/2006/main" noGrp="1"/>
          </p:cNvSpPr>
          <p:nvPr/>
        </p:nvSpPr>
        <p:spPr>
          <a:xfrm xmlns:a="http://schemas.openxmlformats.org/drawingml/2006/main">
            <a:off x="9639300" y="4314825"/>
            <a:ext cx="1809750" cy="3143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1">
                <a:solidFill>
                  <a:srgbClr val="182D43"/>
                </a:solidFill>
                <a:latin typeface="Arial"/>
                <a:ea typeface="Arial"/>
                <a:cs typeface="Arial"/>
              </a:defRPr>
            </a:pPr>
            <a:r>
              <a:rPr sz="2025" b="1">
                <a:solidFill>
                  <a:srgbClr val="182D43"/>
                </a:solidFill>
                <a:latin typeface="Arial"/>
                <a:ea typeface="Arial"/>
                <a:cs typeface="Arial"/>
              </a:rPr>
              <a:t>448 rows</a:t>
            </a:r>
          </a:p>
        </p:txBody>
      </p:sp>
      <p:sp>
        <p:nvSpPr>
          <p:cNvPr id="18" name="text-192">
            <a:extLst xmlns:a="http://schemas.openxmlformats.org/drawingml/2006/main">
              <a:ext uri="{FF2B5EF4-FFF2-40B4-BE49-F238E27FC236}">
                <a16:creationId xmlns:a16="http://schemas.microsoft.com/office/drawing/2014/main" id="{9D88EC53-F608-49D4-AFA8-F33A66BDFE59}"/>
              </a:ext>
            </a:extLst>
          </p:cNvPr>
          <p:cNvSpPr>
            <a:spLocks xmlns:a="http://schemas.openxmlformats.org/drawingml/2006/main" noGrp="1"/>
          </p:cNvSpPr>
          <p:nvPr/>
        </p:nvSpPr>
        <p:spPr>
          <a:xfrm xmlns:a="http://schemas.openxmlformats.org/drawingml/2006/main">
            <a:off x="9639300" y="4648200"/>
            <a:ext cx="1809750" cy="2190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350" b="0">
                <a:solidFill>
                  <a:srgbClr val="596C7D"/>
                </a:solidFill>
                <a:latin typeface="Arial"/>
                <a:ea typeface="Arial"/>
                <a:cs typeface="Arial"/>
              </a:defRPr>
            </a:pPr>
            <a:r>
              <a:rPr sz="1350" b="0">
                <a:solidFill>
                  <a:srgbClr val="596C7D"/>
                </a:solidFill>
                <a:latin typeface="Arial"/>
                <a:ea typeface="Arial"/>
                <a:cs typeface="Arial"/>
              </a:rPr>
              <a:t>evaluation · 20%</a:t>
            </a:r>
          </a:p>
        </p:txBody>
      </p:sp>
      <p:sp>
        <p:nvSpPr>
          <p:cNvPr id="19" name="text-193">
            <a:extLst xmlns:a="http://schemas.openxmlformats.org/drawingml/2006/main">
              <a:ext uri="{FF2B5EF4-FFF2-40B4-BE49-F238E27FC236}">
                <a16:creationId xmlns:a16="http://schemas.microsoft.com/office/drawing/2014/main" id="{6ADBE33C-8407-493F-AFDF-E39074A774E1}"/>
              </a:ext>
            </a:extLst>
          </p:cNvPr>
          <p:cNvSpPr>
            <a:spLocks xmlns:a="http://schemas.openxmlformats.org/drawingml/2006/main" noGrp="1"/>
          </p:cNvSpPr>
          <p:nvPr/>
        </p:nvSpPr>
        <p:spPr>
          <a:xfrm xmlns:a="http://schemas.openxmlformats.org/drawingml/2006/main">
            <a:off x="571500" y="5238750"/>
            <a:ext cx="5524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75" b="1">
                <a:solidFill>
                  <a:srgbClr val="4682B4"/>
                </a:solidFill>
                <a:latin typeface="Arial"/>
                <a:ea typeface="Arial"/>
                <a:cs typeface="Arial"/>
              </a:defRPr>
            </a:pPr>
            <a:r>
              <a:rPr sz="1875" b="1">
                <a:solidFill>
                  <a:srgbClr val="4682B4"/>
                </a:solidFill>
                <a:latin typeface="Arial"/>
                <a:ea typeface="Arial"/>
                <a:cs typeface="Arial"/>
              </a:rPr>
              <a:t>Stratified by Response · random_state=42</a:t>
            </a:r>
          </a:p>
        </p:txBody>
      </p:sp>
      <p:sp>
        <p:nvSpPr>
          <p:cNvPr id="20" name="text-194">
            <a:extLst xmlns:a="http://schemas.openxmlformats.org/drawingml/2006/main">
              <a:ext uri="{FF2B5EF4-FFF2-40B4-BE49-F238E27FC236}">
                <a16:creationId xmlns:a16="http://schemas.microsoft.com/office/drawing/2014/main" id="{BCDAB9AE-12CC-4B88-96C7-5720E88B165E}"/>
              </a:ext>
            </a:extLst>
          </p:cNvPr>
          <p:cNvSpPr>
            <a:spLocks xmlns:a="http://schemas.openxmlformats.org/drawingml/2006/main" noGrp="1"/>
          </p:cNvSpPr>
          <p:nvPr/>
        </p:nvSpPr>
        <p:spPr>
          <a:xfrm xmlns:a="http://schemas.openxmlformats.org/drawingml/2006/main">
            <a:off x="6934200" y="5238750"/>
            <a:ext cx="4572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67 responders in evaluation. Reused during development.</a:t>
            </a:r>
          </a:p>
        </p:txBody>
      </p:sp>
    </p:spTree>
    <p:extLst>
      <p:ext uri="{BB962C8B-B14F-4D97-AF65-F5344CB8AC3E}">
        <p14:creationId xmlns:p14="http://schemas.microsoft.com/office/powerpoint/2010/main" val="13053457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AC77A36A-D68A-41CB-A18C-8688861689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9CC8439C-003C-4325-8282-AB91D143A182}"/>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6206210B-C0B0-4ECB-B015-D76C42BF41C1}"/>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PIPELINE DESIGN</a:t>
            </a:r>
          </a:p>
        </p:txBody>
      </p:sp>
      <p:sp>
        <p:nvSpPr>
          <p:cNvPr id="4" name="text-195">
            <a:extLst xmlns:a="http://schemas.openxmlformats.org/drawingml/2006/main">
              <a:ext uri="{FF2B5EF4-FFF2-40B4-BE49-F238E27FC236}">
                <a16:creationId xmlns:a16="http://schemas.microsoft.com/office/drawing/2014/main" id="{777449C2-A452-4FF9-BABF-FE17CEE42730}"/>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Each validation fold learns preprocessing from its training rows</a:t>
            </a:r>
          </a:p>
        </p:txBody>
      </p:sp>
      <p:sp>
        <p:nvSpPr>
          <p:cNvPr id="5" name="shape-196">
            <a:extLst xmlns:a="http://schemas.openxmlformats.org/drawingml/2006/main">
              <a:ext uri="{FF2B5EF4-FFF2-40B4-BE49-F238E27FC236}">
                <a16:creationId xmlns:a16="http://schemas.microsoft.com/office/drawing/2014/main" id="{30A95FDE-4FFA-442D-A8EA-710344EF81E7}"/>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197">
            <a:extLst xmlns:a="http://schemas.openxmlformats.org/drawingml/2006/main">
              <a:ext uri="{FF2B5EF4-FFF2-40B4-BE49-F238E27FC236}">
                <a16:creationId xmlns:a16="http://schemas.microsoft.com/office/drawing/2014/main" id="{4BAF4E84-87B4-41BC-B49E-67680861CEB6}"/>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§4–7 | Pipeline and ColumnTransformer</a:t>
            </a:r>
          </a:p>
        </p:txBody>
      </p:sp>
      <p:sp>
        <p:nvSpPr>
          <p:cNvPr id="7" name="text-198">
            <a:extLst xmlns:a="http://schemas.openxmlformats.org/drawingml/2006/main">
              <a:ext uri="{FF2B5EF4-FFF2-40B4-BE49-F238E27FC236}">
                <a16:creationId xmlns:a16="http://schemas.microsoft.com/office/drawing/2014/main" id="{2FDDC486-33E5-4DA7-B637-0E4C3E9E658F}"/>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11</a:t>
            </a:r>
          </a:p>
        </p:txBody>
      </p:sp>
      <p:sp>
        <p:nvSpPr>
          <p:cNvPr id="8" name="text-199">
            <a:extLst xmlns:a="http://schemas.openxmlformats.org/drawingml/2006/main">
              <a:ext uri="{FF2B5EF4-FFF2-40B4-BE49-F238E27FC236}">
                <a16:creationId xmlns:a16="http://schemas.microsoft.com/office/drawing/2014/main" id="{BC709780-68CC-442F-A5BB-06B07BDA1ABB}"/>
              </a:ext>
            </a:extLst>
          </p:cNvPr>
          <p:cNvSpPr>
            <a:spLocks xmlns:a="http://schemas.openxmlformats.org/drawingml/2006/main" noGrp="1"/>
          </p:cNvSpPr>
          <p:nvPr/>
        </p:nvSpPr>
        <p:spPr>
          <a:xfrm xmlns:a="http://schemas.openxmlformats.org/drawingml/2006/main">
            <a:off x="571500" y="2143125"/>
            <a:ext cx="100965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75" b="1">
                <a:solidFill>
                  <a:srgbClr val="4682B4"/>
                </a:solidFill>
                <a:latin typeface="Arial"/>
                <a:ea typeface="Arial"/>
                <a:cs typeface="Arial"/>
              </a:defRPr>
            </a:pPr>
            <a:r>
              <a:rPr sz="1875" b="1">
                <a:solidFill>
                  <a:srgbClr val="4682B4"/>
                </a:solidFill>
                <a:latin typeface="Arial"/>
                <a:ea typeface="Arial"/>
                <a:cs typeface="Arial"/>
              </a:rPr>
              <a:t>Inside each outer training fold</a:t>
            </a:r>
          </a:p>
        </p:txBody>
      </p:sp>
      <p:sp>
        <p:nvSpPr>
          <p:cNvPr id="9" name="shape-200">
            <a:extLst xmlns:a="http://schemas.openxmlformats.org/drawingml/2006/main">
              <a:ext uri="{FF2B5EF4-FFF2-40B4-BE49-F238E27FC236}">
                <a16:creationId xmlns:a16="http://schemas.microsoft.com/office/drawing/2014/main" id="{2D0E8C54-4AEC-4145-B8F6-F902993E2234}"/>
              </a:ext>
            </a:extLst>
          </p:cNvPr>
          <p:cNvSpPr>
            <a:spLocks xmlns:a="http://schemas.openxmlformats.org/drawingml/2006/main" noGrp="1"/>
          </p:cNvSpPr>
          <p:nvPr/>
        </p:nvSpPr>
        <p:spPr>
          <a:xfrm xmlns:a="http://schemas.openxmlformats.org/drawingml/2006/main">
            <a:off x="571500" y="2695575"/>
            <a:ext cx="3486150" cy="1209675"/>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0" name="shape-201">
            <a:extLst xmlns:a="http://schemas.openxmlformats.org/drawingml/2006/main">
              <a:ext uri="{FF2B5EF4-FFF2-40B4-BE49-F238E27FC236}">
                <a16:creationId xmlns:a16="http://schemas.microsoft.com/office/drawing/2014/main" id="{499B638B-8251-4AF0-8C4F-E7F38709564F}"/>
              </a:ext>
            </a:extLst>
          </p:cNvPr>
          <p:cNvSpPr>
            <a:spLocks xmlns:a="http://schemas.openxmlformats.org/drawingml/2006/main" noGrp="1"/>
          </p:cNvSpPr>
          <p:nvPr/>
        </p:nvSpPr>
        <p:spPr>
          <a:xfrm xmlns:a="http://schemas.openxmlformats.org/drawingml/2006/main">
            <a:off x="571500" y="4181475"/>
            <a:ext cx="3486150" cy="1209675"/>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1" name="shape-202">
            <a:extLst xmlns:a="http://schemas.openxmlformats.org/drawingml/2006/main">
              <a:ext uri="{FF2B5EF4-FFF2-40B4-BE49-F238E27FC236}">
                <a16:creationId xmlns:a16="http://schemas.microsoft.com/office/drawing/2014/main" id="{46E4CEE2-2B03-416B-89D2-2674AC37AC78}"/>
              </a:ext>
            </a:extLst>
          </p:cNvPr>
          <p:cNvSpPr>
            <a:spLocks xmlns:a="http://schemas.openxmlformats.org/drawingml/2006/main" noGrp="1"/>
          </p:cNvSpPr>
          <p:nvPr/>
        </p:nvSpPr>
        <p:spPr>
          <a:xfrm xmlns:a="http://schemas.openxmlformats.org/drawingml/2006/main">
            <a:off x="5324475" y="3390900"/>
            <a:ext cx="2857500" cy="1276350"/>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2" name="shape-203">
            <a:extLst xmlns:a="http://schemas.openxmlformats.org/drawingml/2006/main">
              <a:ext uri="{FF2B5EF4-FFF2-40B4-BE49-F238E27FC236}">
                <a16:creationId xmlns:a16="http://schemas.microsoft.com/office/drawing/2014/main" id="{FB2F550F-84B9-43DC-B470-5B5E05B0DF08}"/>
              </a:ext>
            </a:extLst>
          </p:cNvPr>
          <p:cNvSpPr>
            <a:spLocks xmlns:a="http://schemas.openxmlformats.org/drawingml/2006/main" noGrp="1"/>
          </p:cNvSpPr>
          <p:nvPr/>
        </p:nvSpPr>
        <p:spPr>
          <a:xfrm xmlns:a="http://schemas.openxmlformats.org/drawingml/2006/main">
            <a:off x="9191625" y="3390900"/>
            <a:ext cx="2428875" cy="1276350"/>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3" name="text-204">
            <a:extLst xmlns:a="http://schemas.openxmlformats.org/drawingml/2006/main">
              <a:ext uri="{FF2B5EF4-FFF2-40B4-BE49-F238E27FC236}">
                <a16:creationId xmlns:a16="http://schemas.microsoft.com/office/drawing/2014/main" id="{D4FFFB62-36B6-4507-8051-DCF60109B610}"/>
              </a:ext>
            </a:extLst>
          </p:cNvPr>
          <p:cNvSpPr>
            <a:spLocks xmlns:a="http://schemas.openxmlformats.org/drawingml/2006/main" noGrp="1"/>
          </p:cNvSpPr>
          <p:nvPr/>
        </p:nvSpPr>
        <p:spPr>
          <a:xfrm xmlns:a="http://schemas.openxmlformats.org/drawingml/2006/main">
            <a:off x="762000" y="2857500"/>
            <a:ext cx="3105150" cy="342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75" b="1">
                <a:solidFill>
                  <a:srgbClr val="182D43"/>
                </a:solidFill>
                <a:latin typeface="Arial"/>
                <a:ea typeface="Arial"/>
                <a:cs typeface="Arial"/>
              </a:defRPr>
            </a:pPr>
            <a:r>
              <a:rPr sz="1875" b="1">
                <a:solidFill>
                  <a:srgbClr val="182D43"/>
                </a:solidFill>
                <a:latin typeface="Arial"/>
                <a:ea typeface="Arial"/>
                <a:cs typeface="Arial"/>
              </a:rPr>
              <a:t>Numeric features</a:t>
            </a:r>
          </a:p>
        </p:txBody>
      </p:sp>
      <p:sp>
        <p:nvSpPr>
          <p:cNvPr id="14" name="text-205">
            <a:extLst xmlns:a="http://schemas.openxmlformats.org/drawingml/2006/main">
              <a:ext uri="{FF2B5EF4-FFF2-40B4-BE49-F238E27FC236}">
                <a16:creationId xmlns:a16="http://schemas.microsoft.com/office/drawing/2014/main" id="{F0A16719-5B3C-4DCC-911B-45946B185B67}"/>
              </a:ext>
            </a:extLst>
          </p:cNvPr>
          <p:cNvSpPr>
            <a:spLocks xmlns:a="http://schemas.openxmlformats.org/drawingml/2006/main" noGrp="1"/>
          </p:cNvSpPr>
          <p:nvPr/>
        </p:nvSpPr>
        <p:spPr>
          <a:xfrm xmlns:a="http://schemas.openxmlformats.org/drawingml/2006/main">
            <a:off x="762000" y="3295650"/>
            <a:ext cx="3105150" cy="5619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596C7D"/>
                </a:solidFill>
                <a:latin typeface="Arial"/>
                <a:ea typeface="Arial"/>
                <a:cs typeface="Arial"/>
              </a:defRPr>
            </a:pPr>
            <a:r>
              <a:rPr sz="1650" b="0">
                <a:solidFill>
                  <a:srgbClr val="596C7D"/>
                </a:solidFill>
                <a:latin typeface="Arial"/>
                <a:ea typeface="Arial"/>
                <a:cs typeface="Arial"/>
              </a:rPr>
              <a:t>Median imputation StandardScaler</a:t>
            </a:r>
          </a:p>
        </p:txBody>
      </p:sp>
      <p:sp>
        <p:nvSpPr>
          <p:cNvPr id="15" name="text-206">
            <a:extLst xmlns:a="http://schemas.openxmlformats.org/drawingml/2006/main">
              <a:ext uri="{FF2B5EF4-FFF2-40B4-BE49-F238E27FC236}">
                <a16:creationId xmlns:a16="http://schemas.microsoft.com/office/drawing/2014/main" id="{ED25AF9F-2AC4-4B09-B5B5-03F6789B1C34}"/>
              </a:ext>
            </a:extLst>
          </p:cNvPr>
          <p:cNvSpPr>
            <a:spLocks xmlns:a="http://schemas.openxmlformats.org/drawingml/2006/main" noGrp="1"/>
          </p:cNvSpPr>
          <p:nvPr/>
        </p:nvSpPr>
        <p:spPr>
          <a:xfrm xmlns:a="http://schemas.openxmlformats.org/drawingml/2006/main">
            <a:off x="762000" y="4343400"/>
            <a:ext cx="3105150" cy="342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75" b="1">
                <a:solidFill>
                  <a:srgbClr val="182D43"/>
                </a:solidFill>
                <a:latin typeface="Arial"/>
                <a:ea typeface="Arial"/>
                <a:cs typeface="Arial"/>
              </a:defRPr>
            </a:pPr>
            <a:r>
              <a:rPr sz="1875" b="1">
                <a:solidFill>
                  <a:srgbClr val="182D43"/>
                </a:solidFill>
                <a:latin typeface="Arial"/>
                <a:ea typeface="Arial"/>
                <a:cs typeface="Arial"/>
              </a:rPr>
              <a:t>Categorical features</a:t>
            </a:r>
          </a:p>
        </p:txBody>
      </p:sp>
      <p:sp>
        <p:nvSpPr>
          <p:cNvPr id="16" name="text-207">
            <a:extLst xmlns:a="http://schemas.openxmlformats.org/drawingml/2006/main">
              <a:ext uri="{FF2B5EF4-FFF2-40B4-BE49-F238E27FC236}">
                <a16:creationId xmlns:a16="http://schemas.microsoft.com/office/drawing/2014/main" id="{2B278B1D-1D83-4B65-8E81-8E43849E9CF6}"/>
              </a:ext>
            </a:extLst>
          </p:cNvPr>
          <p:cNvSpPr>
            <a:spLocks xmlns:a="http://schemas.openxmlformats.org/drawingml/2006/main" noGrp="1"/>
          </p:cNvSpPr>
          <p:nvPr/>
        </p:nvSpPr>
        <p:spPr>
          <a:xfrm xmlns:a="http://schemas.openxmlformats.org/drawingml/2006/main">
            <a:off x="762000" y="4762500"/>
            <a:ext cx="3105150" cy="5619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596C7D"/>
                </a:solidFill>
                <a:latin typeface="Arial"/>
                <a:ea typeface="Arial"/>
                <a:cs typeface="Arial"/>
              </a:defRPr>
            </a:pPr>
            <a:r>
              <a:rPr sz="1650" b="0">
                <a:solidFill>
                  <a:srgbClr val="596C7D"/>
                </a:solidFill>
                <a:latin typeface="Arial"/>
                <a:ea typeface="Arial"/>
                <a:cs typeface="Arial"/>
              </a:rPr>
              <a:t>Most-frequent imputation OneHotEncoder</a:t>
            </a:r>
          </a:p>
        </p:txBody>
      </p:sp>
      <p:sp>
        <p:nvSpPr>
          <p:cNvPr id="17" name="text-208">
            <a:extLst xmlns:a="http://schemas.openxmlformats.org/drawingml/2006/main">
              <a:ext uri="{FF2B5EF4-FFF2-40B4-BE49-F238E27FC236}">
                <a16:creationId xmlns:a16="http://schemas.microsoft.com/office/drawing/2014/main" id="{D2FCA6B8-B5AB-4F91-9591-736FD72EE43B}"/>
              </a:ext>
            </a:extLst>
          </p:cNvPr>
          <p:cNvSpPr>
            <a:spLocks xmlns:a="http://schemas.openxmlformats.org/drawingml/2006/main" noGrp="1"/>
          </p:cNvSpPr>
          <p:nvPr/>
        </p:nvSpPr>
        <p:spPr>
          <a:xfrm xmlns:a="http://schemas.openxmlformats.org/drawingml/2006/main">
            <a:off x="5514975" y="3571875"/>
            <a:ext cx="2476500" cy="3524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75" b="1">
                <a:solidFill>
                  <a:srgbClr val="182D43"/>
                </a:solidFill>
                <a:latin typeface="Arial"/>
                <a:ea typeface="Arial"/>
                <a:cs typeface="Arial"/>
              </a:defRPr>
            </a:pPr>
            <a:r>
              <a:rPr sz="1875" b="1">
                <a:solidFill>
                  <a:srgbClr val="182D43"/>
                </a:solidFill>
                <a:latin typeface="Arial"/>
                <a:ea typeface="Arial"/>
                <a:cs typeface="Arial"/>
              </a:rPr>
              <a:t>Combine branches</a:t>
            </a:r>
          </a:p>
        </p:txBody>
      </p:sp>
      <p:sp>
        <p:nvSpPr>
          <p:cNvPr id="18" name="text-209">
            <a:extLst xmlns:a="http://schemas.openxmlformats.org/drawingml/2006/main">
              <a:ext uri="{FF2B5EF4-FFF2-40B4-BE49-F238E27FC236}">
                <a16:creationId xmlns:a16="http://schemas.microsoft.com/office/drawing/2014/main" id="{AD559741-FC44-43B9-AE39-D369FF115CDB}"/>
              </a:ext>
            </a:extLst>
          </p:cNvPr>
          <p:cNvSpPr>
            <a:spLocks xmlns:a="http://schemas.openxmlformats.org/drawingml/2006/main" noGrp="1"/>
          </p:cNvSpPr>
          <p:nvPr/>
        </p:nvSpPr>
        <p:spPr>
          <a:xfrm xmlns:a="http://schemas.openxmlformats.org/drawingml/2006/main">
            <a:off x="5514975" y="4124325"/>
            <a:ext cx="2476500" cy="342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596C7D"/>
                </a:solidFill>
                <a:latin typeface="Arial"/>
                <a:ea typeface="Arial"/>
                <a:cs typeface="Arial"/>
              </a:defRPr>
            </a:pPr>
            <a:r>
              <a:rPr sz="1650" b="0">
                <a:solidFill>
                  <a:srgbClr val="596C7D"/>
                </a:solidFill>
                <a:latin typeface="Arial"/>
                <a:ea typeface="Arial"/>
                <a:cs typeface="Arial"/>
              </a:rPr>
              <a:t>ColumnTransformer</a:t>
            </a:r>
          </a:p>
        </p:txBody>
      </p:sp>
      <p:sp>
        <p:nvSpPr>
          <p:cNvPr id="19" name="text-210">
            <a:extLst xmlns:a="http://schemas.openxmlformats.org/drawingml/2006/main">
              <a:ext uri="{FF2B5EF4-FFF2-40B4-BE49-F238E27FC236}">
                <a16:creationId xmlns:a16="http://schemas.microsoft.com/office/drawing/2014/main" id="{7B22C67B-0646-4998-AE1D-5F2DF120F668}"/>
              </a:ext>
            </a:extLst>
          </p:cNvPr>
          <p:cNvSpPr>
            <a:spLocks xmlns:a="http://schemas.openxmlformats.org/drawingml/2006/main" noGrp="1"/>
          </p:cNvSpPr>
          <p:nvPr/>
        </p:nvSpPr>
        <p:spPr>
          <a:xfrm xmlns:a="http://schemas.openxmlformats.org/drawingml/2006/main">
            <a:off x="9382125" y="3571875"/>
            <a:ext cx="2047875" cy="3524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75" b="1">
                <a:solidFill>
                  <a:srgbClr val="182D43"/>
                </a:solidFill>
                <a:latin typeface="Arial"/>
                <a:ea typeface="Arial"/>
                <a:cs typeface="Arial"/>
              </a:defRPr>
            </a:pPr>
            <a:r>
              <a:rPr sz="1875" b="1">
                <a:solidFill>
                  <a:srgbClr val="182D43"/>
                </a:solidFill>
                <a:latin typeface="Arial"/>
                <a:ea typeface="Arial"/>
                <a:cs typeface="Arial"/>
              </a:rPr>
              <a:t>Classifier</a:t>
            </a:r>
          </a:p>
        </p:txBody>
      </p:sp>
      <p:sp>
        <p:nvSpPr>
          <p:cNvPr id="20" name="text-211">
            <a:extLst xmlns:a="http://schemas.openxmlformats.org/drawingml/2006/main">
              <a:ext uri="{FF2B5EF4-FFF2-40B4-BE49-F238E27FC236}">
                <a16:creationId xmlns:a16="http://schemas.microsoft.com/office/drawing/2014/main" id="{A969FA71-3B73-4F5A-B6AF-D52509BC870B}"/>
              </a:ext>
            </a:extLst>
          </p:cNvPr>
          <p:cNvSpPr>
            <a:spLocks xmlns:a="http://schemas.openxmlformats.org/drawingml/2006/main" noGrp="1"/>
          </p:cNvSpPr>
          <p:nvPr/>
        </p:nvSpPr>
        <p:spPr>
          <a:xfrm xmlns:a="http://schemas.openxmlformats.org/drawingml/2006/main">
            <a:off x="9382125" y="4124325"/>
            <a:ext cx="2047875" cy="342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596C7D"/>
                </a:solidFill>
                <a:latin typeface="Arial"/>
                <a:ea typeface="Arial"/>
                <a:cs typeface="Arial"/>
              </a:defRPr>
            </a:pPr>
            <a:r>
              <a:rPr sz="1650" b="0">
                <a:solidFill>
                  <a:srgbClr val="596C7D"/>
                </a:solidFill>
                <a:latin typeface="Arial"/>
                <a:ea typeface="Arial"/>
                <a:cs typeface="Arial"/>
              </a:rPr>
              <a:t>Fit training rows</a:t>
            </a:r>
          </a:p>
        </p:txBody>
      </p:sp>
      <p:sp>
        <p:nvSpPr>
          <p:cNvPr id="21" name="">
            <a:extLst xmlns:a="http://schemas.openxmlformats.org/drawingml/2006/main">
              <a:ext uri="{FF2B5EF4-FFF2-40B4-BE49-F238E27FC236}">
                <a16:creationId xmlns:a16="http://schemas.microsoft.com/office/drawing/2014/main" id="{7A5B8025-5374-4CBB-A2C9-F5003BD07C20}"/>
              </a:ext>
            </a:extLst>
          </p:cNvPr>
          <p:cNvSpPr>
            <a:spLocks xmlns:a="http://schemas.openxmlformats.org/drawingml/2006/main" noGrp="1"/>
          </p:cNvSpPr>
          <p:nvPr/>
        </p:nvSpPr>
        <p:spPr>
          <a:xfrm xmlns:a="http://schemas.openxmlformats.org/drawingml/2006/main">
            <a:off x="4057650" y="3300413"/>
            <a:ext cx="1266825" cy="728663"/>
          </a:xfrm>
          <a:custGeom xmlns:a="http://schemas.openxmlformats.org/drawingml/2006/main">
            <a:pathLst>
              <a:path w="1266825" h="728663">
                <a:moveTo>
                  <a:pt x="0" y="0"/>
                </a:moveTo>
                <a:lnTo>
                  <a:pt x="609600" y="0"/>
                </a:lnTo>
                <a:lnTo>
                  <a:pt x="609600" y="728663"/>
                </a:lnTo>
                <a:lnTo>
                  <a:pt x="1266825" y="728663"/>
                </a:lnTo>
              </a:path>
            </a:pathLst>
          </a:custGeom>
          <a:noFill xmlns:a="http://schemas.openxmlformats.org/drawingml/2006/main"/>
          <a:ln xmlns:a="http://schemas.openxmlformats.org/drawingml/2006/main" w="19050">
            <a:solidFill>
              <a:srgbClr val="4682B4"/>
            </a:solidFill>
            <a:prstDash val="solid"/>
          </a:ln>
        </p:spPr>
      </p:sp>
      <p:sp>
        <p:nvSpPr>
          <p:cNvPr id="22" name="">
            <a:extLst xmlns:a="http://schemas.openxmlformats.org/drawingml/2006/main">
              <a:ext uri="{FF2B5EF4-FFF2-40B4-BE49-F238E27FC236}">
                <a16:creationId xmlns:a16="http://schemas.microsoft.com/office/drawing/2014/main" id="{6E0569EE-4695-446B-BB96-51BA42D1A85E}"/>
              </a:ext>
            </a:extLst>
          </p:cNvPr>
          <p:cNvSpPr>
            <a:spLocks xmlns:a="http://schemas.openxmlformats.org/drawingml/2006/main" noGrp="1"/>
          </p:cNvSpPr>
          <p:nvPr/>
        </p:nvSpPr>
        <p:spPr>
          <a:xfrm xmlns:a="http://schemas.openxmlformats.org/drawingml/2006/main">
            <a:off x="4057650" y="4029075"/>
            <a:ext cx="1266825" cy="757238"/>
          </a:xfrm>
          <a:custGeom xmlns:a="http://schemas.openxmlformats.org/drawingml/2006/main">
            <a:pathLst>
              <a:path w="1266825" h="757238">
                <a:moveTo>
                  <a:pt x="0" y="757238"/>
                </a:moveTo>
                <a:lnTo>
                  <a:pt x="609600" y="757238"/>
                </a:lnTo>
                <a:lnTo>
                  <a:pt x="609600" y="0"/>
                </a:lnTo>
                <a:lnTo>
                  <a:pt x="1266825" y="0"/>
                </a:lnTo>
              </a:path>
            </a:pathLst>
          </a:custGeom>
          <a:noFill xmlns:a="http://schemas.openxmlformats.org/drawingml/2006/main"/>
          <a:ln xmlns:a="http://schemas.openxmlformats.org/drawingml/2006/main" w="19050">
            <a:solidFill>
              <a:srgbClr val="4682B4"/>
            </a:solidFill>
            <a:prstDash val="solid"/>
          </a:ln>
        </p:spPr>
      </p:sp>
      <p:sp>
        <p:nvSpPr>
          <p:cNvPr id="23" name="">
            <a:extLst xmlns:a="http://schemas.openxmlformats.org/drawingml/2006/main">
              <a:ext uri="{FF2B5EF4-FFF2-40B4-BE49-F238E27FC236}">
                <a16:creationId xmlns:a16="http://schemas.microsoft.com/office/drawing/2014/main" id="{9D46004C-234D-4DD5-98CC-6A5EC51A007B}"/>
              </a:ext>
            </a:extLst>
          </p:cNvPr>
          <p:cNvSpPr>
            <a:spLocks xmlns:a="http://schemas.openxmlformats.org/drawingml/2006/main" noGrp="1"/>
          </p:cNvSpPr>
          <p:nvPr/>
        </p:nvSpPr>
        <p:spPr>
          <a:xfrm xmlns:a="http://schemas.openxmlformats.org/drawingml/2006/main">
            <a:off x="8181975" y="4029075"/>
            <a:ext cx="1009650" cy="9525"/>
          </a:xfrm>
          <a:custGeom xmlns:a="http://schemas.openxmlformats.org/drawingml/2006/main">
            <a:pathLst>
              <a:path w="1009650" h="9525">
                <a:moveTo>
                  <a:pt x="0" y="0"/>
                </a:moveTo>
                <a:lnTo>
                  <a:pt x="1009650" y="0"/>
                </a:lnTo>
              </a:path>
            </a:pathLst>
          </a:custGeom>
          <a:noFill xmlns:a="http://schemas.openxmlformats.org/drawingml/2006/main"/>
          <a:ln xmlns:a="http://schemas.openxmlformats.org/drawingml/2006/main" w="19050">
            <a:solidFill>
              <a:srgbClr val="4682B4"/>
            </a:solidFill>
            <a:prstDash val="solid"/>
          </a:ln>
        </p:spPr>
      </p:sp>
      <p:sp>
        <p:nvSpPr>
          <p:cNvPr id="24" name="text-212">
            <a:extLst xmlns:a="http://schemas.openxmlformats.org/drawingml/2006/main">
              <a:ext uri="{FF2B5EF4-FFF2-40B4-BE49-F238E27FC236}">
                <a16:creationId xmlns:a16="http://schemas.microsoft.com/office/drawing/2014/main" id="{02F455D2-F81C-4EF4-92EC-89E5B0675E7C}"/>
              </a:ext>
            </a:extLst>
          </p:cNvPr>
          <p:cNvSpPr>
            <a:spLocks xmlns:a="http://schemas.openxmlformats.org/drawingml/2006/main" noGrp="1"/>
          </p:cNvSpPr>
          <p:nvPr/>
        </p:nvSpPr>
        <p:spPr>
          <a:xfrm xmlns:a="http://schemas.openxmlformats.org/drawingml/2006/main">
            <a:off x="571500" y="5753100"/>
            <a:ext cx="11049000" cy="438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Validation rows receive transform + predict only. Scaling mainly benefits logistic regression and KNN.</a:t>
            </a:r>
          </a:p>
        </p:txBody>
      </p:sp>
    </p:spTree>
    <p:extLst>
      <p:ext uri="{BB962C8B-B14F-4D97-AF65-F5344CB8AC3E}">
        <p14:creationId xmlns:p14="http://schemas.microsoft.com/office/powerpoint/2010/main" val="63854498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9A9952B7-03E5-4B23-9C7E-0577001C56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B7E3B3FE-A856-4CD7-8F5C-0BFF4F0DCEB5}"/>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66F993A1-2068-460C-AC76-1165F7FEEE0F}"/>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INITIAL MODELS</a:t>
            </a:r>
          </a:p>
        </p:txBody>
      </p:sp>
      <p:sp>
        <p:nvSpPr>
          <p:cNvPr id="4" name="text-213">
            <a:extLst xmlns:a="http://schemas.openxmlformats.org/drawingml/2006/main">
              <a:ext uri="{FF2B5EF4-FFF2-40B4-BE49-F238E27FC236}">
                <a16:creationId xmlns:a16="http://schemas.microsoft.com/office/drawing/2014/main" id="{9BA5B4D7-A35A-4E90-991F-E1FD1283D46A}"/>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No initial model wins every campaign tradeoff</a:t>
            </a:r>
          </a:p>
        </p:txBody>
      </p:sp>
      <p:sp>
        <p:nvSpPr>
          <p:cNvPr id="5" name="shape-214">
            <a:extLst xmlns:a="http://schemas.openxmlformats.org/drawingml/2006/main">
              <a:ext uri="{FF2B5EF4-FFF2-40B4-BE49-F238E27FC236}">
                <a16:creationId xmlns:a16="http://schemas.microsoft.com/office/drawing/2014/main" id="{14140DE4-AB40-47D4-8203-14A82AAFF645}"/>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215">
            <a:extLst xmlns:a="http://schemas.openxmlformats.org/drawingml/2006/main">
              <a:ext uri="{FF2B5EF4-FFF2-40B4-BE49-F238E27FC236}">
                <a16:creationId xmlns:a16="http://schemas.microsoft.com/office/drawing/2014/main" id="{43010E6B-DBA4-4503-AD3A-B0527442AF92}"/>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§5 | evaluation set, default threshold 0.50</a:t>
            </a:r>
          </a:p>
        </p:txBody>
      </p:sp>
      <p:sp>
        <p:nvSpPr>
          <p:cNvPr id="7" name="text-216">
            <a:extLst xmlns:a="http://schemas.openxmlformats.org/drawingml/2006/main">
              <a:ext uri="{FF2B5EF4-FFF2-40B4-BE49-F238E27FC236}">
                <a16:creationId xmlns:a16="http://schemas.microsoft.com/office/drawing/2014/main" id="{374B114B-C31A-4BE9-95B9-C696766156C6}"/>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12</a:t>
            </a:r>
          </a:p>
        </p:txBody>
      </p:sp>
      <p:sp>
        <p:nvSpPr>
          <p:cNvPr id="8" name="shape-217">
            <a:extLst xmlns:a="http://schemas.openxmlformats.org/drawingml/2006/main">
              <a:ext uri="{FF2B5EF4-FFF2-40B4-BE49-F238E27FC236}">
                <a16:creationId xmlns:a16="http://schemas.microsoft.com/office/drawing/2014/main" id="{64584BF1-1621-4BF7-97C9-1357CD01423D}"/>
              </a:ext>
            </a:extLst>
          </p:cNvPr>
          <p:cNvSpPr>
            <a:spLocks xmlns:a="http://schemas.openxmlformats.org/drawingml/2006/main" noGrp="1"/>
          </p:cNvSpPr>
          <p:nvPr/>
        </p:nvSpPr>
        <p:spPr>
          <a:xfrm xmlns:a="http://schemas.openxmlformats.org/drawingml/2006/main">
            <a:off x="571500" y="2200275"/>
            <a:ext cx="11049000" cy="457200"/>
          </a:xfrm>
          <a:prstGeom xmlns:a="http://schemas.openxmlformats.org/drawingml/2006/main" prst="rect">
            <a:avLst/>
          </a:prstGeom>
          <a:solidFill xmlns:a="http://schemas.openxmlformats.org/drawingml/2006/main">
            <a:srgbClr val="182D43"/>
          </a:solidFill>
          <a:ln xmlns:a="http://schemas.openxmlformats.org/drawingml/2006/main" w="0">
            <a:noFill/>
            <a:prstDash val="solid"/>
          </a:ln>
        </p:spPr>
      </p:sp>
      <p:sp>
        <p:nvSpPr>
          <p:cNvPr id="9" name="text-218">
            <a:extLst xmlns:a="http://schemas.openxmlformats.org/drawingml/2006/main">
              <a:ext uri="{FF2B5EF4-FFF2-40B4-BE49-F238E27FC236}">
                <a16:creationId xmlns:a16="http://schemas.microsoft.com/office/drawing/2014/main" id="{0422A59E-5FAA-440A-9CCB-06FCCF0DB420}"/>
              </a:ext>
            </a:extLst>
          </p:cNvPr>
          <p:cNvSpPr>
            <a:spLocks xmlns:a="http://schemas.openxmlformats.org/drawingml/2006/main" noGrp="1"/>
          </p:cNvSpPr>
          <p:nvPr/>
        </p:nvSpPr>
        <p:spPr>
          <a:xfrm xmlns:a="http://schemas.openxmlformats.org/drawingml/2006/main">
            <a:off x="685800" y="2314575"/>
            <a:ext cx="31051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Model</a:t>
            </a:r>
          </a:p>
        </p:txBody>
      </p:sp>
      <p:sp>
        <p:nvSpPr>
          <p:cNvPr id="10" name="text-219">
            <a:extLst xmlns:a="http://schemas.openxmlformats.org/drawingml/2006/main">
              <a:ext uri="{FF2B5EF4-FFF2-40B4-BE49-F238E27FC236}">
                <a16:creationId xmlns:a16="http://schemas.microsoft.com/office/drawing/2014/main" id="{59F109FB-AFF6-42CC-9C4F-811F3DE1F448}"/>
              </a:ext>
            </a:extLst>
          </p:cNvPr>
          <p:cNvSpPr>
            <a:spLocks xmlns:a="http://schemas.openxmlformats.org/drawingml/2006/main" noGrp="1"/>
          </p:cNvSpPr>
          <p:nvPr/>
        </p:nvSpPr>
        <p:spPr>
          <a:xfrm xmlns:a="http://schemas.openxmlformats.org/drawingml/2006/main">
            <a:off x="4019550" y="2314575"/>
            <a:ext cx="1152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Accuracy</a:t>
            </a:r>
          </a:p>
        </p:txBody>
      </p:sp>
      <p:sp>
        <p:nvSpPr>
          <p:cNvPr id="11" name="text-220">
            <a:extLst xmlns:a="http://schemas.openxmlformats.org/drawingml/2006/main">
              <a:ext uri="{FF2B5EF4-FFF2-40B4-BE49-F238E27FC236}">
                <a16:creationId xmlns:a16="http://schemas.microsoft.com/office/drawing/2014/main" id="{5116E2C8-FCA5-40EC-AE1F-47671D0BB832}"/>
              </a:ext>
            </a:extLst>
          </p:cNvPr>
          <p:cNvSpPr>
            <a:spLocks xmlns:a="http://schemas.openxmlformats.org/drawingml/2006/main" noGrp="1"/>
          </p:cNvSpPr>
          <p:nvPr/>
        </p:nvSpPr>
        <p:spPr>
          <a:xfrm xmlns:a="http://schemas.openxmlformats.org/drawingml/2006/main">
            <a:off x="5400675" y="2314575"/>
            <a:ext cx="124777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Precision</a:t>
            </a:r>
          </a:p>
        </p:txBody>
      </p:sp>
      <p:sp>
        <p:nvSpPr>
          <p:cNvPr id="12" name="text-221">
            <a:extLst xmlns:a="http://schemas.openxmlformats.org/drawingml/2006/main">
              <a:ext uri="{FF2B5EF4-FFF2-40B4-BE49-F238E27FC236}">
                <a16:creationId xmlns:a16="http://schemas.microsoft.com/office/drawing/2014/main" id="{49CD868C-BC92-4499-9C29-581D9EB37F22}"/>
              </a:ext>
            </a:extLst>
          </p:cNvPr>
          <p:cNvSpPr>
            <a:spLocks xmlns:a="http://schemas.openxmlformats.org/drawingml/2006/main" noGrp="1"/>
          </p:cNvSpPr>
          <p:nvPr/>
        </p:nvSpPr>
        <p:spPr>
          <a:xfrm xmlns:a="http://schemas.openxmlformats.org/drawingml/2006/main">
            <a:off x="6877050" y="2314575"/>
            <a:ext cx="1152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Recall</a:t>
            </a:r>
          </a:p>
        </p:txBody>
      </p:sp>
      <p:sp>
        <p:nvSpPr>
          <p:cNvPr id="13" name="text-222">
            <a:extLst xmlns:a="http://schemas.openxmlformats.org/drawingml/2006/main">
              <a:ext uri="{FF2B5EF4-FFF2-40B4-BE49-F238E27FC236}">
                <a16:creationId xmlns:a16="http://schemas.microsoft.com/office/drawing/2014/main" id="{86EB0672-A637-4486-BA30-5CF0B2E18281}"/>
              </a:ext>
            </a:extLst>
          </p:cNvPr>
          <p:cNvSpPr>
            <a:spLocks xmlns:a="http://schemas.openxmlformats.org/drawingml/2006/main" noGrp="1"/>
          </p:cNvSpPr>
          <p:nvPr/>
        </p:nvSpPr>
        <p:spPr>
          <a:xfrm xmlns:a="http://schemas.openxmlformats.org/drawingml/2006/main">
            <a:off x="8258175" y="2314575"/>
            <a:ext cx="1152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F1</a:t>
            </a:r>
          </a:p>
        </p:txBody>
      </p:sp>
      <p:sp>
        <p:nvSpPr>
          <p:cNvPr id="14" name="text-223">
            <a:extLst xmlns:a="http://schemas.openxmlformats.org/drawingml/2006/main">
              <a:ext uri="{FF2B5EF4-FFF2-40B4-BE49-F238E27FC236}">
                <a16:creationId xmlns:a16="http://schemas.microsoft.com/office/drawing/2014/main" id="{F8C934FA-810D-4240-9F21-FB529FF91B78}"/>
              </a:ext>
            </a:extLst>
          </p:cNvPr>
          <p:cNvSpPr>
            <a:spLocks xmlns:a="http://schemas.openxmlformats.org/drawingml/2006/main" noGrp="1"/>
          </p:cNvSpPr>
          <p:nvPr/>
        </p:nvSpPr>
        <p:spPr>
          <a:xfrm xmlns:a="http://schemas.openxmlformats.org/drawingml/2006/main">
            <a:off x="9639300" y="2314575"/>
            <a:ext cx="12954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AP</a:t>
            </a:r>
          </a:p>
        </p:txBody>
      </p:sp>
      <p:sp>
        <p:nvSpPr>
          <p:cNvPr id="15" name="text-224">
            <a:extLst xmlns:a="http://schemas.openxmlformats.org/drawingml/2006/main">
              <a:ext uri="{FF2B5EF4-FFF2-40B4-BE49-F238E27FC236}">
                <a16:creationId xmlns:a16="http://schemas.microsoft.com/office/drawing/2014/main" id="{B0C478B3-026E-49F4-B03D-A0CB886EAEA9}"/>
              </a:ext>
            </a:extLst>
          </p:cNvPr>
          <p:cNvSpPr>
            <a:spLocks xmlns:a="http://schemas.openxmlformats.org/drawingml/2006/main" noGrp="1"/>
          </p:cNvSpPr>
          <p:nvPr/>
        </p:nvSpPr>
        <p:spPr>
          <a:xfrm xmlns:a="http://schemas.openxmlformats.org/drawingml/2006/main">
            <a:off x="685800" y="2771775"/>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Dummy</a:t>
            </a:r>
          </a:p>
        </p:txBody>
      </p:sp>
      <p:sp>
        <p:nvSpPr>
          <p:cNvPr id="16" name="text-225">
            <a:extLst xmlns:a="http://schemas.openxmlformats.org/drawingml/2006/main">
              <a:ext uri="{FF2B5EF4-FFF2-40B4-BE49-F238E27FC236}">
                <a16:creationId xmlns:a16="http://schemas.microsoft.com/office/drawing/2014/main" id="{6387F460-BD3F-4AC7-8E7C-BD62BDFD57EF}"/>
              </a:ext>
            </a:extLst>
          </p:cNvPr>
          <p:cNvSpPr>
            <a:spLocks xmlns:a="http://schemas.openxmlformats.org/drawingml/2006/main" noGrp="1"/>
          </p:cNvSpPr>
          <p:nvPr/>
        </p:nvSpPr>
        <p:spPr>
          <a:xfrm xmlns:a="http://schemas.openxmlformats.org/drawingml/2006/main">
            <a:off x="4019550" y="27717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.850</a:t>
            </a:r>
          </a:p>
        </p:txBody>
      </p:sp>
      <p:sp>
        <p:nvSpPr>
          <p:cNvPr id="17" name="text-226">
            <a:extLst xmlns:a="http://schemas.openxmlformats.org/drawingml/2006/main">
              <a:ext uri="{FF2B5EF4-FFF2-40B4-BE49-F238E27FC236}">
                <a16:creationId xmlns:a16="http://schemas.microsoft.com/office/drawing/2014/main" id="{0E9C5F58-5B5E-4300-AAEE-06C632797A26}"/>
              </a:ext>
            </a:extLst>
          </p:cNvPr>
          <p:cNvSpPr>
            <a:spLocks xmlns:a="http://schemas.openxmlformats.org/drawingml/2006/main" noGrp="1"/>
          </p:cNvSpPr>
          <p:nvPr/>
        </p:nvSpPr>
        <p:spPr>
          <a:xfrm xmlns:a="http://schemas.openxmlformats.org/drawingml/2006/main">
            <a:off x="5400675" y="2771775"/>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.000</a:t>
            </a:r>
          </a:p>
        </p:txBody>
      </p:sp>
      <p:sp>
        <p:nvSpPr>
          <p:cNvPr id="18" name="text-227">
            <a:extLst xmlns:a="http://schemas.openxmlformats.org/drawingml/2006/main">
              <a:ext uri="{FF2B5EF4-FFF2-40B4-BE49-F238E27FC236}">
                <a16:creationId xmlns:a16="http://schemas.microsoft.com/office/drawing/2014/main" id="{D8CE73DC-8334-4028-A045-F059882000D0}"/>
              </a:ext>
            </a:extLst>
          </p:cNvPr>
          <p:cNvSpPr>
            <a:spLocks xmlns:a="http://schemas.openxmlformats.org/drawingml/2006/main" noGrp="1"/>
          </p:cNvSpPr>
          <p:nvPr/>
        </p:nvSpPr>
        <p:spPr>
          <a:xfrm xmlns:a="http://schemas.openxmlformats.org/drawingml/2006/main">
            <a:off x="6877050" y="27717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.000</a:t>
            </a:r>
          </a:p>
        </p:txBody>
      </p:sp>
      <p:sp>
        <p:nvSpPr>
          <p:cNvPr id="19" name="text-228">
            <a:extLst xmlns:a="http://schemas.openxmlformats.org/drawingml/2006/main">
              <a:ext uri="{FF2B5EF4-FFF2-40B4-BE49-F238E27FC236}">
                <a16:creationId xmlns:a16="http://schemas.microsoft.com/office/drawing/2014/main" id="{A4228B3C-B58B-4079-9672-670B7A37FB1A}"/>
              </a:ext>
            </a:extLst>
          </p:cNvPr>
          <p:cNvSpPr>
            <a:spLocks xmlns:a="http://schemas.openxmlformats.org/drawingml/2006/main" noGrp="1"/>
          </p:cNvSpPr>
          <p:nvPr/>
        </p:nvSpPr>
        <p:spPr>
          <a:xfrm xmlns:a="http://schemas.openxmlformats.org/drawingml/2006/main">
            <a:off x="8258175" y="27717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.000</a:t>
            </a:r>
          </a:p>
        </p:txBody>
      </p:sp>
      <p:sp>
        <p:nvSpPr>
          <p:cNvPr id="20" name="text-229">
            <a:extLst xmlns:a="http://schemas.openxmlformats.org/drawingml/2006/main">
              <a:ext uri="{FF2B5EF4-FFF2-40B4-BE49-F238E27FC236}">
                <a16:creationId xmlns:a16="http://schemas.microsoft.com/office/drawing/2014/main" id="{EE754403-0CFB-408C-A554-67E084A96532}"/>
              </a:ext>
            </a:extLst>
          </p:cNvPr>
          <p:cNvSpPr>
            <a:spLocks xmlns:a="http://schemas.openxmlformats.org/drawingml/2006/main" noGrp="1"/>
          </p:cNvSpPr>
          <p:nvPr/>
        </p:nvSpPr>
        <p:spPr>
          <a:xfrm xmlns:a="http://schemas.openxmlformats.org/drawingml/2006/main">
            <a:off x="9639300" y="277177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.150</a:t>
            </a:r>
          </a:p>
        </p:txBody>
      </p:sp>
      <p:sp>
        <p:nvSpPr>
          <p:cNvPr id="21" name="shape-230">
            <a:extLst xmlns:a="http://schemas.openxmlformats.org/drawingml/2006/main">
              <a:ext uri="{FF2B5EF4-FFF2-40B4-BE49-F238E27FC236}">
                <a16:creationId xmlns:a16="http://schemas.microsoft.com/office/drawing/2014/main" id="{5CC051A9-0BAF-4792-93BE-8D3ABD4E8CA8}"/>
              </a:ext>
            </a:extLst>
          </p:cNvPr>
          <p:cNvSpPr>
            <a:spLocks xmlns:a="http://schemas.openxmlformats.org/drawingml/2006/main" noGrp="1"/>
          </p:cNvSpPr>
          <p:nvPr/>
        </p:nvSpPr>
        <p:spPr>
          <a:xfrm xmlns:a="http://schemas.openxmlformats.org/drawingml/2006/main">
            <a:off x="571500" y="314325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2" name="text-231">
            <a:extLst xmlns:a="http://schemas.openxmlformats.org/drawingml/2006/main">
              <a:ext uri="{FF2B5EF4-FFF2-40B4-BE49-F238E27FC236}">
                <a16:creationId xmlns:a16="http://schemas.microsoft.com/office/drawing/2014/main" id="{F553A31A-64CF-47B0-A648-B37ACA9984A3}"/>
              </a:ext>
            </a:extLst>
          </p:cNvPr>
          <p:cNvSpPr>
            <a:spLocks xmlns:a="http://schemas.openxmlformats.org/drawingml/2006/main" noGrp="1"/>
          </p:cNvSpPr>
          <p:nvPr/>
        </p:nvSpPr>
        <p:spPr>
          <a:xfrm xmlns:a="http://schemas.openxmlformats.org/drawingml/2006/main">
            <a:off x="685800" y="3257550"/>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Logistic regression</a:t>
            </a:r>
          </a:p>
        </p:txBody>
      </p:sp>
      <p:sp>
        <p:nvSpPr>
          <p:cNvPr id="23" name="text-232">
            <a:extLst xmlns:a="http://schemas.openxmlformats.org/drawingml/2006/main">
              <a:ext uri="{FF2B5EF4-FFF2-40B4-BE49-F238E27FC236}">
                <a16:creationId xmlns:a16="http://schemas.microsoft.com/office/drawing/2014/main" id="{27870C31-8CD8-4523-A548-2E1D8E626211}"/>
              </a:ext>
            </a:extLst>
          </p:cNvPr>
          <p:cNvSpPr>
            <a:spLocks xmlns:a="http://schemas.openxmlformats.org/drawingml/2006/main" noGrp="1"/>
          </p:cNvSpPr>
          <p:nvPr/>
        </p:nvSpPr>
        <p:spPr>
          <a:xfrm xmlns:a="http://schemas.openxmlformats.org/drawingml/2006/main">
            <a:off x="4019550" y="325755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.812</a:t>
            </a:r>
          </a:p>
        </p:txBody>
      </p:sp>
      <p:sp>
        <p:nvSpPr>
          <p:cNvPr id="24" name="text-233">
            <a:extLst xmlns:a="http://schemas.openxmlformats.org/drawingml/2006/main">
              <a:ext uri="{FF2B5EF4-FFF2-40B4-BE49-F238E27FC236}">
                <a16:creationId xmlns:a16="http://schemas.microsoft.com/office/drawing/2014/main" id="{896BFBA1-DD3F-420B-A7A8-E5C625439DE0}"/>
              </a:ext>
            </a:extLst>
          </p:cNvPr>
          <p:cNvSpPr>
            <a:spLocks xmlns:a="http://schemas.openxmlformats.org/drawingml/2006/main" noGrp="1"/>
          </p:cNvSpPr>
          <p:nvPr/>
        </p:nvSpPr>
        <p:spPr>
          <a:xfrm xmlns:a="http://schemas.openxmlformats.org/drawingml/2006/main">
            <a:off x="5400675" y="3257550"/>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.427</a:t>
            </a:r>
          </a:p>
        </p:txBody>
      </p:sp>
      <p:sp>
        <p:nvSpPr>
          <p:cNvPr id="25" name="text-234">
            <a:extLst xmlns:a="http://schemas.openxmlformats.org/drawingml/2006/main">
              <a:ext uri="{FF2B5EF4-FFF2-40B4-BE49-F238E27FC236}">
                <a16:creationId xmlns:a16="http://schemas.microsoft.com/office/drawing/2014/main" id="{D77AD6C8-B9BD-4510-BAEA-5242E9EBB100}"/>
              </a:ext>
            </a:extLst>
          </p:cNvPr>
          <p:cNvSpPr>
            <a:spLocks xmlns:a="http://schemas.openxmlformats.org/drawingml/2006/main" noGrp="1"/>
          </p:cNvSpPr>
          <p:nvPr/>
        </p:nvSpPr>
        <p:spPr>
          <a:xfrm xmlns:a="http://schemas.openxmlformats.org/drawingml/2006/main">
            <a:off x="6877050" y="325755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.746</a:t>
            </a:r>
          </a:p>
        </p:txBody>
      </p:sp>
      <p:sp>
        <p:nvSpPr>
          <p:cNvPr id="26" name="text-235">
            <a:extLst xmlns:a="http://schemas.openxmlformats.org/drawingml/2006/main">
              <a:ext uri="{FF2B5EF4-FFF2-40B4-BE49-F238E27FC236}">
                <a16:creationId xmlns:a16="http://schemas.microsoft.com/office/drawing/2014/main" id="{2320586B-C095-4974-ADBF-199E44D148B7}"/>
              </a:ext>
            </a:extLst>
          </p:cNvPr>
          <p:cNvSpPr>
            <a:spLocks xmlns:a="http://schemas.openxmlformats.org/drawingml/2006/main" noGrp="1"/>
          </p:cNvSpPr>
          <p:nvPr/>
        </p:nvSpPr>
        <p:spPr>
          <a:xfrm xmlns:a="http://schemas.openxmlformats.org/drawingml/2006/main">
            <a:off x="8258175" y="325755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.543</a:t>
            </a:r>
          </a:p>
        </p:txBody>
      </p:sp>
      <p:sp>
        <p:nvSpPr>
          <p:cNvPr id="27" name="text-236">
            <a:extLst xmlns:a="http://schemas.openxmlformats.org/drawingml/2006/main">
              <a:ext uri="{FF2B5EF4-FFF2-40B4-BE49-F238E27FC236}">
                <a16:creationId xmlns:a16="http://schemas.microsoft.com/office/drawing/2014/main" id="{1D1D3709-716B-4D8A-B255-9F8D42EAC064}"/>
              </a:ext>
            </a:extLst>
          </p:cNvPr>
          <p:cNvSpPr>
            <a:spLocks xmlns:a="http://schemas.openxmlformats.org/drawingml/2006/main" noGrp="1"/>
          </p:cNvSpPr>
          <p:nvPr/>
        </p:nvSpPr>
        <p:spPr>
          <a:xfrm xmlns:a="http://schemas.openxmlformats.org/drawingml/2006/main">
            <a:off x="9639300" y="3257550"/>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.624</a:t>
            </a:r>
          </a:p>
        </p:txBody>
      </p:sp>
      <p:sp>
        <p:nvSpPr>
          <p:cNvPr id="28" name="shape-237">
            <a:extLst xmlns:a="http://schemas.openxmlformats.org/drawingml/2006/main">
              <a:ext uri="{FF2B5EF4-FFF2-40B4-BE49-F238E27FC236}">
                <a16:creationId xmlns:a16="http://schemas.microsoft.com/office/drawing/2014/main" id="{9DF44B9C-2FB1-45C5-9860-09D577ADB699}"/>
              </a:ext>
            </a:extLst>
          </p:cNvPr>
          <p:cNvSpPr>
            <a:spLocks xmlns:a="http://schemas.openxmlformats.org/drawingml/2006/main" noGrp="1"/>
          </p:cNvSpPr>
          <p:nvPr/>
        </p:nvSpPr>
        <p:spPr>
          <a:xfrm xmlns:a="http://schemas.openxmlformats.org/drawingml/2006/main">
            <a:off x="571500" y="362902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9" name="text-238">
            <a:extLst xmlns:a="http://schemas.openxmlformats.org/drawingml/2006/main">
              <a:ext uri="{FF2B5EF4-FFF2-40B4-BE49-F238E27FC236}">
                <a16:creationId xmlns:a16="http://schemas.microsoft.com/office/drawing/2014/main" id="{8FC3D8AB-F6F2-4C6D-A690-250DD4B01365}"/>
              </a:ext>
            </a:extLst>
          </p:cNvPr>
          <p:cNvSpPr>
            <a:spLocks xmlns:a="http://schemas.openxmlformats.org/drawingml/2006/main" noGrp="1"/>
          </p:cNvSpPr>
          <p:nvPr/>
        </p:nvSpPr>
        <p:spPr>
          <a:xfrm xmlns:a="http://schemas.openxmlformats.org/drawingml/2006/main">
            <a:off x="685800" y="3743325"/>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Decision tree</a:t>
            </a:r>
          </a:p>
        </p:txBody>
      </p:sp>
      <p:sp>
        <p:nvSpPr>
          <p:cNvPr id="30" name="text-239">
            <a:extLst xmlns:a="http://schemas.openxmlformats.org/drawingml/2006/main">
              <a:ext uri="{FF2B5EF4-FFF2-40B4-BE49-F238E27FC236}">
                <a16:creationId xmlns:a16="http://schemas.microsoft.com/office/drawing/2014/main" id="{477C23DE-AE94-430B-99A8-4C3C72BF4B67}"/>
              </a:ext>
            </a:extLst>
          </p:cNvPr>
          <p:cNvSpPr>
            <a:spLocks xmlns:a="http://schemas.openxmlformats.org/drawingml/2006/main" noGrp="1"/>
          </p:cNvSpPr>
          <p:nvPr/>
        </p:nvSpPr>
        <p:spPr>
          <a:xfrm xmlns:a="http://schemas.openxmlformats.org/drawingml/2006/main">
            <a:off x="4019550" y="374332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.717</a:t>
            </a:r>
          </a:p>
        </p:txBody>
      </p:sp>
      <p:sp>
        <p:nvSpPr>
          <p:cNvPr id="31" name="text-240">
            <a:extLst xmlns:a="http://schemas.openxmlformats.org/drawingml/2006/main">
              <a:ext uri="{FF2B5EF4-FFF2-40B4-BE49-F238E27FC236}">
                <a16:creationId xmlns:a16="http://schemas.microsoft.com/office/drawing/2014/main" id="{C1E9441D-5272-4710-860B-EC229282750A}"/>
              </a:ext>
            </a:extLst>
          </p:cNvPr>
          <p:cNvSpPr>
            <a:spLocks xmlns:a="http://schemas.openxmlformats.org/drawingml/2006/main" noGrp="1"/>
          </p:cNvSpPr>
          <p:nvPr/>
        </p:nvSpPr>
        <p:spPr>
          <a:xfrm xmlns:a="http://schemas.openxmlformats.org/drawingml/2006/main">
            <a:off x="5400675" y="3743325"/>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.319</a:t>
            </a:r>
          </a:p>
        </p:txBody>
      </p:sp>
      <p:sp>
        <p:nvSpPr>
          <p:cNvPr id="32" name="text-241">
            <a:extLst xmlns:a="http://schemas.openxmlformats.org/drawingml/2006/main">
              <a:ext uri="{FF2B5EF4-FFF2-40B4-BE49-F238E27FC236}">
                <a16:creationId xmlns:a16="http://schemas.microsoft.com/office/drawing/2014/main" id="{B67BC000-6286-4405-9A48-3C269B4F123A}"/>
              </a:ext>
            </a:extLst>
          </p:cNvPr>
          <p:cNvSpPr>
            <a:spLocks xmlns:a="http://schemas.openxmlformats.org/drawingml/2006/main" noGrp="1"/>
          </p:cNvSpPr>
          <p:nvPr/>
        </p:nvSpPr>
        <p:spPr>
          <a:xfrm xmlns:a="http://schemas.openxmlformats.org/drawingml/2006/main">
            <a:off x="6877050" y="374332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.791</a:t>
            </a:r>
          </a:p>
        </p:txBody>
      </p:sp>
      <p:sp>
        <p:nvSpPr>
          <p:cNvPr id="33" name="text-242">
            <a:extLst xmlns:a="http://schemas.openxmlformats.org/drawingml/2006/main">
              <a:ext uri="{FF2B5EF4-FFF2-40B4-BE49-F238E27FC236}">
                <a16:creationId xmlns:a16="http://schemas.microsoft.com/office/drawing/2014/main" id="{3CCF3DBB-3D88-4643-926B-9813B6856DC8}"/>
              </a:ext>
            </a:extLst>
          </p:cNvPr>
          <p:cNvSpPr>
            <a:spLocks xmlns:a="http://schemas.openxmlformats.org/drawingml/2006/main" noGrp="1"/>
          </p:cNvSpPr>
          <p:nvPr/>
        </p:nvSpPr>
        <p:spPr>
          <a:xfrm xmlns:a="http://schemas.openxmlformats.org/drawingml/2006/main">
            <a:off x="8258175" y="374332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.455</a:t>
            </a:r>
          </a:p>
        </p:txBody>
      </p:sp>
      <p:sp>
        <p:nvSpPr>
          <p:cNvPr id="34" name="text-243">
            <a:extLst xmlns:a="http://schemas.openxmlformats.org/drawingml/2006/main">
              <a:ext uri="{FF2B5EF4-FFF2-40B4-BE49-F238E27FC236}">
                <a16:creationId xmlns:a16="http://schemas.microsoft.com/office/drawing/2014/main" id="{1BF37E83-2758-42EF-B901-A618E594013C}"/>
              </a:ext>
            </a:extLst>
          </p:cNvPr>
          <p:cNvSpPr>
            <a:spLocks xmlns:a="http://schemas.openxmlformats.org/drawingml/2006/main" noGrp="1"/>
          </p:cNvSpPr>
          <p:nvPr/>
        </p:nvSpPr>
        <p:spPr>
          <a:xfrm xmlns:a="http://schemas.openxmlformats.org/drawingml/2006/main">
            <a:off x="9639300" y="374332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.437</a:t>
            </a:r>
          </a:p>
        </p:txBody>
      </p:sp>
      <p:sp>
        <p:nvSpPr>
          <p:cNvPr id="35" name="shape-244">
            <a:extLst xmlns:a="http://schemas.openxmlformats.org/drawingml/2006/main">
              <a:ext uri="{FF2B5EF4-FFF2-40B4-BE49-F238E27FC236}">
                <a16:creationId xmlns:a16="http://schemas.microsoft.com/office/drawing/2014/main" id="{79DB7CFB-60F1-4E0B-8A7F-2FD0BB1599B2}"/>
              </a:ext>
            </a:extLst>
          </p:cNvPr>
          <p:cNvSpPr>
            <a:spLocks xmlns:a="http://schemas.openxmlformats.org/drawingml/2006/main" noGrp="1"/>
          </p:cNvSpPr>
          <p:nvPr/>
        </p:nvSpPr>
        <p:spPr>
          <a:xfrm xmlns:a="http://schemas.openxmlformats.org/drawingml/2006/main">
            <a:off x="571500" y="41148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36" name="text-245">
            <a:extLst xmlns:a="http://schemas.openxmlformats.org/drawingml/2006/main">
              <a:ext uri="{FF2B5EF4-FFF2-40B4-BE49-F238E27FC236}">
                <a16:creationId xmlns:a16="http://schemas.microsoft.com/office/drawing/2014/main" id="{8756FA47-94A6-4143-BCA9-9802DD87DB41}"/>
              </a:ext>
            </a:extLst>
          </p:cNvPr>
          <p:cNvSpPr>
            <a:spLocks xmlns:a="http://schemas.openxmlformats.org/drawingml/2006/main" noGrp="1"/>
          </p:cNvSpPr>
          <p:nvPr/>
        </p:nvSpPr>
        <p:spPr>
          <a:xfrm xmlns:a="http://schemas.openxmlformats.org/drawingml/2006/main">
            <a:off x="685800" y="4229100"/>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Random forest</a:t>
            </a:r>
          </a:p>
        </p:txBody>
      </p:sp>
      <p:sp>
        <p:nvSpPr>
          <p:cNvPr id="37" name="text-246">
            <a:extLst xmlns:a="http://schemas.openxmlformats.org/drawingml/2006/main">
              <a:ext uri="{FF2B5EF4-FFF2-40B4-BE49-F238E27FC236}">
                <a16:creationId xmlns:a16="http://schemas.microsoft.com/office/drawing/2014/main" id="{BEBD60F3-2C33-437C-AC3E-CA9FFB9B7D7B}"/>
              </a:ext>
            </a:extLst>
          </p:cNvPr>
          <p:cNvSpPr>
            <a:spLocks xmlns:a="http://schemas.openxmlformats.org/drawingml/2006/main" noGrp="1"/>
          </p:cNvSpPr>
          <p:nvPr/>
        </p:nvSpPr>
        <p:spPr>
          <a:xfrm xmlns:a="http://schemas.openxmlformats.org/drawingml/2006/main">
            <a:off x="4019550" y="422910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.862</a:t>
            </a:r>
          </a:p>
        </p:txBody>
      </p:sp>
      <p:sp>
        <p:nvSpPr>
          <p:cNvPr id="38" name="text-247">
            <a:extLst xmlns:a="http://schemas.openxmlformats.org/drawingml/2006/main">
              <a:ext uri="{FF2B5EF4-FFF2-40B4-BE49-F238E27FC236}">
                <a16:creationId xmlns:a16="http://schemas.microsoft.com/office/drawing/2014/main" id="{39EB1D21-2B5C-449C-9282-B723D760580C}"/>
              </a:ext>
            </a:extLst>
          </p:cNvPr>
          <p:cNvSpPr>
            <a:spLocks xmlns:a="http://schemas.openxmlformats.org/drawingml/2006/main" noGrp="1"/>
          </p:cNvSpPr>
          <p:nvPr/>
        </p:nvSpPr>
        <p:spPr>
          <a:xfrm xmlns:a="http://schemas.openxmlformats.org/drawingml/2006/main">
            <a:off x="5400675" y="4229100"/>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.600</a:t>
            </a:r>
          </a:p>
        </p:txBody>
      </p:sp>
      <p:sp>
        <p:nvSpPr>
          <p:cNvPr id="39" name="text-248">
            <a:extLst xmlns:a="http://schemas.openxmlformats.org/drawingml/2006/main">
              <a:ext uri="{FF2B5EF4-FFF2-40B4-BE49-F238E27FC236}">
                <a16:creationId xmlns:a16="http://schemas.microsoft.com/office/drawing/2014/main" id="{76514C66-13EF-4D40-9F95-4079968F1D1C}"/>
              </a:ext>
            </a:extLst>
          </p:cNvPr>
          <p:cNvSpPr>
            <a:spLocks xmlns:a="http://schemas.openxmlformats.org/drawingml/2006/main" noGrp="1"/>
          </p:cNvSpPr>
          <p:nvPr/>
        </p:nvSpPr>
        <p:spPr>
          <a:xfrm xmlns:a="http://schemas.openxmlformats.org/drawingml/2006/main">
            <a:off x="6877050" y="422910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.224</a:t>
            </a:r>
          </a:p>
        </p:txBody>
      </p:sp>
      <p:sp>
        <p:nvSpPr>
          <p:cNvPr id="40" name="text-249">
            <a:extLst xmlns:a="http://schemas.openxmlformats.org/drawingml/2006/main">
              <a:ext uri="{FF2B5EF4-FFF2-40B4-BE49-F238E27FC236}">
                <a16:creationId xmlns:a16="http://schemas.microsoft.com/office/drawing/2014/main" id="{E41AF884-AB57-4B10-9024-73CBD8A6A27B}"/>
              </a:ext>
            </a:extLst>
          </p:cNvPr>
          <p:cNvSpPr>
            <a:spLocks xmlns:a="http://schemas.openxmlformats.org/drawingml/2006/main" noGrp="1"/>
          </p:cNvSpPr>
          <p:nvPr/>
        </p:nvSpPr>
        <p:spPr>
          <a:xfrm xmlns:a="http://schemas.openxmlformats.org/drawingml/2006/main">
            <a:off x="8258175" y="422910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.326</a:t>
            </a:r>
          </a:p>
        </p:txBody>
      </p:sp>
      <p:sp>
        <p:nvSpPr>
          <p:cNvPr id="41" name="text-250">
            <a:extLst xmlns:a="http://schemas.openxmlformats.org/drawingml/2006/main">
              <a:ext uri="{FF2B5EF4-FFF2-40B4-BE49-F238E27FC236}">
                <a16:creationId xmlns:a16="http://schemas.microsoft.com/office/drawing/2014/main" id="{5EA5C677-A2EA-4635-AC0B-FD0C81E58C90}"/>
              </a:ext>
            </a:extLst>
          </p:cNvPr>
          <p:cNvSpPr>
            <a:spLocks xmlns:a="http://schemas.openxmlformats.org/drawingml/2006/main" noGrp="1"/>
          </p:cNvSpPr>
          <p:nvPr/>
        </p:nvSpPr>
        <p:spPr>
          <a:xfrm xmlns:a="http://schemas.openxmlformats.org/drawingml/2006/main">
            <a:off x="9639300" y="4229100"/>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.542</a:t>
            </a:r>
          </a:p>
        </p:txBody>
      </p:sp>
      <p:sp>
        <p:nvSpPr>
          <p:cNvPr id="42" name="shape-251">
            <a:extLst xmlns:a="http://schemas.openxmlformats.org/drawingml/2006/main">
              <a:ext uri="{FF2B5EF4-FFF2-40B4-BE49-F238E27FC236}">
                <a16:creationId xmlns:a16="http://schemas.microsoft.com/office/drawing/2014/main" id="{5EEEAD23-1C17-4EE6-BFA3-0AB51E88AE6D}"/>
              </a:ext>
            </a:extLst>
          </p:cNvPr>
          <p:cNvSpPr>
            <a:spLocks xmlns:a="http://schemas.openxmlformats.org/drawingml/2006/main" noGrp="1"/>
          </p:cNvSpPr>
          <p:nvPr/>
        </p:nvSpPr>
        <p:spPr>
          <a:xfrm xmlns:a="http://schemas.openxmlformats.org/drawingml/2006/main">
            <a:off x="571500" y="460057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43" name="text-252">
            <a:extLst xmlns:a="http://schemas.openxmlformats.org/drawingml/2006/main">
              <a:ext uri="{FF2B5EF4-FFF2-40B4-BE49-F238E27FC236}">
                <a16:creationId xmlns:a16="http://schemas.microsoft.com/office/drawing/2014/main" id="{5F362A7A-845F-405D-83A4-7F1F82AABBD7}"/>
              </a:ext>
            </a:extLst>
          </p:cNvPr>
          <p:cNvSpPr>
            <a:spLocks xmlns:a="http://schemas.openxmlformats.org/drawingml/2006/main" noGrp="1"/>
          </p:cNvSpPr>
          <p:nvPr/>
        </p:nvSpPr>
        <p:spPr>
          <a:xfrm xmlns:a="http://schemas.openxmlformats.org/drawingml/2006/main">
            <a:off x="685800" y="4714875"/>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KNN</a:t>
            </a:r>
          </a:p>
        </p:txBody>
      </p:sp>
      <p:sp>
        <p:nvSpPr>
          <p:cNvPr id="44" name="text-253">
            <a:extLst xmlns:a="http://schemas.openxmlformats.org/drawingml/2006/main">
              <a:ext uri="{FF2B5EF4-FFF2-40B4-BE49-F238E27FC236}">
                <a16:creationId xmlns:a16="http://schemas.microsoft.com/office/drawing/2014/main" id="{21926AD3-7428-457C-B7E3-3E6458017EB0}"/>
              </a:ext>
            </a:extLst>
          </p:cNvPr>
          <p:cNvSpPr>
            <a:spLocks xmlns:a="http://schemas.openxmlformats.org/drawingml/2006/main" noGrp="1"/>
          </p:cNvSpPr>
          <p:nvPr/>
        </p:nvSpPr>
        <p:spPr>
          <a:xfrm xmlns:a="http://schemas.openxmlformats.org/drawingml/2006/main">
            <a:off x="4019550" y="47148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.859</a:t>
            </a:r>
          </a:p>
        </p:txBody>
      </p:sp>
      <p:sp>
        <p:nvSpPr>
          <p:cNvPr id="45" name="text-254">
            <a:extLst xmlns:a="http://schemas.openxmlformats.org/drawingml/2006/main">
              <a:ext uri="{FF2B5EF4-FFF2-40B4-BE49-F238E27FC236}">
                <a16:creationId xmlns:a16="http://schemas.microsoft.com/office/drawing/2014/main" id="{2B97047B-4329-4713-B6B1-C9EDC34C1A88}"/>
              </a:ext>
            </a:extLst>
          </p:cNvPr>
          <p:cNvSpPr>
            <a:spLocks xmlns:a="http://schemas.openxmlformats.org/drawingml/2006/main" noGrp="1"/>
          </p:cNvSpPr>
          <p:nvPr/>
        </p:nvSpPr>
        <p:spPr>
          <a:xfrm xmlns:a="http://schemas.openxmlformats.org/drawingml/2006/main">
            <a:off x="5400675" y="4714875"/>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.600</a:t>
            </a:r>
          </a:p>
        </p:txBody>
      </p:sp>
      <p:sp>
        <p:nvSpPr>
          <p:cNvPr id="46" name="text-255">
            <a:extLst xmlns:a="http://schemas.openxmlformats.org/drawingml/2006/main">
              <a:ext uri="{FF2B5EF4-FFF2-40B4-BE49-F238E27FC236}">
                <a16:creationId xmlns:a16="http://schemas.microsoft.com/office/drawing/2014/main" id="{86EA83FE-AA00-4F80-A658-68D5F78036F3}"/>
              </a:ext>
            </a:extLst>
          </p:cNvPr>
          <p:cNvSpPr>
            <a:spLocks xmlns:a="http://schemas.openxmlformats.org/drawingml/2006/main" noGrp="1"/>
          </p:cNvSpPr>
          <p:nvPr/>
        </p:nvSpPr>
        <p:spPr>
          <a:xfrm xmlns:a="http://schemas.openxmlformats.org/drawingml/2006/main">
            <a:off x="6877050" y="47148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.179</a:t>
            </a:r>
          </a:p>
        </p:txBody>
      </p:sp>
      <p:sp>
        <p:nvSpPr>
          <p:cNvPr id="47" name="text-256">
            <a:extLst xmlns:a="http://schemas.openxmlformats.org/drawingml/2006/main">
              <a:ext uri="{FF2B5EF4-FFF2-40B4-BE49-F238E27FC236}">
                <a16:creationId xmlns:a16="http://schemas.microsoft.com/office/drawing/2014/main" id="{4E9B2A4D-B017-4151-A79F-DE87CE380C43}"/>
              </a:ext>
            </a:extLst>
          </p:cNvPr>
          <p:cNvSpPr>
            <a:spLocks xmlns:a="http://schemas.openxmlformats.org/drawingml/2006/main" noGrp="1"/>
          </p:cNvSpPr>
          <p:nvPr/>
        </p:nvSpPr>
        <p:spPr>
          <a:xfrm xmlns:a="http://schemas.openxmlformats.org/drawingml/2006/main">
            <a:off x="8258175" y="47148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.276</a:t>
            </a:r>
          </a:p>
        </p:txBody>
      </p:sp>
      <p:sp>
        <p:nvSpPr>
          <p:cNvPr id="48" name="text-257">
            <a:extLst xmlns:a="http://schemas.openxmlformats.org/drawingml/2006/main">
              <a:ext uri="{FF2B5EF4-FFF2-40B4-BE49-F238E27FC236}">
                <a16:creationId xmlns:a16="http://schemas.microsoft.com/office/drawing/2014/main" id="{5552A8CE-B839-4EDB-A1E2-BC6C1BA75EC4}"/>
              </a:ext>
            </a:extLst>
          </p:cNvPr>
          <p:cNvSpPr>
            <a:spLocks xmlns:a="http://schemas.openxmlformats.org/drawingml/2006/main" noGrp="1"/>
          </p:cNvSpPr>
          <p:nvPr/>
        </p:nvSpPr>
        <p:spPr>
          <a:xfrm xmlns:a="http://schemas.openxmlformats.org/drawingml/2006/main">
            <a:off x="9639300" y="471487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.376</a:t>
            </a:r>
          </a:p>
        </p:txBody>
      </p:sp>
      <p:sp>
        <p:nvSpPr>
          <p:cNvPr id="49" name="shape-258">
            <a:extLst xmlns:a="http://schemas.openxmlformats.org/drawingml/2006/main">
              <a:ext uri="{FF2B5EF4-FFF2-40B4-BE49-F238E27FC236}">
                <a16:creationId xmlns:a16="http://schemas.microsoft.com/office/drawing/2014/main" id="{189CD31E-0440-4E64-9D07-AAA18D0723B1}"/>
              </a:ext>
            </a:extLst>
          </p:cNvPr>
          <p:cNvSpPr>
            <a:spLocks xmlns:a="http://schemas.openxmlformats.org/drawingml/2006/main" noGrp="1"/>
          </p:cNvSpPr>
          <p:nvPr/>
        </p:nvSpPr>
        <p:spPr>
          <a:xfrm xmlns:a="http://schemas.openxmlformats.org/drawingml/2006/main">
            <a:off x="571500" y="508635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50" name="shape-259">
            <a:extLst xmlns:a="http://schemas.openxmlformats.org/drawingml/2006/main">
              <a:ext uri="{FF2B5EF4-FFF2-40B4-BE49-F238E27FC236}">
                <a16:creationId xmlns:a16="http://schemas.microsoft.com/office/drawing/2014/main" id="{1E9D6CCE-9275-496C-BCB4-FE500149352B}"/>
              </a:ext>
            </a:extLst>
          </p:cNvPr>
          <p:cNvSpPr>
            <a:spLocks xmlns:a="http://schemas.openxmlformats.org/drawingml/2006/main" noGrp="1"/>
          </p:cNvSpPr>
          <p:nvPr/>
        </p:nvSpPr>
        <p:spPr>
          <a:xfrm xmlns:a="http://schemas.openxmlformats.org/drawingml/2006/main">
            <a:off x="571500" y="5086350"/>
            <a:ext cx="11049000" cy="485775"/>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51" name="text-260">
            <a:extLst xmlns:a="http://schemas.openxmlformats.org/drawingml/2006/main">
              <a:ext uri="{FF2B5EF4-FFF2-40B4-BE49-F238E27FC236}">
                <a16:creationId xmlns:a16="http://schemas.microsoft.com/office/drawing/2014/main" id="{2229E9AB-97B8-4BB3-9617-D8A32E0C7969}"/>
              </a:ext>
            </a:extLst>
          </p:cNvPr>
          <p:cNvSpPr>
            <a:spLocks xmlns:a="http://schemas.openxmlformats.org/drawingml/2006/main" noGrp="1"/>
          </p:cNvSpPr>
          <p:nvPr/>
        </p:nvSpPr>
        <p:spPr>
          <a:xfrm xmlns:a="http://schemas.openxmlformats.org/drawingml/2006/main">
            <a:off x="685800" y="5200650"/>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Gradient boosting</a:t>
            </a:r>
          </a:p>
        </p:txBody>
      </p:sp>
      <p:sp>
        <p:nvSpPr>
          <p:cNvPr id="52" name="text-261">
            <a:extLst xmlns:a="http://schemas.openxmlformats.org/drawingml/2006/main">
              <a:ext uri="{FF2B5EF4-FFF2-40B4-BE49-F238E27FC236}">
                <a16:creationId xmlns:a16="http://schemas.microsoft.com/office/drawing/2014/main" id="{2A6C2746-09FB-47DD-BBDF-34F35ACA7A35}"/>
              </a:ext>
            </a:extLst>
          </p:cNvPr>
          <p:cNvSpPr>
            <a:spLocks xmlns:a="http://schemas.openxmlformats.org/drawingml/2006/main" noGrp="1"/>
          </p:cNvSpPr>
          <p:nvPr/>
        </p:nvSpPr>
        <p:spPr>
          <a:xfrm xmlns:a="http://schemas.openxmlformats.org/drawingml/2006/main">
            <a:off x="4019550" y="520065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.886</a:t>
            </a:r>
          </a:p>
        </p:txBody>
      </p:sp>
      <p:sp>
        <p:nvSpPr>
          <p:cNvPr id="53" name="text-262">
            <a:extLst xmlns:a="http://schemas.openxmlformats.org/drawingml/2006/main">
              <a:ext uri="{FF2B5EF4-FFF2-40B4-BE49-F238E27FC236}">
                <a16:creationId xmlns:a16="http://schemas.microsoft.com/office/drawing/2014/main" id="{AB411ECE-F362-4014-876A-8E689003A527}"/>
              </a:ext>
            </a:extLst>
          </p:cNvPr>
          <p:cNvSpPr>
            <a:spLocks xmlns:a="http://schemas.openxmlformats.org/drawingml/2006/main" noGrp="1"/>
          </p:cNvSpPr>
          <p:nvPr/>
        </p:nvSpPr>
        <p:spPr>
          <a:xfrm xmlns:a="http://schemas.openxmlformats.org/drawingml/2006/main">
            <a:off x="5400675" y="5200650"/>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.722</a:t>
            </a:r>
          </a:p>
        </p:txBody>
      </p:sp>
      <p:sp>
        <p:nvSpPr>
          <p:cNvPr id="54" name="text-263">
            <a:extLst xmlns:a="http://schemas.openxmlformats.org/drawingml/2006/main">
              <a:ext uri="{FF2B5EF4-FFF2-40B4-BE49-F238E27FC236}">
                <a16:creationId xmlns:a16="http://schemas.microsoft.com/office/drawing/2014/main" id="{0D03D070-1B08-46F4-98F7-6E0BD91FAA3B}"/>
              </a:ext>
            </a:extLst>
          </p:cNvPr>
          <p:cNvSpPr>
            <a:spLocks xmlns:a="http://schemas.openxmlformats.org/drawingml/2006/main" noGrp="1"/>
          </p:cNvSpPr>
          <p:nvPr/>
        </p:nvSpPr>
        <p:spPr>
          <a:xfrm xmlns:a="http://schemas.openxmlformats.org/drawingml/2006/main">
            <a:off x="6877050" y="520065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.388</a:t>
            </a:r>
          </a:p>
        </p:txBody>
      </p:sp>
      <p:sp>
        <p:nvSpPr>
          <p:cNvPr id="55" name="text-264">
            <a:extLst xmlns:a="http://schemas.openxmlformats.org/drawingml/2006/main">
              <a:ext uri="{FF2B5EF4-FFF2-40B4-BE49-F238E27FC236}">
                <a16:creationId xmlns:a16="http://schemas.microsoft.com/office/drawing/2014/main" id="{1519B13F-5141-4CCD-96C4-349F802C3FAC}"/>
              </a:ext>
            </a:extLst>
          </p:cNvPr>
          <p:cNvSpPr>
            <a:spLocks xmlns:a="http://schemas.openxmlformats.org/drawingml/2006/main" noGrp="1"/>
          </p:cNvSpPr>
          <p:nvPr/>
        </p:nvSpPr>
        <p:spPr>
          <a:xfrm xmlns:a="http://schemas.openxmlformats.org/drawingml/2006/main">
            <a:off x="8258175" y="520065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.505</a:t>
            </a:r>
          </a:p>
        </p:txBody>
      </p:sp>
      <p:sp>
        <p:nvSpPr>
          <p:cNvPr id="56" name="text-265">
            <a:extLst xmlns:a="http://schemas.openxmlformats.org/drawingml/2006/main">
              <a:ext uri="{FF2B5EF4-FFF2-40B4-BE49-F238E27FC236}">
                <a16:creationId xmlns:a16="http://schemas.microsoft.com/office/drawing/2014/main" id="{61E0A3E2-6275-4E47-A8A8-19CC623F270A}"/>
              </a:ext>
            </a:extLst>
          </p:cNvPr>
          <p:cNvSpPr>
            <a:spLocks xmlns:a="http://schemas.openxmlformats.org/drawingml/2006/main" noGrp="1"/>
          </p:cNvSpPr>
          <p:nvPr/>
        </p:nvSpPr>
        <p:spPr>
          <a:xfrm xmlns:a="http://schemas.openxmlformats.org/drawingml/2006/main">
            <a:off x="9639300" y="5200650"/>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.615</a:t>
            </a:r>
          </a:p>
        </p:txBody>
      </p:sp>
      <p:sp>
        <p:nvSpPr>
          <p:cNvPr id="57" name="shape-266">
            <a:extLst xmlns:a="http://schemas.openxmlformats.org/drawingml/2006/main">
              <a:ext uri="{FF2B5EF4-FFF2-40B4-BE49-F238E27FC236}">
                <a16:creationId xmlns:a16="http://schemas.microsoft.com/office/drawing/2014/main" id="{6C00B34F-3D4D-421E-9041-6BD567B50FEA}"/>
              </a:ext>
            </a:extLst>
          </p:cNvPr>
          <p:cNvSpPr>
            <a:spLocks xmlns:a="http://schemas.openxmlformats.org/drawingml/2006/main" noGrp="1"/>
          </p:cNvSpPr>
          <p:nvPr/>
        </p:nvSpPr>
        <p:spPr>
          <a:xfrm xmlns:a="http://schemas.openxmlformats.org/drawingml/2006/main">
            <a:off x="571500" y="557212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58" name="text-267">
            <a:extLst xmlns:a="http://schemas.openxmlformats.org/drawingml/2006/main">
              <a:ext uri="{FF2B5EF4-FFF2-40B4-BE49-F238E27FC236}">
                <a16:creationId xmlns:a16="http://schemas.microsoft.com/office/drawing/2014/main" id="{18A400AB-3281-4807-82BD-0E75082D67E2}"/>
              </a:ext>
            </a:extLst>
          </p:cNvPr>
          <p:cNvSpPr>
            <a:spLocks xmlns:a="http://schemas.openxmlformats.org/drawingml/2006/main" noGrp="1"/>
          </p:cNvSpPr>
          <p:nvPr/>
        </p:nvSpPr>
        <p:spPr>
          <a:xfrm xmlns:a="http://schemas.openxmlformats.org/drawingml/2006/main">
            <a:off x="571500" y="5810250"/>
            <a:ext cx="110490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0">
                <a:solidFill>
                  <a:srgbClr val="596C7D"/>
                </a:solidFill>
                <a:latin typeface="Arial"/>
                <a:ea typeface="Arial"/>
                <a:cs typeface="Arial"/>
              </a:defRPr>
            </a:pPr>
            <a:r>
              <a:rPr sz="1500" b="0">
                <a:solidFill>
                  <a:srgbClr val="596C7D"/>
                </a:solidFill>
                <a:latin typeface="Arial"/>
                <a:ea typeface="Arial"/>
                <a:cs typeface="Arial"/>
              </a:rPr>
              <a:t>Logistic regression finds more responders; gradient boosting makes more selective predictions.</a:t>
            </a:r>
          </a:p>
        </p:txBody>
      </p:sp>
    </p:spTree>
    <p:extLst>
      <p:ext uri="{BB962C8B-B14F-4D97-AF65-F5344CB8AC3E}">
        <p14:creationId xmlns:p14="http://schemas.microsoft.com/office/powerpoint/2010/main" val="80682838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EBD40404-A69A-49E4-8950-F9ABFD95F7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A5BBA721-6B8D-46A7-9EFC-A3F3B5DD8046}"/>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F038169E-8E5D-47C9-9D72-6DC66861ACE4}"/>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HYPERPARAMETER SEARCH</a:t>
            </a:r>
          </a:p>
        </p:txBody>
      </p:sp>
      <p:sp>
        <p:nvSpPr>
          <p:cNvPr id="4" name="text-268">
            <a:extLst xmlns:a="http://schemas.openxmlformats.org/drawingml/2006/main">
              <a:ext uri="{FF2B5EF4-FFF2-40B4-BE49-F238E27FC236}">
                <a16:creationId xmlns:a16="http://schemas.microsoft.com/office/drawing/2014/main" id="{9E77B9D2-C327-453D-95F5-262E046F78F4}"/>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Five-fold grid search compares 34 candidate configurations</a:t>
            </a:r>
          </a:p>
        </p:txBody>
      </p:sp>
      <p:sp>
        <p:nvSpPr>
          <p:cNvPr id="5" name="shape-269">
            <a:extLst xmlns:a="http://schemas.openxmlformats.org/drawingml/2006/main">
              <a:ext uri="{FF2B5EF4-FFF2-40B4-BE49-F238E27FC236}">
                <a16:creationId xmlns:a16="http://schemas.microsoft.com/office/drawing/2014/main" id="{74E84ED5-81D3-415A-BAC3-81EF97C60605}"/>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270">
            <a:extLst xmlns:a="http://schemas.openxmlformats.org/drawingml/2006/main">
              <a:ext uri="{FF2B5EF4-FFF2-40B4-BE49-F238E27FC236}">
                <a16:creationId xmlns:a16="http://schemas.microsoft.com/office/drawing/2014/main" id="{591E13B2-6DC2-411B-9697-BAE0E812B7D4}"/>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§6 | GridSearchCV(scoring="average_precision")</a:t>
            </a:r>
          </a:p>
        </p:txBody>
      </p:sp>
      <p:sp>
        <p:nvSpPr>
          <p:cNvPr id="7" name="text-271">
            <a:extLst xmlns:a="http://schemas.openxmlformats.org/drawingml/2006/main">
              <a:ext uri="{FF2B5EF4-FFF2-40B4-BE49-F238E27FC236}">
                <a16:creationId xmlns:a16="http://schemas.microsoft.com/office/drawing/2014/main" id="{B0F96019-C117-439A-8CD7-D1BC7EA37F2E}"/>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13</a:t>
            </a:r>
          </a:p>
        </p:txBody>
      </p:sp>
      <p:sp>
        <p:nvSpPr>
          <p:cNvPr id="8" name="text-272">
            <a:extLst xmlns:a="http://schemas.openxmlformats.org/drawingml/2006/main">
              <a:ext uri="{FF2B5EF4-FFF2-40B4-BE49-F238E27FC236}">
                <a16:creationId xmlns:a16="http://schemas.microsoft.com/office/drawing/2014/main" id="{B1E1CA0C-A383-4DF6-A633-5151C32E48AC}"/>
              </a:ext>
            </a:extLst>
          </p:cNvPr>
          <p:cNvSpPr>
            <a:spLocks xmlns:a="http://schemas.openxmlformats.org/drawingml/2006/main" noGrp="1"/>
          </p:cNvSpPr>
          <p:nvPr/>
        </p:nvSpPr>
        <p:spPr>
          <a:xfrm xmlns:a="http://schemas.openxmlformats.org/drawingml/2006/main">
            <a:off x="571500" y="2247900"/>
            <a:ext cx="3476625"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4682B4"/>
                </a:solidFill>
                <a:latin typeface="Arial"/>
                <a:ea typeface="Arial"/>
                <a:cs typeface="Arial"/>
              </a:defRPr>
            </a:pPr>
            <a:r>
              <a:rPr sz="1425" b="1">
                <a:solidFill>
                  <a:srgbClr val="4682B4"/>
                </a:solidFill>
                <a:latin typeface="Arial"/>
                <a:ea typeface="Arial"/>
                <a:cs typeface="Arial"/>
              </a:rPr>
              <a:t>LOGISTIC REGRESSION</a:t>
            </a:r>
          </a:p>
        </p:txBody>
      </p:sp>
      <p:sp>
        <p:nvSpPr>
          <p:cNvPr id="9" name="text-273">
            <a:extLst xmlns:a="http://schemas.openxmlformats.org/drawingml/2006/main">
              <a:ext uri="{FF2B5EF4-FFF2-40B4-BE49-F238E27FC236}">
                <a16:creationId xmlns:a16="http://schemas.microsoft.com/office/drawing/2014/main" id="{522342D9-3629-49C8-BC40-6E48D18D61F2}"/>
              </a:ext>
            </a:extLst>
          </p:cNvPr>
          <p:cNvSpPr>
            <a:spLocks xmlns:a="http://schemas.openxmlformats.org/drawingml/2006/main" noGrp="1"/>
          </p:cNvSpPr>
          <p:nvPr/>
        </p:nvSpPr>
        <p:spPr>
          <a:xfrm xmlns:a="http://schemas.openxmlformats.org/drawingml/2006/main">
            <a:off x="571500" y="2924175"/>
            <a:ext cx="3476625"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5850" b="0">
                <a:solidFill>
                  <a:srgbClr val="182D43"/>
                </a:solidFill>
                <a:latin typeface="Georgia"/>
                <a:ea typeface="Georgia"/>
                <a:cs typeface="Georgia"/>
              </a:defRPr>
            </a:pPr>
            <a:r>
              <a:rPr sz="5850" b="0">
                <a:solidFill>
                  <a:srgbClr val="182D43"/>
                </a:solidFill>
                <a:latin typeface="Georgia"/>
                <a:ea typeface="Georgia"/>
                <a:cs typeface="Georgia"/>
              </a:rPr>
              <a:t>6</a:t>
            </a:r>
          </a:p>
        </p:txBody>
      </p:sp>
      <p:sp>
        <p:nvSpPr>
          <p:cNvPr id="10" name="text-274">
            <a:extLst xmlns:a="http://schemas.openxmlformats.org/drawingml/2006/main">
              <a:ext uri="{FF2B5EF4-FFF2-40B4-BE49-F238E27FC236}">
                <a16:creationId xmlns:a16="http://schemas.microsoft.com/office/drawing/2014/main" id="{BF4D5BF6-6F58-4E1A-8890-08892EED7102}"/>
              </a:ext>
            </a:extLst>
          </p:cNvPr>
          <p:cNvSpPr>
            <a:spLocks xmlns:a="http://schemas.openxmlformats.org/drawingml/2006/main" noGrp="1"/>
          </p:cNvSpPr>
          <p:nvPr/>
        </p:nvSpPr>
        <p:spPr>
          <a:xfrm xmlns:a="http://schemas.openxmlformats.org/drawingml/2006/main">
            <a:off x="571500" y="3876675"/>
            <a:ext cx="3476625"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parameter configurations</a:t>
            </a:r>
          </a:p>
        </p:txBody>
      </p:sp>
      <p:sp>
        <p:nvSpPr>
          <p:cNvPr id="11" name="text-275">
            <a:extLst xmlns:a="http://schemas.openxmlformats.org/drawingml/2006/main">
              <a:ext uri="{FF2B5EF4-FFF2-40B4-BE49-F238E27FC236}">
                <a16:creationId xmlns:a16="http://schemas.microsoft.com/office/drawing/2014/main" id="{15585868-FD90-4AF0-B046-CA7E23F2EA44}"/>
              </a:ext>
            </a:extLst>
          </p:cNvPr>
          <p:cNvSpPr>
            <a:spLocks xmlns:a="http://schemas.openxmlformats.org/drawingml/2006/main" noGrp="1"/>
          </p:cNvSpPr>
          <p:nvPr/>
        </p:nvSpPr>
        <p:spPr>
          <a:xfrm xmlns:a="http://schemas.openxmlformats.org/drawingml/2006/main">
            <a:off x="571500" y="4448175"/>
            <a:ext cx="333375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C × class_weight</a:t>
            </a:r>
          </a:p>
        </p:txBody>
      </p:sp>
      <p:sp>
        <p:nvSpPr>
          <p:cNvPr id="12" name="text-276">
            <a:extLst xmlns:a="http://schemas.openxmlformats.org/drawingml/2006/main">
              <a:ext uri="{FF2B5EF4-FFF2-40B4-BE49-F238E27FC236}">
                <a16:creationId xmlns:a16="http://schemas.microsoft.com/office/drawing/2014/main" id="{02F60199-398B-4032-9FCB-6F99BA883C7D}"/>
              </a:ext>
            </a:extLst>
          </p:cNvPr>
          <p:cNvSpPr>
            <a:spLocks xmlns:a="http://schemas.openxmlformats.org/drawingml/2006/main" noGrp="1"/>
          </p:cNvSpPr>
          <p:nvPr/>
        </p:nvSpPr>
        <p:spPr>
          <a:xfrm xmlns:a="http://schemas.openxmlformats.org/drawingml/2006/main">
            <a:off x="4467225" y="2247900"/>
            <a:ext cx="3476625"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4682B4"/>
                </a:solidFill>
                <a:latin typeface="Arial"/>
                <a:ea typeface="Arial"/>
                <a:cs typeface="Arial"/>
              </a:defRPr>
            </a:pPr>
            <a:r>
              <a:rPr sz="1425" b="1">
                <a:solidFill>
                  <a:srgbClr val="4682B4"/>
                </a:solidFill>
                <a:latin typeface="Arial"/>
                <a:ea typeface="Arial"/>
                <a:cs typeface="Arial"/>
              </a:rPr>
              <a:t>RANDOM FOREST</a:t>
            </a:r>
          </a:p>
        </p:txBody>
      </p:sp>
      <p:sp>
        <p:nvSpPr>
          <p:cNvPr id="13" name="text-277">
            <a:extLst xmlns:a="http://schemas.openxmlformats.org/drawingml/2006/main">
              <a:ext uri="{FF2B5EF4-FFF2-40B4-BE49-F238E27FC236}">
                <a16:creationId xmlns:a16="http://schemas.microsoft.com/office/drawing/2014/main" id="{3E7B6CE3-E6B3-4376-9E57-EB67BDD58F3B}"/>
              </a:ext>
            </a:extLst>
          </p:cNvPr>
          <p:cNvSpPr>
            <a:spLocks xmlns:a="http://schemas.openxmlformats.org/drawingml/2006/main" noGrp="1"/>
          </p:cNvSpPr>
          <p:nvPr/>
        </p:nvSpPr>
        <p:spPr>
          <a:xfrm xmlns:a="http://schemas.openxmlformats.org/drawingml/2006/main">
            <a:off x="4467225" y="2924175"/>
            <a:ext cx="3476625"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5850" b="0">
                <a:solidFill>
                  <a:srgbClr val="182D43"/>
                </a:solidFill>
                <a:latin typeface="Georgia"/>
                <a:ea typeface="Georgia"/>
                <a:cs typeface="Georgia"/>
              </a:defRPr>
            </a:pPr>
            <a:r>
              <a:rPr sz="5850" b="0">
                <a:solidFill>
                  <a:srgbClr val="182D43"/>
                </a:solidFill>
                <a:latin typeface="Georgia"/>
                <a:ea typeface="Georgia"/>
                <a:cs typeface="Georgia"/>
              </a:rPr>
              <a:t>12</a:t>
            </a:r>
          </a:p>
        </p:txBody>
      </p:sp>
      <p:sp>
        <p:nvSpPr>
          <p:cNvPr id="14" name="text-278">
            <a:extLst xmlns:a="http://schemas.openxmlformats.org/drawingml/2006/main">
              <a:ext uri="{FF2B5EF4-FFF2-40B4-BE49-F238E27FC236}">
                <a16:creationId xmlns:a16="http://schemas.microsoft.com/office/drawing/2014/main" id="{A5328B35-6952-4472-97BF-87950E7576E2}"/>
              </a:ext>
            </a:extLst>
          </p:cNvPr>
          <p:cNvSpPr>
            <a:spLocks xmlns:a="http://schemas.openxmlformats.org/drawingml/2006/main" noGrp="1"/>
          </p:cNvSpPr>
          <p:nvPr/>
        </p:nvSpPr>
        <p:spPr>
          <a:xfrm xmlns:a="http://schemas.openxmlformats.org/drawingml/2006/main">
            <a:off x="4467225" y="3876675"/>
            <a:ext cx="3476625"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parameter configurations</a:t>
            </a:r>
          </a:p>
        </p:txBody>
      </p:sp>
      <p:sp>
        <p:nvSpPr>
          <p:cNvPr id="15" name="text-279">
            <a:extLst xmlns:a="http://schemas.openxmlformats.org/drawingml/2006/main">
              <a:ext uri="{FF2B5EF4-FFF2-40B4-BE49-F238E27FC236}">
                <a16:creationId xmlns:a16="http://schemas.microsoft.com/office/drawing/2014/main" id="{5A42CED4-7BAC-420D-B6A1-1601D719543E}"/>
              </a:ext>
            </a:extLst>
          </p:cNvPr>
          <p:cNvSpPr>
            <a:spLocks xmlns:a="http://schemas.openxmlformats.org/drawingml/2006/main" noGrp="1"/>
          </p:cNvSpPr>
          <p:nvPr/>
        </p:nvSpPr>
        <p:spPr>
          <a:xfrm xmlns:a="http://schemas.openxmlformats.org/drawingml/2006/main">
            <a:off x="4467225" y="4448175"/>
            <a:ext cx="333375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Trees × depth × min. leaf size</a:t>
            </a:r>
          </a:p>
        </p:txBody>
      </p:sp>
      <p:sp>
        <p:nvSpPr>
          <p:cNvPr id="16" name="text-280">
            <a:extLst xmlns:a="http://schemas.openxmlformats.org/drawingml/2006/main">
              <a:ext uri="{FF2B5EF4-FFF2-40B4-BE49-F238E27FC236}">
                <a16:creationId xmlns:a16="http://schemas.microsoft.com/office/drawing/2014/main" id="{7F019401-F102-4898-97C4-FDEFAE73C82D}"/>
              </a:ext>
            </a:extLst>
          </p:cNvPr>
          <p:cNvSpPr>
            <a:spLocks xmlns:a="http://schemas.openxmlformats.org/drawingml/2006/main" noGrp="1"/>
          </p:cNvSpPr>
          <p:nvPr/>
        </p:nvSpPr>
        <p:spPr>
          <a:xfrm xmlns:a="http://schemas.openxmlformats.org/drawingml/2006/main">
            <a:off x="8362950" y="2247900"/>
            <a:ext cx="3476625"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4682B4"/>
                </a:solidFill>
                <a:latin typeface="Arial"/>
                <a:ea typeface="Arial"/>
                <a:cs typeface="Arial"/>
              </a:defRPr>
            </a:pPr>
            <a:r>
              <a:rPr sz="1425" b="1">
                <a:solidFill>
                  <a:srgbClr val="4682B4"/>
                </a:solidFill>
                <a:latin typeface="Arial"/>
                <a:ea typeface="Arial"/>
                <a:cs typeface="Arial"/>
              </a:rPr>
              <a:t>GRADIENT BOOSTING</a:t>
            </a:r>
          </a:p>
        </p:txBody>
      </p:sp>
      <p:sp>
        <p:nvSpPr>
          <p:cNvPr id="17" name="text-281">
            <a:extLst xmlns:a="http://schemas.openxmlformats.org/drawingml/2006/main">
              <a:ext uri="{FF2B5EF4-FFF2-40B4-BE49-F238E27FC236}">
                <a16:creationId xmlns:a16="http://schemas.microsoft.com/office/drawing/2014/main" id="{BC8DD0C2-3082-49BF-877F-E51CEEADFBFD}"/>
              </a:ext>
            </a:extLst>
          </p:cNvPr>
          <p:cNvSpPr>
            <a:spLocks xmlns:a="http://schemas.openxmlformats.org/drawingml/2006/main" noGrp="1"/>
          </p:cNvSpPr>
          <p:nvPr/>
        </p:nvSpPr>
        <p:spPr>
          <a:xfrm xmlns:a="http://schemas.openxmlformats.org/drawingml/2006/main">
            <a:off x="8362950" y="2924175"/>
            <a:ext cx="3476625"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5850" b="0">
                <a:solidFill>
                  <a:srgbClr val="182D43"/>
                </a:solidFill>
                <a:latin typeface="Georgia"/>
                <a:ea typeface="Georgia"/>
                <a:cs typeface="Georgia"/>
              </a:defRPr>
            </a:pPr>
            <a:r>
              <a:rPr sz="5850" b="0">
                <a:solidFill>
                  <a:srgbClr val="182D43"/>
                </a:solidFill>
                <a:latin typeface="Georgia"/>
                <a:ea typeface="Georgia"/>
                <a:cs typeface="Georgia"/>
              </a:rPr>
              <a:t>16</a:t>
            </a:r>
          </a:p>
        </p:txBody>
      </p:sp>
      <p:sp>
        <p:nvSpPr>
          <p:cNvPr id="18" name="text-282">
            <a:extLst xmlns:a="http://schemas.openxmlformats.org/drawingml/2006/main">
              <a:ext uri="{FF2B5EF4-FFF2-40B4-BE49-F238E27FC236}">
                <a16:creationId xmlns:a16="http://schemas.microsoft.com/office/drawing/2014/main" id="{F6C9E15A-C948-4500-BE42-CC51378E24E9}"/>
              </a:ext>
            </a:extLst>
          </p:cNvPr>
          <p:cNvSpPr>
            <a:spLocks xmlns:a="http://schemas.openxmlformats.org/drawingml/2006/main" noGrp="1"/>
          </p:cNvSpPr>
          <p:nvPr/>
        </p:nvSpPr>
        <p:spPr>
          <a:xfrm xmlns:a="http://schemas.openxmlformats.org/drawingml/2006/main">
            <a:off x="8362950" y="3876675"/>
            <a:ext cx="3476625"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parameter configurations</a:t>
            </a:r>
          </a:p>
        </p:txBody>
      </p:sp>
      <p:sp>
        <p:nvSpPr>
          <p:cNvPr id="19" name="text-283">
            <a:extLst xmlns:a="http://schemas.openxmlformats.org/drawingml/2006/main">
              <a:ext uri="{FF2B5EF4-FFF2-40B4-BE49-F238E27FC236}">
                <a16:creationId xmlns:a16="http://schemas.microsoft.com/office/drawing/2014/main" id="{3DB92284-E980-4FAC-AEBF-93BBC75886D9}"/>
              </a:ext>
            </a:extLst>
          </p:cNvPr>
          <p:cNvSpPr>
            <a:spLocks xmlns:a="http://schemas.openxmlformats.org/drawingml/2006/main" noGrp="1"/>
          </p:cNvSpPr>
          <p:nvPr/>
        </p:nvSpPr>
        <p:spPr>
          <a:xfrm xmlns:a="http://schemas.openxmlformats.org/drawingml/2006/main">
            <a:off x="8362950" y="4448175"/>
            <a:ext cx="333375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Trees × rate × depth × min. leaf size</a:t>
            </a:r>
          </a:p>
        </p:txBody>
      </p:sp>
      <p:sp>
        <p:nvSpPr>
          <p:cNvPr id="20" name="shape-284">
            <a:extLst xmlns:a="http://schemas.openxmlformats.org/drawingml/2006/main">
              <a:ext uri="{FF2B5EF4-FFF2-40B4-BE49-F238E27FC236}">
                <a16:creationId xmlns:a16="http://schemas.microsoft.com/office/drawing/2014/main" id="{77E5DEAE-E9DE-4122-8463-DB88DC618423}"/>
              </a:ext>
            </a:extLst>
          </p:cNvPr>
          <p:cNvSpPr>
            <a:spLocks xmlns:a="http://schemas.openxmlformats.org/drawingml/2006/main" noGrp="1"/>
          </p:cNvSpPr>
          <p:nvPr/>
        </p:nvSpPr>
        <p:spPr>
          <a:xfrm xmlns:a="http://schemas.openxmlformats.org/drawingml/2006/main">
            <a:off x="571500" y="524827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1" name="text-285">
            <a:extLst xmlns:a="http://schemas.openxmlformats.org/drawingml/2006/main">
              <a:ext uri="{FF2B5EF4-FFF2-40B4-BE49-F238E27FC236}">
                <a16:creationId xmlns:a16="http://schemas.microsoft.com/office/drawing/2014/main" id="{438A4E5E-DB00-4904-BE4E-591CFFFDD20F}"/>
              </a:ext>
            </a:extLst>
          </p:cNvPr>
          <p:cNvSpPr>
            <a:spLocks xmlns:a="http://schemas.openxmlformats.org/drawingml/2006/main" noGrp="1"/>
          </p:cNvSpPr>
          <p:nvPr/>
        </p:nvSpPr>
        <p:spPr>
          <a:xfrm xmlns:a="http://schemas.openxmlformats.org/drawingml/2006/main">
            <a:off x="571500" y="5553075"/>
            <a:ext cx="75723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1">
                <a:solidFill>
                  <a:srgbClr val="4682B4"/>
                </a:solidFill>
                <a:latin typeface="Arial"/>
                <a:ea typeface="Arial"/>
                <a:cs typeface="Arial"/>
              </a:defRPr>
            </a:pPr>
            <a:r>
              <a:rPr sz="2250" b="1">
                <a:solidFill>
                  <a:srgbClr val="4682B4"/>
                </a:solidFill>
                <a:latin typeface="Arial"/>
                <a:ea typeface="Arial"/>
                <a:cs typeface="Arial"/>
              </a:rPr>
              <a:t>34 configurations × 5 folds = 170 CV fits</a:t>
            </a:r>
          </a:p>
        </p:txBody>
      </p:sp>
      <p:sp>
        <p:nvSpPr>
          <p:cNvPr id="22" name="text-286">
            <a:extLst xmlns:a="http://schemas.openxmlformats.org/drawingml/2006/main">
              <a:ext uri="{FF2B5EF4-FFF2-40B4-BE49-F238E27FC236}">
                <a16:creationId xmlns:a16="http://schemas.microsoft.com/office/drawing/2014/main" id="{ED47DB03-CB32-434C-A0D6-2CA558B26ADD}"/>
              </a:ext>
            </a:extLst>
          </p:cNvPr>
          <p:cNvSpPr>
            <a:spLocks xmlns:a="http://schemas.openxmlformats.org/drawingml/2006/main" noGrp="1"/>
          </p:cNvSpPr>
          <p:nvPr/>
        </p:nvSpPr>
        <p:spPr>
          <a:xfrm xmlns:a="http://schemas.openxmlformats.org/drawingml/2006/main">
            <a:off x="8905875" y="5610225"/>
            <a:ext cx="2714625" cy="342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Training split only</a:t>
            </a:r>
          </a:p>
        </p:txBody>
      </p:sp>
    </p:spTree>
    <p:extLst>
      <p:ext uri="{BB962C8B-B14F-4D97-AF65-F5344CB8AC3E}">
        <p14:creationId xmlns:p14="http://schemas.microsoft.com/office/powerpoint/2010/main" val="44568476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40C3864-EA88-4CA4-AD72-B15D133953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45B677FA-DD28-410A-80D0-213D53E0222F}"/>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FE8BFCC8-67A4-4691-A4C3-62E6A29D9560}"/>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TUNED CANDIDATES</a:t>
            </a:r>
          </a:p>
        </p:txBody>
      </p:sp>
      <p:sp>
        <p:nvSpPr>
          <p:cNvPr id="4" name="text-287">
            <a:extLst xmlns:a="http://schemas.openxmlformats.org/drawingml/2006/main">
              <a:ext uri="{FF2B5EF4-FFF2-40B4-BE49-F238E27FC236}">
                <a16:creationId xmlns:a16="http://schemas.microsoft.com/office/drawing/2014/main" id="{253BDA58-6E10-49D2-99DF-B0155282013C}"/>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Gradient boosting leads tuned candidates on CV AP</a:t>
            </a:r>
          </a:p>
        </p:txBody>
      </p:sp>
      <p:sp>
        <p:nvSpPr>
          <p:cNvPr id="5" name="shape-288">
            <a:extLst xmlns:a="http://schemas.openxmlformats.org/drawingml/2006/main">
              <a:ext uri="{FF2B5EF4-FFF2-40B4-BE49-F238E27FC236}">
                <a16:creationId xmlns:a16="http://schemas.microsoft.com/office/drawing/2014/main" id="{B5D16D89-EA61-4CA9-BA3C-FFA024626832}"/>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289">
            <a:extLst xmlns:a="http://schemas.openxmlformats.org/drawingml/2006/main">
              <a:ext uri="{FF2B5EF4-FFF2-40B4-BE49-F238E27FC236}">
                <a16:creationId xmlns:a16="http://schemas.microsoft.com/office/drawing/2014/main" id="{407A6BB0-BE14-449B-ABF8-9C49D2C05DF5}"/>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§6 | mean CV AP and evaluation metrics</a:t>
            </a:r>
          </a:p>
        </p:txBody>
      </p:sp>
      <p:sp>
        <p:nvSpPr>
          <p:cNvPr id="7" name="text-290">
            <a:extLst xmlns:a="http://schemas.openxmlformats.org/drawingml/2006/main">
              <a:ext uri="{FF2B5EF4-FFF2-40B4-BE49-F238E27FC236}">
                <a16:creationId xmlns:a16="http://schemas.microsoft.com/office/drawing/2014/main" id="{3F90676B-5859-4430-89FC-F0DB5B186B7B}"/>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14</a:t>
            </a:r>
          </a:p>
        </p:txBody>
      </p:sp>
      <p:sp>
        <p:nvSpPr>
          <p:cNvPr id="8" name="shape-291">
            <a:extLst xmlns:a="http://schemas.openxmlformats.org/drawingml/2006/main">
              <a:ext uri="{FF2B5EF4-FFF2-40B4-BE49-F238E27FC236}">
                <a16:creationId xmlns:a16="http://schemas.microsoft.com/office/drawing/2014/main" id="{766E3110-EFDE-4B4A-AD2A-C67AD20EEBC9}"/>
              </a:ext>
            </a:extLst>
          </p:cNvPr>
          <p:cNvSpPr>
            <a:spLocks xmlns:a="http://schemas.openxmlformats.org/drawingml/2006/main" noGrp="1"/>
          </p:cNvSpPr>
          <p:nvPr/>
        </p:nvSpPr>
        <p:spPr>
          <a:xfrm xmlns:a="http://schemas.openxmlformats.org/drawingml/2006/main">
            <a:off x="571500" y="2200275"/>
            <a:ext cx="11049000" cy="457200"/>
          </a:xfrm>
          <a:prstGeom xmlns:a="http://schemas.openxmlformats.org/drawingml/2006/main" prst="rect">
            <a:avLst/>
          </a:prstGeom>
          <a:solidFill xmlns:a="http://schemas.openxmlformats.org/drawingml/2006/main">
            <a:srgbClr val="182D43"/>
          </a:solidFill>
          <a:ln xmlns:a="http://schemas.openxmlformats.org/drawingml/2006/main" w="0">
            <a:noFill/>
            <a:prstDash val="solid"/>
          </a:ln>
        </p:spPr>
      </p:sp>
      <p:sp>
        <p:nvSpPr>
          <p:cNvPr id="9" name="text-292">
            <a:extLst xmlns:a="http://schemas.openxmlformats.org/drawingml/2006/main">
              <a:ext uri="{FF2B5EF4-FFF2-40B4-BE49-F238E27FC236}">
                <a16:creationId xmlns:a16="http://schemas.microsoft.com/office/drawing/2014/main" id="{1E86E809-003B-4976-BF67-7FC106BD671B}"/>
              </a:ext>
            </a:extLst>
          </p:cNvPr>
          <p:cNvSpPr>
            <a:spLocks xmlns:a="http://schemas.openxmlformats.org/drawingml/2006/main" noGrp="1"/>
          </p:cNvSpPr>
          <p:nvPr/>
        </p:nvSpPr>
        <p:spPr>
          <a:xfrm xmlns:a="http://schemas.openxmlformats.org/drawingml/2006/main">
            <a:off x="685800" y="2314575"/>
            <a:ext cx="31051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Model</a:t>
            </a:r>
          </a:p>
        </p:txBody>
      </p:sp>
      <p:sp>
        <p:nvSpPr>
          <p:cNvPr id="10" name="text-293">
            <a:extLst xmlns:a="http://schemas.openxmlformats.org/drawingml/2006/main">
              <a:ext uri="{FF2B5EF4-FFF2-40B4-BE49-F238E27FC236}">
                <a16:creationId xmlns:a16="http://schemas.microsoft.com/office/drawing/2014/main" id="{D784584D-0E78-4B77-A932-6AD658F01F9E}"/>
              </a:ext>
            </a:extLst>
          </p:cNvPr>
          <p:cNvSpPr>
            <a:spLocks xmlns:a="http://schemas.openxmlformats.org/drawingml/2006/main" noGrp="1"/>
          </p:cNvSpPr>
          <p:nvPr/>
        </p:nvSpPr>
        <p:spPr>
          <a:xfrm xmlns:a="http://schemas.openxmlformats.org/drawingml/2006/main">
            <a:off x="4019550" y="2314575"/>
            <a:ext cx="1152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CV AP</a:t>
            </a:r>
          </a:p>
        </p:txBody>
      </p:sp>
      <p:sp>
        <p:nvSpPr>
          <p:cNvPr id="11" name="text-294">
            <a:extLst xmlns:a="http://schemas.openxmlformats.org/drawingml/2006/main">
              <a:ext uri="{FF2B5EF4-FFF2-40B4-BE49-F238E27FC236}">
                <a16:creationId xmlns:a16="http://schemas.microsoft.com/office/drawing/2014/main" id="{E5156E6C-CCA8-4210-B010-29FDC95FEDF1}"/>
              </a:ext>
            </a:extLst>
          </p:cNvPr>
          <p:cNvSpPr>
            <a:spLocks xmlns:a="http://schemas.openxmlformats.org/drawingml/2006/main" noGrp="1"/>
          </p:cNvSpPr>
          <p:nvPr/>
        </p:nvSpPr>
        <p:spPr>
          <a:xfrm xmlns:a="http://schemas.openxmlformats.org/drawingml/2006/main">
            <a:off x="5400675" y="2314575"/>
            <a:ext cx="124777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Precision</a:t>
            </a:r>
          </a:p>
        </p:txBody>
      </p:sp>
      <p:sp>
        <p:nvSpPr>
          <p:cNvPr id="12" name="text-295">
            <a:extLst xmlns:a="http://schemas.openxmlformats.org/drawingml/2006/main">
              <a:ext uri="{FF2B5EF4-FFF2-40B4-BE49-F238E27FC236}">
                <a16:creationId xmlns:a16="http://schemas.microsoft.com/office/drawing/2014/main" id="{F266EC53-6216-4D2E-AF65-C708E29BED7E}"/>
              </a:ext>
            </a:extLst>
          </p:cNvPr>
          <p:cNvSpPr>
            <a:spLocks xmlns:a="http://schemas.openxmlformats.org/drawingml/2006/main" noGrp="1"/>
          </p:cNvSpPr>
          <p:nvPr/>
        </p:nvSpPr>
        <p:spPr>
          <a:xfrm xmlns:a="http://schemas.openxmlformats.org/drawingml/2006/main">
            <a:off x="6877050" y="2314575"/>
            <a:ext cx="1152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Recall</a:t>
            </a:r>
          </a:p>
        </p:txBody>
      </p:sp>
      <p:sp>
        <p:nvSpPr>
          <p:cNvPr id="13" name="text-296">
            <a:extLst xmlns:a="http://schemas.openxmlformats.org/drawingml/2006/main">
              <a:ext uri="{FF2B5EF4-FFF2-40B4-BE49-F238E27FC236}">
                <a16:creationId xmlns:a16="http://schemas.microsoft.com/office/drawing/2014/main" id="{22651041-C8DC-46F2-8B65-AEDAF12CA4AB}"/>
              </a:ext>
            </a:extLst>
          </p:cNvPr>
          <p:cNvSpPr>
            <a:spLocks xmlns:a="http://schemas.openxmlformats.org/drawingml/2006/main" noGrp="1"/>
          </p:cNvSpPr>
          <p:nvPr/>
        </p:nvSpPr>
        <p:spPr>
          <a:xfrm xmlns:a="http://schemas.openxmlformats.org/drawingml/2006/main">
            <a:off x="8258175" y="2314575"/>
            <a:ext cx="1152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F1</a:t>
            </a:r>
          </a:p>
        </p:txBody>
      </p:sp>
      <p:sp>
        <p:nvSpPr>
          <p:cNvPr id="14" name="text-297">
            <a:extLst xmlns:a="http://schemas.openxmlformats.org/drawingml/2006/main">
              <a:ext uri="{FF2B5EF4-FFF2-40B4-BE49-F238E27FC236}">
                <a16:creationId xmlns:a16="http://schemas.microsoft.com/office/drawing/2014/main" id="{C8323E9C-EB2A-4F85-8F2A-67A688AE087D}"/>
              </a:ext>
            </a:extLst>
          </p:cNvPr>
          <p:cNvSpPr>
            <a:spLocks xmlns:a="http://schemas.openxmlformats.org/drawingml/2006/main" noGrp="1"/>
          </p:cNvSpPr>
          <p:nvPr/>
        </p:nvSpPr>
        <p:spPr>
          <a:xfrm xmlns:a="http://schemas.openxmlformats.org/drawingml/2006/main">
            <a:off x="9639300" y="2314575"/>
            <a:ext cx="12954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Eval. AP</a:t>
            </a:r>
          </a:p>
        </p:txBody>
      </p:sp>
      <p:sp>
        <p:nvSpPr>
          <p:cNvPr id="15" name="text-298">
            <a:extLst xmlns:a="http://schemas.openxmlformats.org/drawingml/2006/main">
              <a:ext uri="{FF2B5EF4-FFF2-40B4-BE49-F238E27FC236}">
                <a16:creationId xmlns:a16="http://schemas.microsoft.com/office/drawing/2014/main" id="{A5CB8804-294D-4C1E-82DB-D624023EE2E2}"/>
              </a:ext>
            </a:extLst>
          </p:cNvPr>
          <p:cNvSpPr>
            <a:spLocks xmlns:a="http://schemas.openxmlformats.org/drawingml/2006/main" noGrp="1"/>
          </p:cNvSpPr>
          <p:nvPr/>
        </p:nvSpPr>
        <p:spPr>
          <a:xfrm xmlns:a="http://schemas.openxmlformats.org/drawingml/2006/main">
            <a:off x="685800" y="2771775"/>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Logistic regression</a:t>
            </a:r>
          </a:p>
        </p:txBody>
      </p:sp>
      <p:sp>
        <p:nvSpPr>
          <p:cNvPr id="16" name="text-299">
            <a:extLst xmlns:a="http://schemas.openxmlformats.org/drawingml/2006/main">
              <a:ext uri="{FF2B5EF4-FFF2-40B4-BE49-F238E27FC236}">
                <a16:creationId xmlns:a16="http://schemas.microsoft.com/office/drawing/2014/main" id="{C0FCF699-4BD0-4C3A-8B90-4B7932705018}"/>
              </a:ext>
            </a:extLst>
          </p:cNvPr>
          <p:cNvSpPr>
            <a:spLocks xmlns:a="http://schemas.openxmlformats.org/drawingml/2006/main" noGrp="1"/>
          </p:cNvSpPr>
          <p:nvPr/>
        </p:nvSpPr>
        <p:spPr>
          <a:xfrm xmlns:a="http://schemas.openxmlformats.org/drawingml/2006/main">
            <a:off x="4019550" y="27717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.479</a:t>
            </a:r>
          </a:p>
        </p:txBody>
      </p:sp>
      <p:sp>
        <p:nvSpPr>
          <p:cNvPr id="17" name="text-300">
            <a:extLst xmlns:a="http://schemas.openxmlformats.org/drawingml/2006/main">
              <a:ext uri="{FF2B5EF4-FFF2-40B4-BE49-F238E27FC236}">
                <a16:creationId xmlns:a16="http://schemas.microsoft.com/office/drawing/2014/main" id="{FFD905B8-CF72-4E20-9E4B-C73A07F3A9B9}"/>
              </a:ext>
            </a:extLst>
          </p:cNvPr>
          <p:cNvSpPr>
            <a:spLocks xmlns:a="http://schemas.openxmlformats.org/drawingml/2006/main" noGrp="1"/>
          </p:cNvSpPr>
          <p:nvPr/>
        </p:nvSpPr>
        <p:spPr>
          <a:xfrm xmlns:a="http://schemas.openxmlformats.org/drawingml/2006/main">
            <a:off x="5400675" y="2771775"/>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.427</a:t>
            </a:r>
          </a:p>
        </p:txBody>
      </p:sp>
      <p:sp>
        <p:nvSpPr>
          <p:cNvPr id="18" name="text-301">
            <a:extLst xmlns:a="http://schemas.openxmlformats.org/drawingml/2006/main">
              <a:ext uri="{FF2B5EF4-FFF2-40B4-BE49-F238E27FC236}">
                <a16:creationId xmlns:a16="http://schemas.microsoft.com/office/drawing/2014/main" id="{72331659-09D8-4EEC-890E-92E3762BCAF3}"/>
              </a:ext>
            </a:extLst>
          </p:cNvPr>
          <p:cNvSpPr>
            <a:spLocks xmlns:a="http://schemas.openxmlformats.org/drawingml/2006/main" noGrp="1"/>
          </p:cNvSpPr>
          <p:nvPr/>
        </p:nvSpPr>
        <p:spPr>
          <a:xfrm xmlns:a="http://schemas.openxmlformats.org/drawingml/2006/main">
            <a:off x="6877050" y="27717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.746</a:t>
            </a:r>
          </a:p>
        </p:txBody>
      </p:sp>
      <p:sp>
        <p:nvSpPr>
          <p:cNvPr id="19" name="text-302">
            <a:extLst xmlns:a="http://schemas.openxmlformats.org/drawingml/2006/main">
              <a:ext uri="{FF2B5EF4-FFF2-40B4-BE49-F238E27FC236}">
                <a16:creationId xmlns:a16="http://schemas.microsoft.com/office/drawing/2014/main" id="{BB1508CA-766A-4A61-A57B-ADB2C41E0A4F}"/>
              </a:ext>
            </a:extLst>
          </p:cNvPr>
          <p:cNvSpPr>
            <a:spLocks xmlns:a="http://schemas.openxmlformats.org/drawingml/2006/main" noGrp="1"/>
          </p:cNvSpPr>
          <p:nvPr/>
        </p:nvSpPr>
        <p:spPr>
          <a:xfrm xmlns:a="http://schemas.openxmlformats.org/drawingml/2006/main">
            <a:off x="8258175" y="27717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.543</a:t>
            </a:r>
          </a:p>
        </p:txBody>
      </p:sp>
      <p:sp>
        <p:nvSpPr>
          <p:cNvPr id="20" name="text-303">
            <a:extLst xmlns:a="http://schemas.openxmlformats.org/drawingml/2006/main">
              <a:ext uri="{FF2B5EF4-FFF2-40B4-BE49-F238E27FC236}">
                <a16:creationId xmlns:a16="http://schemas.microsoft.com/office/drawing/2014/main" id="{CAB7E8EB-4267-4BDB-A59F-F5BCC603D9B2}"/>
              </a:ext>
            </a:extLst>
          </p:cNvPr>
          <p:cNvSpPr>
            <a:spLocks xmlns:a="http://schemas.openxmlformats.org/drawingml/2006/main" noGrp="1"/>
          </p:cNvSpPr>
          <p:nvPr/>
        </p:nvSpPr>
        <p:spPr>
          <a:xfrm xmlns:a="http://schemas.openxmlformats.org/drawingml/2006/main">
            <a:off x="9639300" y="277177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.624</a:t>
            </a:r>
          </a:p>
        </p:txBody>
      </p:sp>
      <p:sp>
        <p:nvSpPr>
          <p:cNvPr id="21" name="shape-304">
            <a:extLst xmlns:a="http://schemas.openxmlformats.org/drawingml/2006/main">
              <a:ext uri="{FF2B5EF4-FFF2-40B4-BE49-F238E27FC236}">
                <a16:creationId xmlns:a16="http://schemas.microsoft.com/office/drawing/2014/main" id="{530F0369-E4A2-4BAA-AB38-2088D4DE76FF}"/>
              </a:ext>
            </a:extLst>
          </p:cNvPr>
          <p:cNvSpPr>
            <a:spLocks xmlns:a="http://schemas.openxmlformats.org/drawingml/2006/main" noGrp="1"/>
          </p:cNvSpPr>
          <p:nvPr/>
        </p:nvSpPr>
        <p:spPr>
          <a:xfrm xmlns:a="http://schemas.openxmlformats.org/drawingml/2006/main">
            <a:off x="571500" y="32766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2" name="text-305">
            <a:extLst xmlns:a="http://schemas.openxmlformats.org/drawingml/2006/main">
              <a:ext uri="{FF2B5EF4-FFF2-40B4-BE49-F238E27FC236}">
                <a16:creationId xmlns:a16="http://schemas.microsoft.com/office/drawing/2014/main" id="{39A48526-DC60-45D9-9106-6C33D9FC63BB}"/>
              </a:ext>
            </a:extLst>
          </p:cNvPr>
          <p:cNvSpPr>
            <a:spLocks xmlns:a="http://schemas.openxmlformats.org/drawingml/2006/main" noGrp="1"/>
          </p:cNvSpPr>
          <p:nvPr/>
        </p:nvSpPr>
        <p:spPr>
          <a:xfrm xmlns:a="http://schemas.openxmlformats.org/drawingml/2006/main">
            <a:off x="685800" y="3390900"/>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Random forest</a:t>
            </a:r>
          </a:p>
        </p:txBody>
      </p:sp>
      <p:sp>
        <p:nvSpPr>
          <p:cNvPr id="23" name="text-306">
            <a:extLst xmlns:a="http://schemas.openxmlformats.org/drawingml/2006/main">
              <a:ext uri="{FF2B5EF4-FFF2-40B4-BE49-F238E27FC236}">
                <a16:creationId xmlns:a16="http://schemas.microsoft.com/office/drawing/2014/main" id="{33C8FEB3-A6F0-4F58-B431-1DAC9AD9B35D}"/>
              </a:ext>
            </a:extLst>
          </p:cNvPr>
          <p:cNvSpPr>
            <a:spLocks xmlns:a="http://schemas.openxmlformats.org/drawingml/2006/main" noGrp="1"/>
          </p:cNvSpPr>
          <p:nvPr/>
        </p:nvSpPr>
        <p:spPr>
          <a:xfrm xmlns:a="http://schemas.openxmlformats.org/drawingml/2006/main">
            <a:off x="4019550" y="339090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.509</a:t>
            </a:r>
          </a:p>
        </p:txBody>
      </p:sp>
      <p:sp>
        <p:nvSpPr>
          <p:cNvPr id="24" name="text-307">
            <a:extLst xmlns:a="http://schemas.openxmlformats.org/drawingml/2006/main">
              <a:ext uri="{FF2B5EF4-FFF2-40B4-BE49-F238E27FC236}">
                <a16:creationId xmlns:a16="http://schemas.microsoft.com/office/drawing/2014/main" id="{6FAEECEA-2E6D-4F81-B812-8FE1E3162B6C}"/>
              </a:ext>
            </a:extLst>
          </p:cNvPr>
          <p:cNvSpPr>
            <a:spLocks xmlns:a="http://schemas.openxmlformats.org/drawingml/2006/main" noGrp="1"/>
          </p:cNvSpPr>
          <p:nvPr/>
        </p:nvSpPr>
        <p:spPr>
          <a:xfrm xmlns:a="http://schemas.openxmlformats.org/drawingml/2006/main">
            <a:off x="5400675" y="3390900"/>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.576</a:t>
            </a:r>
          </a:p>
        </p:txBody>
      </p:sp>
      <p:sp>
        <p:nvSpPr>
          <p:cNvPr id="25" name="text-308">
            <a:extLst xmlns:a="http://schemas.openxmlformats.org/drawingml/2006/main">
              <a:ext uri="{FF2B5EF4-FFF2-40B4-BE49-F238E27FC236}">
                <a16:creationId xmlns:a16="http://schemas.microsoft.com/office/drawing/2014/main" id="{6E4D3C17-C63A-4464-BE5D-57B1A02D63C7}"/>
              </a:ext>
            </a:extLst>
          </p:cNvPr>
          <p:cNvSpPr>
            <a:spLocks xmlns:a="http://schemas.openxmlformats.org/drawingml/2006/main" noGrp="1"/>
          </p:cNvSpPr>
          <p:nvPr/>
        </p:nvSpPr>
        <p:spPr>
          <a:xfrm xmlns:a="http://schemas.openxmlformats.org/drawingml/2006/main">
            <a:off x="6877050" y="339090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.507</a:t>
            </a:r>
          </a:p>
        </p:txBody>
      </p:sp>
      <p:sp>
        <p:nvSpPr>
          <p:cNvPr id="26" name="text-309">
            <a:extLst xmlns:a="http://schemas.openxmlformats.org/drawingml/2006/main">
              <a:ext uri="{FF2B5EF4-FFF2-40B4-BE49-F238E27FC236}">
                <a16:creationId xmlns:a16="http://schemas.microsoft.com/office/drawing/2014/main" id="{9BB9AFE1-6DD1-4413-91AA-1013DF4C2707}"/>
              </a:ext>
            </a:extLst>
          </p:cNvPr>
          <p:cNvSpPr>
            <a:spLocks xmlns:a="http://schemas.openxmlformats.org/drawingml/2006/main" noGrp="1"/>
          </p:cNvSpPr>
          <p:nvPr/>
        </p:nvSpPr>
        <p:spPr>
          <a:xfrm xmlns:a="http://schemas.openxmlformats.org/drawingml/2006/main">
            <a:off x="8258175" y="339090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.540</a:t>
            </a:r>
          </a:p>
        </p:txBody>
      </p:sp>
      <p:sp>
        <p:nvSpPr>
          <p:cNvPr id="27" name="text-310">
            <a:extLst xmlns:a="http://schemas.openxmlformats.org/drawingml/2006/main">
              <a:ext uri="{FF2B5EF4-FFF2-40B4-BE49-F238E27FC236}">
                <a16:creationId xmlns:a16="http://schemas.microsoft.com/office/drawing/2014/main" id="{CAC24EEC-AC32-4162-8A8E-889C9C4D5869}"/>
              </a:ext>
            </a:extLst>
          </p:cNvPr>
          <p:cNvSpPr>
            <a:spLocks xmlns:a="http://schemas.openxmlformats.org/drawingml/2006/main" noGrp="1"/>
          </p:cNvSpPr>
          <p:nvPr/>
        </p:nvSpPr>
        <p:spPr>
          <a:xfrm xmlns:a="http://schemas.openxmlformats.org/drawingml/2006/main">
            <a:off x="9639300" y="3390900"/>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.553</a:t>
            </a:r>
          </a:p>
        </p:txBody>
      </p:sp>
      <p:sp>
        <p:nvSpPr>
          <p:cNvPr id="28" name="shape-311">
            <a:extLst xmlns:a="http://schemas.openxmlformats.org/drawingml/2006/main">
              <a:ext uri="{FF2B5EF4-FFF2-40B4-BE49-F238E27FC236}">
                <a16:creationId xmlns:a16="http://schemas.microsoft.com/office/drawing/2014/main" id="{64C13E48-3E6A-4813-96BD-4D6025E9D73E}"/>
              </a:ext>
            </a:extLst>
          </p:cNvPr>
          <p:cNvSpPr>
            <a:spLocks xmlns:a="http://schemas.openxmlformats.org/drawingml/2006/main" noGrp="1"/>
          </p:cNvSpPr>
          <p:nvPr/>
        </p:nvSpPr>
        <p:spPr>
          <a:xfrm xmlns:a="http://schemas.openxmlformats.org/drawingml/2006/main">
            <a:off x="571500" y="389572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9" name="shape-312">
            <a:extLst xmlns:a="http://schemas.openxmlformats.org/drawingml/2006/main">
              <a:ext uri="{FF2B5EF4-FFF2-40B4-BE49-F238E27FC236}">
                <a16:creationId xmlns:a16="http://schemas.microsoft.com/office/drawing/2014/main" id="{18B1067D-886F-44A0-93D6-F62EF2905591}"/>
              </a:ext>
            </a:extLst>
          </p:cNvPr>
          <p:cNvSpPr>
            <a:spLocks xmlns:a="http://schemas.openxmlformats.org/drawingml/2006/main" noGrp="1"/>
          </p:cNvSpPr>
          <p:nvPr/>
        </p:nvSpPr>
        <p:spPr>
          <a:xfrm xmlns:a="http://schemas.openxmlformats.org/drawingml/2006/main">
            <a:off x="571500" y="3895725"/>
            <a:ext cx="11049000" cy="619125"/>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30" name="text-313">
            <a:extLst xmlns:a="http://schemas.openxmlformats.org/drawingml/2006/main">
              <a:ext uri="{FF2B5EF4-FFF2-40B4-BE49-F238E27FC236}">
                <a16:creationId xmlns:a16="http://schemas.microsoft.com/office/drawing/2014/main" id="{3BE2D44A-DB66-44B3-9A61-72B8134DAB56}"/>
              </a:ext>
            </a:extLst>
          </p:cNvPr>
          <p:cNvSpPr>
            <a:spLocks xmlns:a="http://schemas.openxmlformats.org/drawingml/2006/main" noGrp="1"/>
          </p:cNvSpPr>
          <p:nvPr/>
        </p:nvSpPr>
        <p:spPr>
          <a:xfrm xmlns:a="http://schemas.openxmlformats.org/drawingml/2006/main">
            <a:off x="685800" y="4010025"/>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Gradient boosting</a:t>
            </a:r>
          </a:p>
        </p:txBody>
      </p:sp>
      <p:sp>
        <p:nvSpPr>
          <p:cNvPr id="31" name="text-314">
            <a:extLst xmlns:a="http://schemas.openxmlformats.org/drawingml/2006/main">
              <a:ext uri="{FF2B5EF4-FFF2-40B4-BE49-F238E27FC236}">
                <a16:creationId xmlns:a16="http://schemas.microsoft.com/office/drawing/2014/main" id="{9CD7251A-AB1D-4314-9E71-17E4D0AB6BBF}"/>
              </a:ext>
            </a:extLst>
          </p:cNvPr>
          <p:cNvSpPr>
            <a:spLocks xmlns:a="http://schemas.openxmlformats.org/drawingml/2006/main" noGrp="1"/>
          </p:cNvSpPr>
          <p:nvPr/>
        </p:nvSpPr>
        <p:spPr>
          <a:xfrm xmlns:a="http://schemas.openxmlformats.org/drawingml/2006/main">
            <a:off x="4019550" y="401002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.538</a:t>
            </a:r>
          </a:p>
        </p:txBody>
      </p:sp>
      <p:sp>
        <p:nvSpPr>
          <p:cNvPr id="32" name="text-315">
            <a:extLst xmlns:a="http://schemas.openxmlformats.org/drawingml/2006/main">
              <a:ext uri="{FF2B5EF4-FFF2-40B4-BE49-F238E27FC236}">
                <a16:creationId xmlns:a16="http://schemas.microsoft.com/office/drawing/2014/main" id="{A9798751-2515-4B69-A4AB-B7AC1551A6B3}"/>
              </a:ext>
            </a:extLst>
          </p:cNvPr>
          <p:cNvSpPr>
            <a:spLocks xmlns:a="http://schemas.openxmlformats.org/drawingml/2006/main" noGrp="1"/>
          </p:cNvSpPr>
          <p:nvPr/>
        </p:nvSpPr>
        <p:spPr>
          <a:xfrm xmlns:a="http://schemas.openxmlformats.org/drawingml/2006/main">
            <a:off x="5400675" y="4010025"/>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.500</a:t>
            </a:r>
          </a:p>
        </p:txBody>
      </p:sp>
      <p:sp>
        <p:nvSpPr>
          <p:cNvPr id="33" name="text-316">
            <a:extLst xmlns:a="http://schemas.openxmlformats.org/drawingml/2006/main">
              <a:ext uri="{FF2B5EF4-FFF2-40B4-BE49-F238E27FC236}">
                <a16:creationId xmlns:a16="http://schemas.microsoft.com/office/drawing/2014/main" id="{EA4817BD-70FB-4FB9-8C0E-037A8B9AFCE4}"/>
              </a:ext>
            </a:extLst>
          </p:cNvPr>
          <p:cNvSpPr>
            <a:spLocks xmlns:a="http://schemas.openxmlformats.org/drawingml/2006/main" noGrp="1"/>
          </p:cNvSpPr>
          <p:nvPr/>
        </p:nvSpPr>
        <p:spPr>
          <a:xfrm xmlns:a="http://schemas.openxmlformats.org/drawingml/2006/main">
            <a:off x="6877050" y="401002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.806</a:t>
            </a:r>
          </a:p>
        </p:txBody>
      </p:sp>
      <p:sp>
        <p:nvSpPr>
          <p:cNvPr id="34" name="text-317">
            <a:extLst xmlns:a="http://schemas.openxmlformats.org/drawingml/2006/main">
              <a:ext uri="{FF2B5EF4-FFF2-40B4-BE49-F238E27FC236}">
                <a16:creationId xmlns:a16="http://schemas.microsoft.com/office/drawing/2014/main" id="{EF19187A-8E3A-4917-9EFF-B18AFD1001A6}"/>
              </a:ext>
            </a:extLst>
          </p:cNvPr>
          <p:cNvSpPr>
            <a:spLocks xmlns:a="http://schemas.openxmlformats.org/drawingml/2006/main" noGrp="1"/>
          </p:cNvSpPr>
          <p:nvPr/>
        </p:nvSpPr>
        <p:spPr>
          <a:xfrm xmlns:a="http://schemas.openxmlformats.org/drawingml/2006/main">
            <a:off x="8258175" y="401002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.617</a:t>
            </a:r>
          </a:p>
        </p:txBody>
      </p:sp>
      <p:sp>
        <p:nvSpPr>
          <p:cNvPr id="35" name="text-318">
            <a:extLst xmlns:a="http://schemas.openxmlformats.org/drawingml/2006/main">
              <a:ext uri="{FF2B5EF4-FFF2-40B4-BE49-F238E27FC236}">
                <a16:creationId xmlns:a16="http://schemas.microsoft.com/office/drawing/2014/main" id="{5F7A2F39-4F2F-46CD-A659-6122D5757C4A}"/>
              </a:ext>
            </a:extLst>
          </p:cNvPr>
          <p:cNvSpPr>
            <a:spLocks xmlns:a="http://schemas.openxmlformats.org/drawingml/2006/main" noGrp="1"/>
          </p:cNvSpPr>
          <p:nvPr/>
        </p:nvSpPr>
        <p:spPr>
          <a:xfrm xmlns:a="http://schemas.openxmlformats.org/drawingml/2006/main">
            <a:off x="9639300" y="401002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.589</a:t>
            </a:r>
          </a:p>
        </p:txBody>
      </p:sp>
      <p:sp>
        <p:nvSpPr>
          <p:cNvPr id="36" name="shape-319">
            <a:extLst xmlns:a="http://schemas.openxmlformats.org/drawingml/2006/main">
              <a:ext uri="{FF2B5EF4-FFF2-40B4-BE49-F238E27FC236}">
                <a16:creationId xmlns:a16="http://schemas.microsoft.com/office/drawing/2014/main" id="{0BF405BE-DC06-4078-98B3-A30D46070962}"/>
              </a:ext>
            </a:extLst>
          </p:cNvPr>
          <p:cNvSpPr>
            <a:spLocks xmlns:a="http://schemas.openxmlformats.org/drawingml/2006/main" noGrp="1"/>
          </p:cNvSpPr>
          <p:nvPr/>
        </p:nvSpPr>
        <p:spPr>
          <a:xfrm xmlns:a="http://schemas.openxmlformats.org/drawingml/2006/main">
            <a:off x="571500" y="451485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37" name="text-320">
            <a:extLst xmlns:a="http://schemas.openxmlformats.org/drawingml/2006/main">
              <a:ext uri="{FF2B5EF4-FFF2-40B4-BE49-F238E27FC236}">
                <a16:creationId xmlns:a16="http://schemas.microsoft.com/office/drawing/2014/main" id="{EB3E4039-ECFD-4952-B8C3-787EACC79C9D}"/>
              </a:ext>
            </a:extLst>
          </p:cNvPr>
          <p:cNvSpPr>
            <a:spLocks xmlns:a="http://schemas.openxmlformats.org/drawingml/2006/main" noGrp="1"/>
          </p:cNvSpPr>
          <p:nvPr/>
        </p:nvSpPr>
        <p:spPr>
          <a:xfrm xmlns:a="http://schemas.openxmlformats.org/drawingml/2006/main">
            <a:off x="571500" y="5810250"/>
            <a:ext cx="110490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0">
                <a:solidFill>
                  <a:srgbClr val="596C7D"/>
                </a:solidFill>
                <a:latin typeface="Arial"/>
                <a:ea typeface="Arial"/>
                <a:cs typeface="Arial"/>
              </a:defRPr>
            </a:pPr>
            <a:r>
              <a:rPr sz="1500" b="0">
                <a:solidFill>
                  <a:srgbClr val="596C7D"/>
                </a:solidFill>
                <a:latin typeface="Arial"/>
                <a:ea typeface="Arial"/>
                <a:cs typeface="Arial"/>
              </a:rPr>
              <a:t>Tuning does not improve every metric. Boosting recall rises while evaluation AP falls from .615 to .589.</a:t>
            </a:r>
          </a:p>
        </p:txBody>
      </p:sp>
    </p:spTree>
    <p:extLst>
      <p:ext uri="{BB962C8B-B14F-4D97-AF65-F5344CB8AC3E}">
        <p14:creationId xmlns:p14="http://schemas.microsoft.com/office/powerpoint/2010/main" val="66774028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41400E03-256B-4BCE-B50A-41A933AC19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283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F4AD5EB6-7769-4068-8517-A1E397076F0B}"/>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BF1A5AD7-6A6D-48C1-B77C-63A1AECDE549}"/>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B7D3E9"/>
                </a:solidFill>
                <a:latin typeface="Arial"/>
                <a:ea typeface="Arial"/>
                <a:cs typeface="Arial"/>
              </a:defRPr>
            </a:pPr>
            <a:r>
              <a:rPr sz="1125" b="1">
                <a:solidFill>
                  <a:srgbClr val="B7D3E9"/>
                </a:solidFill>
                <a:latin typeface="Arial"/>
                <a:ea typeface="Arial"/>
                <a:cs typeface="Arial"/>
              </a:rPr>
              <a:t>ENSEMBLE DESIGN</a:t>
            </a:r>
          </a:p>
        </p:txBody>
      </p:sp>
      <p:sp>
        <p:nvSpPr>
          <p:cNvPr id="4" name="text-321">
            <a:extLst xmlns:a="http://schemas.openxmlformats.org/drawingml/2006/main">
              <a:ext uri="{FF2B5EF4-FFF2-40B4-BE49-F238E27FC236}">
                <a16:creationId xmlns:a16="http://schemas.microsoft.com/office/drawing/2014/main" id="{701ED2B7-0FE0-4AB1-829E-E2E2E3C6C796}"/>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FFFFFF"/>
                </a:solidFill>
                <a:latin typeface="Georgia"/>
                <a:ea typeface="Georgia"/>
                <a:cs typeface="Georgia"/>
              </a:defRPr>
            </a:pPr>
            <a:r>
              <a:rPr sz="3300" b="0">
                <a:solidFill>
                  <a:srgbClr val="FFFFFF"/>
                </a:solidFill>
                <a:latin typeface="Georgia"/>
                <a:ea typeface="Georgia"/>
                <a:cs typeface="Georgia"/>
              </a:rPr>
              <a:t>Soft voting averages three complementary response scores</a:t>
            </a:r>
          </a:p>
        </p:txBody>
      </p:sp>
      <p:sp>
        <p:nvSpPr>
          <p:cNvPr id="5" name="shape-322">
            <a:extLst xmlns:a="http://schemas.openxmlformats.org/drawingml/2006/main">
              <a:ext uri="{FF2B5EF4-FFF2-40B4-BE49-F238E27FC236}">
                <a16:creationId xmlns:a16="http://schemas.microsoft.com/office/drawing/2014/main" id="{1DA1D08A-6275-42A2-B985-606D7A423769}"/>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3F566D"/>
          </a:solidFill>
          <a:ln xmlns:a="http://schemas.openxmlformats.org/drawingml/2006/main" w="0">
            <a:noFill/>
            <a:prstDash val="solid"/>
          </a:ln>
        </p:spPr>
      </p:sp>
      <p:sp>
        <p:nvSpPr>
          <p:cNvPr id="6" name="text-323">
            <a:extLst xmlns:a="http://schemas.openxmlformats.org/drawingml/2006/main">
              <a:ext uri="{FF2B5EF4-FFF2-40B4-BE49-F238E27FC236}">
                <a16:creationId xmlns:a16="http://schemas.microsoft.com/office/drawing/2014/main" id="{F11DEE59-AB12-439F-8F6A-27BAA10FCFD4}"/>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B7C6D5"/>
                </a:solidFill>
                <a:latin typeface="Arial"/>
                <a:ea typeface="Arial"/>
                <a:cs typeface="Arial"/>
              </a:defRPr>
            </a:pPr>
            <a:r>
              <a:rPr sz="975" b="0">
                <a:solidFill>
                  <a:srgbClr val="B7C6D5"/>
                </a:solidFill>
                <a:latin typeface="Arial"/>
                <a:ea typeface="Arial"/>
                <a:cs typeface="Arial"/>
              </a:rPr>
              <a:t>main.ipynb §7 | cloned best_estimator_ model steps</a:t>
            </a:r>
          </a:p>
        </p:txBody>
      </p:sp>
      <p:sp>
        <p:nvSpPr>
          <p:cNvPr id="7" name="text-324">
            <a:extLst xmlns:a="http://schemas.openxmlformats.org/drawingml/2006/main">
              <a:ext uri="{FF2B5EF4-FFF2-40B4-BE49-F238E27FC236}">
                <a16:creationId xmlns:a16="http://schemas.microsoft.com/office/drawing/2014/main" id="{335D57BC-1D14-408F-B305-B6A1EAA4AAC6}"/>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B7C6D5"/>
                </a:solidFill>
                <a:latin typeface="Arial"/>
                <a:ea typeface="Arial"/>
                <a:cs typeface="Arial"/>
              </a:defRPr>
            </a:pPr>
            <a:r>
              <a:rPr sz="1200" b="0">
                <a:solidFill>
                  <a:srgbClr val="B7C6D5"/>
                </a:solidFill>
                <a:latin typeface="Arial"/>
                <a:ea typeface="Arial"/>
                <a:cs typeface="Arial"/>
              </a:rPr>
              <a:t>15</a:t>
            </a:r>
          </a:p>
        </p:txBody>
      </p:sp>
      <p:sp>
        <p:nvSpPr>
          <p:cNvPr id="8" name="shape-325">
            <a:extLst xmlns:a="http://schemas.openxmlformats.org/drawingml/2006/main">
              <a:ext uri="{FF2B5EF4-FFF2-40B4-BE49-F238E27FC236}">
                <a16:creationId xmlns:a16="http://schemas.microsoft.com/office/drawing/2014/main" id="{06E14E3F-D771-4CCD-9351-C3D0E3CC262A}"/>
              </a:ext>
            </a:extLst>
          </p:cNvPr>
          <p:cNvSpPr>
            <a:spLocks xmlns:a="http://schemas.openxmlformats.org/drawingml/2006/main" noGrp="1"/>
          </p:cNvSpPr>
          <p:nvPr/>
        </p:nvSpPr>
        <p:spPr>
          <a:xfrm xmlns:a="http://schemas.openxmlformats.org/drawingml/2006/main">
            <a:off x="7038975" y="2762250"/>
            <a:ext cx="4581525" cy="1476375"/>
          </a:xfrm>
          <a:prstGeom xmlns:a="http://schemas.openxmlformats.org/drawingml/2006/main" prst="rect">
            <a:avLst/>
          </a:prstGeom>
          <a:solidFill xmlns:a="http://schemas.openxmlformats.org/drawingml/2006/main">
            <a:srgbClr val="243E57"/>
          </a:solidFill>
          <a:ln xmlns:a="http://schemas.openxmlformats.org/drawingml/2006/main" w="0">
            <a:noFill/>
            <a:prstDash val="solid"/>
          </a:ln>
        </p:spPr>
      </p:sp>
      <p:sp>
        <p:nvSpPr>
          <p:cNvPr id="9" name="shape-326">
            <a:extLst xmlns:a="http://schemas.openxmlformats.org/drawingml/2006/main">
              <a:ext uri="{FF2B5EF4-FFF2-40B4-BE49-F238E27FC236}">
                <a16:creationId xmlns:a16="http://schemas.microsoft.com/office/drawing/2014/main" id="{E16D2677-096D-444B-B293-C650CDB0A881}"/>
              </a:ext>
            </a:extLst>
          </p:cNvPr>
          <p:cNvSpPr>
            <a:spLocks xmlns:a="http://schemas.openxmlformats.org/drawingml/2006/main" noGrp="1"/>
          </p:cNvSpPr>
          <p:nvPr/>
        </p:nvSpPr>
        <p:spPr>
          <a:xfrm xmlns:a="http://schemas.openxmlformats.org/drawingml/2006/main">
            <a:off x="571500" y="2266950"/>
            <a:ext cx="5019675" cy="857250"/>
          </a:xfrm>
          <a:prstGeom xmlns:a="http://schemas.openxmlformats.org/drawingml/2006/main" prst="rect">
            <a:avLst/>
          </a:prstGeom>
          <a:solidFill xmlns:a="http://schemas.openxmlformats.org/drawingml/2006/main">
            <a:srgbClr val="243E57"/>
          </a:solidFill>
          <a:ln xmlns:a="http://schemas.openxmlformats.org/drawingml/2006/main" w="0">
            <a:noFill/>
            <a:prstDash val="solid"/>
          </a:ln>
        </p:spPr>
      </p:sp>
      <p:sp>
        <p:nvSpPr>
          <p:cNvPr id="10" name="text-327">
            <a:extLst xmlns:a="http://schemas.openxmlformats.org/drawingml/2006/main">
              <a:ext uri="{FF2B5EF4-FFF2-40B4-BE49-F238E27FC236}">
                <a16:creationId xmlns:a16="http://schemas.microsoft.com/office/drawing/2014/main" id="{90A7D100-C640-4DEB-8911-DA56C4E076A3}"/>
              </a:ext>
            </a:extLst>
          </p:cNvPr>
          <p:cNvSpPr>
            <a:spLocks xmlns:a="http://schemas.openxmlformats.org/drawingml/2006/main" noGrp="1"/>
          </p:cNvSpPr>
          <p:nvPr/>
        </p:nvSpPr>
        <p:spPr>
          <a:xfrm xmlns:a="http://schemas.openxmlformats.org/drawingml/2006/main">
            <a:off x="781050" y="2409825"/>
            <a:ext cx="4476750" cy="3238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Logistic regression</a:t>
            </a:r>
          </a:p>
        </p:txBody>
      </p:sp>
      <p:sp>
        <p:nvSpPr>
          <p:cNvPr id="11" name="text-328">
            <a:extLst xmlns:a="http://schemas.openxmlformats.org/drawingml/2006/main">
              <a:ext uri="{FF2B5EF4-FFF2-40B4-BE49-F238E27FC236}">
                <a16:creationId xmlns:a16="http://schemas.microsoft.com/office/drawing/2014/main" id="{09BDF55A-28E4-45CA-AE04-0644BF4873D0}"/>
              </a:ext>
            </a:extLst>
          </p:cNvPr>
          <p:cNvSpPr>
            <a:spLocks xmlns:a="http://schemas.openxmlformats.org/drawingml/2006/main" noGrp="1"/>
          </p:cNvSpPr>
          <p:nvPr/>
        </p:nvSpPr>
        <p:spPr>
          <a:xfrm xmlns:a="http://schemas.openxmlformats.org/drawingml/2006/main">
            <a:off x="781050" y="2762250"/>
            <a:ext cx="44767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B7D3E9"/>
                </a:solidFill>
                <a:latin typeface="Arial"/>
                <a:ea typeface="Arial"/>
                <a:cs typeface="Arial"/>
              </a:defRPr>
            </a:pPr>
            <a:r>
              <a:rPr sz="1425" b="0">
                <a:solidFill>
                  <a:srgbClr val="B7D3E9"/>
                </a:solidFill>
                <a:latin typeface="Arial"/>
                <a:ea typeface="Arial"/>
                <a:cs typeface="Arial"/>
              </a:rPr>
              <a:t>Linear response patterns</a:t>
            </a:r>
          </a:p>
        </p:txBody>
      </p:sp>
      <p:sp>
        <p:nvSpPr>
          <p:cNvPr id="12" name="">
            <a:extLst xmlns:a="http://schemas.openxmlformats.org/drawingml/2006/main">
              <a:ext uri="{FF2B5EF4-FFF2-40B4-BE49-F238E27FC236}">
                <a16:creationId xmlns:a16="http://schemas.microsoft.com/office/drawing/2014/main" id="{559F3EE0-6773-4321-8C3D-38F61903F0E4}"/>
              </a:ext>
            </a:extLst>
          </p:cNvPr>
          <p:cNvSpPr>
            <a:spLocks xmlns:a="http://schemas.openxmlformats.org/drawingml/2006/main" noGrp="1"/>
          </p:cNvSpPr>
          <p:nvPr/>
        </p:nvSpPr>
        <p:spPr>
          <a:xfrm xmlns:a="http://schemas.openxmlformats.org/drawingml/2006/main">
            <a:off x="5591175" y="2695575"/>
            <a:ext cx="1447800" cy="804863"/>
          </a:xfrm>
          <a:custGeom xmlns:a="http://schemas.openxmlformats.org/drawingml/2006/main">
            <a:pathLst>
              <a:path w="1447800" h="804863">
                <a:moveTo>
                  <a:pt x="0" y="0"/>
                </a:moveTo>
                <a:lnTo>
                  <a:pt x="733425" y="0"/>
                </a:lnTo>
                <a:lnTo>
                  <a:pt x="733425" y="804863"/>
                </a:lnTo>
                <a:lnTo>
                  <a:pt x="1447800" y="804863"/>
                </a:lnTo>
              </a:path>
            </a:pathLst>
          </a:custGeom>
          <a:noFill xmlns:a="http://schemas.openxmlformats.org/drawingml/2006/main"/>
          <a:ln xmlns:a="http://schemas.openxmlformats.org/drawingml/2006/main" w="19050">
            <a:solidFill>
              <a:srgbClr val="B7D3E9"/>
            </a:solidFill>
            <a:prstDash val="solid"/>
          </a:ln>
        </p:spPr>
      </p:sp>
      <p:sp>
        <p:nvSpPr>
          <p:cNvPr id="13" name="shape-329">
            <a:extLst xmlns:a="http://schemas.openxmlformats.org/drawingml/2006/main">
              <a:ext uri="{FF2B5EF4-FFF2-40B4-BE49-F238E27FC236}">
                <a16:creationId xmlns:a16="http://schemas.microsoft.com/office/drawing/2014/main" id="{4DEE711D-880D-4903-A620-0AE19FD5EEC4}"/>
              </a:ext>
            </a:extLst>
          </p:cNvPr>
          <p:cNvSpPr>
            <a:spLocks xmlns:a="http://schemas.openxmlformats.org/drawingml/2006/main" noGrp="1"/>
          </p:cNvSpPr>
          <p:nvPr/>
        </p:nvSpPr>
        <p:spPr>
          <a:xfrm xmlns:a="http://schemas.openxmlformats.org/drawingml/2006/main">
            <a:off x="571500" y="3343275"/>
            <a:ext cx="5019675" cy="857250"/>
          </a:xfrm>
          <a:prstGeom xmlns:a="http://schemas.openxmlformats.org/drawingml/2006/main" prst="rect">
            <a:avLst/>
          </a:prstGeom>
          <a:solidFill xmlns:a="http://schemas.openxmlformats.org/drawingml/2006/main">
            <a:srgbClr val="243E57"/>
          </a:solidFill>
          <a:ln xmlns:a="http://schemas.openxmlformats.org/drawingml/2006/main" w="0">
            <a:noFill/>
            <a:prstDash val="solid"/>
          </a:ln>
        </p:spPr>
      </p:sp>
      <p:sp>
        <p:nvSpPr>
          <p:cNvPr id="14" name="text-330">
            <a:extLst xmlns:a="http://schemas.openxmlformats.org/drawingml/2006/main">
              <a:ext uri="{FF2B5EF4-FFF2-40B4-BE49-F238E27FC236}">
                <a16:creationId xmlns:a16="http://schemas.microsoft.com/office/drawing/2014/main" id="{94EFB240-2018-4646-B18A-5DF3F40AF752}"/>
              </a:ext>
            </a:extLst>
          </p:cNvPr>
          <p:cNvSpPr>
            <a:spLocks xmlns:a="http://schemas.openxmlformats.org/drawingml/2006/main" noGrp="1"/>
          </p:cNvSpPr>
          <p:nvPr/>
        </p:nvSpPr>
        <p:spPr>
          <a:xfrm xmlns:a="http://schemas.openxmlformats.org/drawingml/2006/main">
            <a:off x="781050" y="3486150"/>
            <a:ext cx="4476750" cy="3238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Random forest</a:t>
            </a:r>
          </a:p>
        </p:txBody>
      </p:sp>
      <p:sp>
        <p:nvSpPr>
          <p:cNvPr id="15" name="text-331">
            <a:extLst xmlns:a="http://schemas.openxmlformats.org/drawingml/2006/main">
              <a:ext uri="{FF2B5EF4-FFF2-40B4-BE49-F238E27FC236}">
                <a16:creationId xmlns:a16="http://schemas.microsoft.com/office/drawing/2014/main" id="{A13C64D5-F361-4918-BC2A-E87D98A29BDD}"/>
              </a:ext>
            </a:extLst>
          </p:cNvPr>
          <p:cNvSpPr>
            <a:spLocks xmlns:a="http://schemas.openxmlformats.org/drawingml/2006/main" noGrp="1"/>
          </p:cNvSpPr>
          <p:nvPr/>
        </p:nvSpPr>
        <p:spPr>
          <a:xfrm xmlns:a="http://schemas.openxmlformats.org/drawingml/2006/main">
            <a:off x="781050" y="3838575"/>
            <a:ext cx="44767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B7D3E9"/>
                </a:solidFill>
                <a:latin typeface="Arial"/>
                <a:ea typeface="Arial"/>
                <a:cs typeface="Arial"/>
              </a:defRPr>
            </a:pPr>
            <a:r>
              <a:rPr sz="1425" b="0">
                <a:solidFill>
                  <a:srgbClr val="B7D3E9"/>
                </a:solidFill>
                <a:latin typeface="Arial"/>
                <a:ea typeface="Arial"/>
                <a:cs typeface="Arial"/>
              </a:rPr>
              <a:t>Averages bagged trees</a:t>
            </a:r>
          </a:p>
        </p:txBody>
      </p:sp>
      <p:sp>
        <p:nvSpPr>
          <p:cNvPr id="16" name="">
            <a:extLst xmlns:a="http://schemas.openxmlformats.org/drawingml/2006/main">
              <a:ext uri="{FF2B5EF4-FFF2-40B4-BE49-F238E27FC236}">
                <a16:creationId xmlns:a16="http://schemas.microsoft.com/office/drawing/2014/main" id="{7D4CA91A-6D31-466F-8ECF-7614633F0045}"/>
              </a:ext>
            </a:extLst>
          </p:cNvPr>
          <p:cNvSpPr>
            <a:spLocks xmlns:a="http://schemas.openxmlformats.org/drawingml/2006/main" noGrp="1"/>
          </p:cNvSpPr>
          <p:nvPr/>
        </p:nvSpPr>
        <p:spPr>
          <a:xfrm xmlns:a="http://schemas.openxmlformats.org/drawingml/2006/main">
            <a:off x="5591175" y="3500438"/>
            <a:ext cx="1447800" cy="271463"/>
          </a:xfrm>
          <a:custGeom xmlns:a="http://schemas.openxmlformats.org/drawingml/2006/main">
            <a:pathLst>
              <a:path w="1447800" h="271463">
                <a:moveTo>
                  <a:pt x="0" y="271463"/>
                </a:moveTo>
                <a:lnTo>
                  <a:pt x="733425" y="271463"/>
                </a:lnTo>
                <a:lnTo>
                  <a:pt x="733425" y="0"/>
                </a:lnTo>
                <a:lnTo>
                  <a:pt x="1447800" y="0"/>
                </a:lnTo>
              </a:path>
            </a:pathLst>
          </a:custGeom>
          <a:noFill xmlns:a="http://schemas.openxmlformats.org/drawingml/2006/main"/>
          <a:ln xmlns:a="http://schemas.openxmlformats.org/drawingml/2006/main" w="19050">
            <a:solidFill>
              <a:srgbClr val="B7D3E9"/>
            </a:solidFill>
            <a:prstDash val="solid"/>
          </a:ln>
        </p:spPr>
      </p:sp>
      <p:sp>
        <p:nvSpPr>
          <p:cNvPr id="17" name="shape-332">
            <a:extLst xmlns:a="http://schemas.openxmlformats.org/drawingml/2006/main">
              <a:ext uri="{FF2B5EF4-FFF2-40B4-BE49-F238E27FC236}">
                <a16:creationId xmlns:a16="http://schemas.microsoft.com/office/drawing/2014/main" id="{CCAF4C7D-2D0F-43F5-80EA-1BCCB90C997A}"/>
              </a:ext>
            </a:extLst>
          </p:cNvPr>
          <p:cNvSpPr>
            <a:spLocks xmlns:a="http://schemas.openxmlformats.org/drawingml/2006/main" noGrp="1"/>
          </p:cNvSpPr>
          <p:nvPr/>
        </p:nvSpPr>
        <p:spPr>
          <a:xfrm xmlns:a="http://schemas.openxmlformats.org/drawingml/2006/main">
            <a:off x="571500" y="4419600"/>
            <a:ext cx="5019675" cy="857250"/>
          </a:xfrm>
          <a:prstGeom xmlns:a="http://schemas.openxmlformats.org/drawingml/2006/main" prst="rect">
            <a:avLst/>
          </a:prstGeom>
          <a:solidFill xmlns:a="http://schemas.openxmlformats.org/drawingml/2006/main">
            <a:srgbClr val="243E57"/>
          </a:solidFill>
          <a:ln xmlns:a="http://schemas.openxmlformats.org/drawingml/2006/main" w="0">
            <a:noFill/>
            <a:prstDash val="solid"/>
          </a:ln>
        </p:spPr>
      </p:sp>
      <p:sp>
        <p:nvSpPr>
          <p:cNvPr id="18" name="text-333">
            <a:extLst xmlns:a="http://schemas.openxmlformats.org/drawingml/2006/main">
              <a:ext uri="{FF2B5EF4-FFF2-40B4-BE49-F238E27FC236}">
                <a16:creationId xmlns:a16="http://schemas.microsoft.com/office/drawing/2014/main" id="{DCC8F2AD-D715-4858-BFD9-FB18FC7A4881}"/>
              </a:ext>
            </a:extLst>
          </p:cNvPr>
          <p:cNvSpPr>
            <a:spLocks xmlns:a="http://schemas.openxmlformats.org/drawingml/2006/main" noGrp="1"/>
          </p:cNvSpPr>
          <p:nvPr/>
        </p:nvSpPr>
        <p:spPr>
          <a:xfrm xmlns:a="http://schemas.openxmlformats.org/drawingml/2006/main">
            <a:off x="781050" y="4562475"/>
            <a:ext cx="4476750" cy="3238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Gradient boosting</a:t>
            </a:r>
          </a:p>
        </p:txBody>
      </p:sp>
      <p:sp>
        <p:nvSpPr>
          <p:cNvPr id="19" name="text-334">
            <a:extLst xmlns:a="http://schemas.openxmlformats.org/drawingml/2006/main">
              <a:ext uri="{FF2B5EF4-FFF2-40B4-BE49-F238E27FC236}">
                <a16:creationId xmlns:a16="http://schemas.microsoft.com/office/drawing/2014/main" id="{A5A5F7F0-0E54-42FB-81F8-ECBB0DE85430}"/>
              </a:ext>
            </a:extLst>
          </p:cNvPr>
          <p:cNvSpPr>
            <a:spLocks xmlns:a="http://schemas.openxmlformats.org/drawingml/2006/main" noGrp="1"/>
          </p:cNvSpPr>
          <p:nvPr/>
        </p:nvSpPr>
        <p:spPr>
          <a:xfrm xmlns:a="http://schemas.openxmlformats.org/drawingml/2006/main">
            <a:off x="781050" y="4914900"/>
            <a:ext cx="44767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B7D3E9"/>
                </a:solidFill>
                <a:latin typeface="Arial"/>
                <a:ea typeface="Arial"/>
                <a:cs typeface="Arial"/>
              </a:defRPr>
            </a:pPr>
            <a:r>
              <a:rPr sz="1425" b="0">
                <a:solidFill>
                  <a:srgbClr val="B7D3E9"/>
                </a:solidFill>
                <a:latin typeface="Arial"/>
                <a:ea typeface="Arial"/>
                <a:cs typeface="Arial"/>
              </a:rPr>
              <a:t>Sequential residual learning</a:t>
            </a:r>
          </a:p>
        </p:txBody>
      </p:sp>
      <p:sp>
        <p:nvSpPr>
          <p:cNvPr id="20" name="">
            <a:extLst xmlns:a="http://schemas.openxmlformats.org/drawingml/2006/main">
              <a:ext uri="{FF2B5EF4-FFF2-40B4-BE49-F238E27FC236}">
                <a16:creationId xmlns:a16="http://schemas.microsoft.com/office/drawing/2014/main" id="{ECAD0982-ED37-4F31-A7EC-41D71A5949AC}"/>
              </a:ext>
            </a:extLst>
          </p:cNvPr>
          <p:cNvSpPr>
            <a:spLocks xmlns:a="http://schemas.openxmlformats.org/drawingml/2006/main" noGrp="1"/>
          </p:cNvSpPr>
          <p:nvPr/>
        </p:nvSpPr>
        <p:spPr>
          <a:xfrm xmlns:a="http://schemas.openxmlformats.org/drawingml/2006/main">
            <a:off x="5591175" y="3500438"/>
            <a:ext cx="1447800" cy="1347788"/>
          </a:xfrm>
          <a:custGeom xmlns:a="http://schemas.openxmlformats.org/drawingml/2006/main">
            <a:pathLst>
              <a:path w="1447800" h="1347788">
                <a:moveTo>
                  <a:pt x="0" y="1347788"/>
                </a:moveTo>
                <a:lnTo>
                  <a:pt x="733425" y="1347788"/>
                </a:lnTo>
                <a:lnTo>
                  <a:pt x="733425" y="0"/>
                </a:lnTo>
                <a:lnTo>
                  <a:pt x="1447800" y="0"/>
                </a:lnTo>
              </a:path>
            </a:pathLst>
          </a:custGeom>
          <a:noFill xmlns:a="http://schemas.openxmlformats.org/drawingml/2006/main"/>
          <a:ln xmlns:a="http://schemas.openxmlformats.org/drawingml/2006/main" w="19050">
            <a:solidFill>
              <a:srgbClr val="B7D3E9"/>
            </a:solidFill>
            <a:prstDash val="solid"/>
          </a:ln>
        </p:spPr>
      </p:sp>
      <p:sp>
        <p:nvSpPr>
          <p:cNvPr id="21" name="text-335">
            <a:extLst xmlns:a="http://schemas.openxmlformats.org/drawingml/2006/main">
              <a:ext uri="{FF2B5EF4-FFF2-40B4-BE49-F238E27FC236}">
                <a16:creationId xmlns:a16="http://schemas.microsoft.com/office/drawing/2014/main" id="{BB259138-516D-4DE4-8530-58FBA224397D}"/>
              </a:ext>
            </a:extLst>
          </p:cNvPr>
          <p:cNvSpPr>
            <a:spLocks xmlns:a="http://schemas.openxmlformats.org/drawingml/2006/main" noGrp="1"/>
          </p:cNvSpPr>
          <p:nvPr/>
        </p:nvSpPr>
        <p:spPr>
          <a:xfrm xmlns:a="http://schemas.openxmlformats.org/drawingml/2006/main">
            <a:off x="7229475" y="2924175"/>
            <a:ext cx="420052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225" b="0">
                <a:solidFill>
                  <a:srgbClr val="FFFFFF"/>
                </a:solidFill>
                <a:latin typeface="Georgia"/>
                <a:ea typeface="Georgia"/>
                <a:cs typeface="Georgia"/>
              </a:defRPr>
            </a:pPr>
            <a:r>
              <a:rPr sz="3225" b="0">
                <a:solidFill>
                  <a:srgbClr val="FFFFFF"/>
                </a:solidFill>
                <a:latin typeface="Georgia"/>
                <a:ea typeface="Georgia"/>
                <a:cs typeface="Georgia"/>
              </a:rPr>
              <a:t>(p₁ + p₂ + p₃) / 3</a:t>
            </a:r>
          </a:p>
        </p:txBody>
      </p:sp>
      <p:sp>
        <p:nvSpPr>
          <p:cNvPr id="22" name="text-336">
            <a:extLst xmlns:a="http://schemas.openxmlformats.org/drawingml/2006/main">
              <a:ext uri="{FF2B5EF4-FFF2-40B4-BE49-F238E27FC236}">
                <a16:creationId xmlns:a16="http://schemas.microsoft.com/office/drawing/2014/main" id="{89FD6340-CCCF-4F33-9A8B-913D632CB7A6}"/>
              </a:ext>
            </a:extLst>
          </p:cNvPr>
          <p:cNvSpPr>
            <a:spLocks xmlns:a="http://schemas.openxmlformats.org/drawingml/2006/main" noGrp="1"/>
          </p:cNvSpPr>
          <p:nvPr/>
        </p:nvSpPr>
        <p:spPr>
          <a:xfrm xmlns:a="http://schemas.openxmlformats.org/drawingml/2006/main">
            <a:off x="7229475" y="3695700"/>
            <a:ext cx="420052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Equal-weight average</a:t>
            </a:r>
          </a:p>
        </p:txBody>
      </p:sp>
      <p:sp>
        <p:nvSpPr>
          <p:cNvPr id="23" name="text-337">
            <a:extLst xmlns:a="http://schemas.openxmlformats.org/drawingml/2006/main">
              <a:ext uri="{FF2B5EF4-FFF2-40B4-BE49-F238E27FC236}">
                <a16:creationId xmlns:a16="http://schemas.microsoft.com/office/drawing/2014/main" id="{7A59C428-B513-4FDB-B69F-9477CF762595}"/>
              </a:ext>
            </a:extLst>
          </p:cNvPr>
          <p:cNvSpPr>
            <a:spLocks xmlns:a="http://schemas.openxmlformats.org/drawingml/2006/main" noGrp="1"/>
          </p:cNvSpPr>
          <p:nvPr/>
        </p:nvSpPr>
        <p:spPr>
          <a:xfrm xmlns:a="http://schemas.openxmlformats.org/drawingml/2006/main">
            <a:off x="7038975" y="4562475"/>
            <a:ext cx="4429125"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B7D3E9"/>
                </a:solidFill>
                <a:latin typeface="Arial"/>
                <a:ea typeface="Arial"/>
                <a:cs typeface="Arial"/>
              </a:defRPr>
            </a:pPr>
            <a:r>
              <a:rPr sz="1725" b="0">
                <a:solidFill>
                  <a:srgbClr val="B7D3E9"/>
                </a:solidFill>
                <a:latin typeface="Arial"/>
                <a:ea typeface="Arial"/>
                <a:cs typeface="Arial"/>
              </a:rPr>
              <a:t>Higher score → earlier in the calling list</a:t>
            </a:r>
          </a:p>
        </p:txBody>
      </p:sp>
      <p:sp>
        <p:nvSpPr>
          <p:cNvPr id="24" name="text-338">
            <a:extLst xmlns:a="http://schemas.openxmlformats.org/drawingml/2006/main">
              <a:ext uri="{FF2B5EF4-FFF2-40B4-BE49-F238E27FC236}">
                <a16:creationId xmlns:a16="http://schemas.microsoft.com/office/drawing/2014/main" id="{FF3EE904-CC0A-4884-B8C2-C17DC081668D}"/>
              </a:ext>
            </a:extLst>
          </p:cNvPr>
          <p:cNvSpPr>
            <a:spLocks xmlns:a="http://schemas.openxmlformats.org/drawingml/2006/main" noGrp="1"/>
          </p:cNvSpPr>
          <p:nvPr/>
        </p:nvSpPr>
        <p:spPr>
          <a:xfrm xmlns:a="http://schemas.openxmlformats.org/drawingml/2006/main">
            <a:off x="7038975" y="5295900"/>
            <a:ext cx="442912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B7D3E9"/>
                </a:solidFill>
                <a:latin typeface="Arial"/>
                <a:ea typeface="Arial"/>
                <a:cs typeface="Arial"/>
              </a:defRPr>
            </a:pPr>
            <a:r>
              <a:rPr sz="1575" b="0">
                <a:solidFill>
                  <a:srgbClr val="B7D3E9"/>
                </a:solidFill>
                <a:latin typeface="Arial"/>
                <a:ea typeface="Arial"/>
                <a:cs typeface="Arial"/>
              </a:rPr>
              <a:t>Clone tuned models; apply balancing once.</a:t>
            </a:r>
          </a:p>
        </p:txBody>
      </p:sp>
      <p:sp>
        <p:nvSpPr>
          <p:cNvPr id="25" name="text-339">
            <a:extLst xmlns:a="http://schemas.openxmlformats.org/drawingml/2006/main">
              <a:ext uri="{FF2B5EF4-FFF2-40B4-BE49-F238E27FC236}">
                <a16:creationId xmlns:a16="http://schemas.microsoft.com/office/drawing/2014/main" id="{C8C5A9D1-C5A9-4B4D-A4FB-F6ABA875F718}"/>
              </a:ext>
            </a:extLst>
          </p:cNvPr>
          <p:cNvSpPr>
            <a:spLocks xmlns:a="http://schemas.openxmlformats.org/drawingml/2006/main" noGrp="1"/>
          </p:cNvSpPr>
          <p:nvPr/>
        </p:nvSpPr>
        <p:spPr>
          <a:xfrm xmlns:a="http://schemas.openxmlformats.org/drawingml/2006/main">
            <a:off x="571500" y="5819775"/>
            <a:ext cx="110490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0">
                <a:solidFill>
                  <a:srgbClr val="B7D3E9"/>
                </a:solidFill>
                <a:latin typeface="Arial"/>
                <a:ea typeface="Arial"/>
                <a:cs typeface="Arial"/>
              </a:defRPr>
            </a:pPr>
            <a:r>
              <a:rPr sz="1500" b="0">
                <a:solidFill>
                  <a:srgbClr val="B7D3E9"/>
                </a:solidFill>
                <a:latin typeface="Arial"/>
                <a:ea typeface="Arial"/>
                <a:cs typeface="Arial"/>
              </a:rPr>
              <a:t>Scores require calibration before they are used as literal purchase probabilities.</a:t>
            </a:r>
          </a:p>
        </p:txBody>
      </p:sp>
    </p:spTree>
    <p:extLst>
      <p:ext uri="{BB962C8B-B14F-4D97-AF65-F5344CB8AC3E}">
        <p14:creationId xmlns:p14="http://schemas.microsoft.com/office/powerpoint/2010/main" val="29611314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31A070B8-06AA-4C72-8922-81B09764C6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46F9D6BC-D672-4A56-830B-5E954B95FCCC}"/>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999FD17F-5F8B-479A-9F52-638ADCAF09CC}"/>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ENSEMBLE EVIDENCE</a:t>
            </a:r>
          </a:p>
        </p:txBody>
      </p:sp>
      <p:sp>
        <p:nvSpPr>
          <p:cNvPr id="4" name="text-340">
            <a:extLst xmlns:a="http://schemas.openxmlformats.org/drawingml/2006/main">
              <a:ext uri="{FF2B5EF4-FFF2-40B4-BE49-F238E27FC236}">
                <a16:creationId xmlns:a16="http://schemas.microsoft.com/office/drawing/2014/main" id="{04592479-ECF9-47F9-BCF8-54BB4DBCAACA}"/>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Soft voting offers a modest improvement in balance</a:t>
            </a:r>
          </a:p>
        </p:txBody>
      </p:sp>
      <p:sp>
        <p:nvSpPr>
          <p:cNvPr id="5" name="shape-341">
            <a:extLst xmlns:a="http://schemas.openxmlformats.org/drawingml/2006/main">
              <a:ext uri="{FF2B5EF4-FFF2-40B4-BE49-F238E27FC236}">
                <a16:creationId xmlns:a16="http://schemas.microsoft.com/office/drawing/2014/main" id="{827075AD-6458-444D-80D9-A3D97B8D202F}"/>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342">
            <a:extLst xmlns:a="http://schemas.openxmlformats.org/drawingml/2006/main">
              <a:ext uri="{FF2B5EF4-FFF2-40B4-BE49-F238E27FC236}">
                <a16:creationId xmlns:a16="http://schemas.microsoft.com/office/drawing/2014/main" id="{942E06D2-F94E-4D03-B726-612DF8DE9897}"/>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§6–7 | repeated development evaluation</a:t>
            </a:r>
          </a:p>
        </p:txBody>
      </p:sp>
      <p:sp>
        <p:nvSpPr>
          <p:cNvPr id="7" name="text-343">
            <a:extLst xmlns:a="http://schemas.openxmlformats.org/drawingml/2006/main">
              <a:ext uri="{FF2B5EF4-FFF2-40B4-BE49-F238E27FC236}">
                <a16:creationId xmlns:a16="http://schemas.microsoft.com/office/drawing/2014/main" id="{2A6C6FF6-7C6C-4B51-B2E9-66BFE37E5401}"/>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16</a:t>
            </a:r>
          </a:p>
        </p:txBody>
      </p:sp>
      <p:sp>
        <p:nvSpPr>
          <p:cNvPr id="8" name="shape-344">
            <a:extLst xmlns:a="http://schemas.openxmlformats.org/drawingml/2006/main">
              <a:ext uri="{FF2B5EF4-FFF2-40B4-BE49-F238E27FC236}">
                <a16:creationId xmlns:a16="http://schemas.microsoft.com/office/drawing/2014/main" id="{32C21E2B-6E2E-41A9-9901-298BD1F9D6CE}"/>
              </a:ext>
            </a:extLst>
          </p:cNvPr>
          <p:cNvSpPr>
            <a:spLocks xmlns:a="http://schemas.openxmlformats.org/drawingml/2006/main" noGrp="1"/>
          </p:cNvSpPr>
          <p:nvPr/>
        </p:nvSpPr>
        <p:spPr>
          <a:xfrm xmlns:a="http://schemas.openxmlformats.org/drawingml/2006/main">
            <a:off x="571500" y="2200275"/>
            <a:ext cx="11049000" cy="457200"/>
          </a:xfrm>
          <a:prstGeom xmlns:a="http://schemas.openxmlformats.org/drawingml/2006/main" prst="rect">
            <a:avLst/>
          </a:prstGeom>
          <a:solidFill xmlns:a="http://schemas.openxmlformats.org/drawingml/2006/main">
            <a:srgbClr val="182D43"/>
          </a:solidFill>
          <a:ln xmlns:a="http://schemas.openxmlformats.org/drawingml/2006/main" w="0">
            <a:noFill/>
            <a:prstDash val="solid"/>
          </a:ln>
        </p:spPr>
      </p:sp>
      <p:sp>
        <p:nvSpPr>
          <p:cNvPr id="9" name="text-345">
            <a:extLst xmlns:a="http://schemas.openxmlformats.org/drawingml/2006/main">
              <a:ext uri="{FF2B5EF4-FFF2-40B4-BE49-F238E27FC236}">
                <a16:creationId xmlns:a16="http://schemas.microsoft.com/office/drawing/2014/main" id="{F14ECA9E-DE86-4BE0-8F94-19C80DDAC1AA}"/>
              </a:ext>
            </a:extLst>
          </p:cNvPr>
          <p:cNvSpPr>
            <a:spLocks xmlns:a="http://schemas.openxmlformats.org/drawingml/2006/main" noGrp="1"/>
          </p:cNvSpPr>
          <p:nvPr/>
        </p:nvSpPr>
        <p:spPr>
          <a:xfrm xmlns:a="http://schemas.openxmlformats.org/drawingml/2006/main">
            <a:off x="685800" y="2314575"/>
            <a:ext cx="31051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Model</a:t>
            </a:r>
          </a:p>
        </p:txBody>
      </p:sp>
      <p:sp>
        <p:nvSpPr>
          <p:cNvPr id="10" name="text-346">
            <a:extLst xmlns:a="http://schemas.openxmlformats.org/drawingml/2006/main">
              <a:ext uri="{FF2B5EF4-FFF2-40B4-BE49-F238E27FC236}">
                <a16:creationId xmlns:a16="http://schemas.microsoft.com/office/drawing/2014/main" id="{269DFFB6-D45B-4789-84B8-B9FB01D6BFD1}"/>
              </a:ext>
            </a:extLst>
          </p:cNvPr>
          <p:cNvSpPr>
            <a:spLocks xmlns:a="http://schemas.openxmlformats.org/drawingml/2006/main" noGrp="1"/>
          </p:cNvSpPr>
          <p:nvPr/>
        </p:nvSpPr>
        <p:spPr>
          <a:xfrm xmlns:a="http://schemas.openxmlformats.org/drawingml/2006/main">
            <a:off x="4019550" y="2314575"/>
            <a:ext cx="1152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CV AP</a:t>
            </a:r>
          </a:p>
        </p:txBody>
      </p:sp>
      <p:sp>
        <p:nvSpPr>
          <p:cNvPr id="11" name="text-347">
            <a:extLst xmlns:a="http://schemas.openxmlformats.org/drawingml/2006/main">
              <a:ext uri="{FF2B5EF4-FFF2-40B4-BE49-F238E27FC236}">
                <a16:creationId xmlns:a16="http://schemas.microsoft.com/office/drawing/2014/main" id="{9F21F3FE-80FA-4296-9E1B-D06D69D16A1F}"/>
              </a:ext>
            </a:extLst>
          </p:cNvPr>
          <p:cNvSpPr>
            <a:spLocks xmlns:a="http://schemas.openxmlformats.org/drawingml/2006/main" noGrp="1"/>
          </p:cNvSpPr>
          <p:nvPr/>
        </p:nvSpPr>
        <p:spPr>
          <a:xfrm xmlns:a="http://schemas.openxmlformats.org/drawingml/2006/main">
            <a:off x="5400675" y="2314575"/>
            <a:ext cx="124777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Precision</a:t>
            </a:r>
          </a:p>
        </p:txBody>
      </p:sp>
      <p:sp>
        <p:nvSpPr>
          <p:cNvPr id="12" name="text-348">
            <a:extLst xmlns:a="http://schemas.openxmlformats.org/drawingml/2006/main">
              <a:ext uri="{FF2B5EF4-FFF2-40B4-BE49-F238E27FC236}">
                <a16:creationId xmlns:a16="http://schemas.microsoft.com/office/drawing/2014/main" id="{CE108025-5100-413E-812A-EF04CC41E9C7}"/>
              </a:ext>
            </a:extLst>
          </p:cNvPr>
          <p:cNvSpPr>
            <a:spLocks xmlns:a="http://schemas.openxmlformats.org/drawingml/2006/main" noGrp="1"/>
          </p:cNvSpPr>
          <p:nvPr/>
        </p:nvSpPr>
        <p:spPr>
          <a:xfrm xmlns:a="http://schemas.openxmlformats.org/drawingml/2006/main">
            <a:off x="6877050" y="2314575"/>
            <a:ext cx="1152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Recall</a:t>
            </a:r>
          </a:p>
        </p:txBody>
      </p:sp>
      <p:sp>
        <p:nvSpPr>
          <p:cNvPr id="13" name="text-349">
            <a:extLst xmlns:a="http://schemas.openxmlformats.org/drawingml/2006/main">
              <a:ext uri="{FF2B5EF4-FFF2-40B4-BE49-F238E27FC236}">
                <a16:creationId xmlns:a16="http://schemas.microsoft.com/office/drawing/2014/main" id="{47535CFB-53EB-4A6C-922F-1061ACAA6524}"/>
              </a:ext>
            </a:extLst>
          </p:cNvPr>
          <p:cNvSpPr>
            <a:spLocks xmlns:a="http://schemas.openxmlformats.org/drawingml/2006/main" noGrp="1"/>
          </p:cNvSpPr>
          <p:nvPr/>
        </p:nvSpPr>
        <p:spPr>
          <a:xfrm xmlns:a="http://schemas.openxmlformats.org/drawingml/2006/main">
            <a:off x="8258175" y="2314575"/>
            <a:ext cx="1152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F1</a:t>
            </a:r>
          </a:p>
        </p:txBody>
      </p:sp>
      <p:sp>
        <p:nvSpPr>
          <p:cNvPr id="14" name="text-350">
            <a:extLst xmlns:a="http://schemas.openxmlformats.org/drawingml/2006/main">
              <a:ext uri="{FF2B5EF4-FFF2-40B4-BE49-F238E27FC236}">
                <a16:creationId xmlns:a16="http://schemas.microsoft.com/office/drawing/2014/main" id="{1222AFA7-DA0F-4DAE-A286-8399B782D1D3}"/>
              </a:ext>
            </a:extLst>
          </p:cNvPr>
          <p:cNvSpPr>
            <a:spLocks xmlns:a="http://schemas.openxmlformats.org/drawingml/2006/main" noGrp="1"/>
          </p:cNvSpPr>
          <p:nvPr/>
        </p:nvSpPr>
        <p:spPr>
          <a:xfrm xmlns:a="http://schemas.openxmlformats.org/drawingml/2006/main">
            <a:off x="9639300" y="2314575"/>
            <a:ext cx="12954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Eval. AP</a:t>
            </a:r>
          </a:p>
        </p:txBody>
      </p:sp>
      <p:sp>
        <p:nvSpPr>
          <p:cNvPr id="15" name="text-351">
            <a:extLst xmlns:a="http://schemas.openxmlformats.org/drawingml/2006/main">
              <a:ext uri="{FF2B5EF4-FFF2-40B4-BE49-F238E27FC236}">
                <a16:creationId xmlns:a16="http://schemas.microsoft.com/office/drawing/2014/main" id="{B2EC2D36-0E75-4EA0-B507-8A2C0FA03A58}"/>
              </a:ext>
            </a:extLst>
          </p:cNvPr>
          <p:cNvSpPr>
            <a:spLocks xmlns:a="http://schemas.openxmlformats.org/drawingml/2006/main" noGrp="1"/>
          </p:cNvSpPr>
          <p:nvPr/>
        </p:nvSpPr>
        <p:spPr>
          <a:xfrm xmlns:a="http://schemas.openxmlformats.org/drawingml/2006/main">
            <a:off x="685800" y="2771775"/>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Gradient boosting</a:t>
            </a:r>
          </a:p>
        </p:txBody>
      </p:sp>
      <p:sp>
        <p:nvSpPr>
          <p:cNvPr id="16" name="text-352">
            <a:extLst xmlns:a="http://schemas.openxmlformats.org/drawingml/2006/main">
              <a:ext uri="{FF2B5EF4-FFF2-40B4-BE49-F238E27FC236}">
                <a16:creationId xmlns:a16="http://schemas.microsoft.com/office/drawing/2014/main" id="{8D4EBB06-55C8-4201-BB10-B1FC4769E1C7}"/>
              </a:ext>
            </a:extLst>
          </p:cNvPr>
          <p:cNvSpPr>
            <a:spLocks xmlns:a="http://schemas.openxmlformats.org/drawingml/2006/main" noGrp="1"/>
          </p:cNvSpPr>
          <p:nvPr/>
        </p:nvSpPr>
        <p:spPr>
          <a:xfrm xmlns:a="http://schemas.openxmlformats.org/drawingml/2006/main">
            <a:off x="4019550" y="27717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.538</a:t>
            </a:r>
          </a:p>
        </p:txBody>
      </p:sp>
      <p:sp>
        <p:nvSpPr>
          <p:cNvPr id="17" name="text-353">
            <a:extLst xmlns:a="http://schemas.openxmlformats.org/drawingml/2006/main">
              <a:ext uri="{FF2B5EF4-FFF2-40B4-BE49-F238E27FC236}">
                <a16:creationId xmlns:a16="http://schemas.microsoft.com/office/drawing/2014/main" id="{C0565EDE-E2C6-4862-AACB-7D056240A2FD}"/>
              </a:ext>
            </a:extLst>
          </p:cNvPr>
          <p:cNvSpPr>
            <a:spLocks xmlns:a="http://schemas.openxmlformats.org/drawingml/2006/main" noGrp="1"/>
          </p:cNvSpPr>
          <p:nvPr/>
        </p:nvSpPr>
        <p:spPr>
          <a:xfrm xmlns:a="http://schemas.openxmlformats.org/drawingml/2006/main">
            <a:off x="5400675" y="2771775"/>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.500</a:t>
            </a:r>
          </a:p>
        </p:txBody>
      </p:sp>
      <p:sp>
        <p:nvSpPr>
          <p:cNvPr id="18" name="text-354">
            <a:extLst xmlns:a="http://schemas.openxmlformats.org/drawingml/2006/main">
              <a:ext uri="{FF2B5EF4-FFF2-40B4-BE49-F238E27FC236}">
                <a16:creationId xmlns:a16="http://schemas.microsoft.com/office/drawing/2014/main" id="{247FAD59-54A0-4289-B5C8-5EAC3E88A02F}"/>
              </a:ext>
            </a:extLst>
          </p:cNvPr>
          <p:cNvSpPr>
            <a:spLocks xmlns:a="http://schemas.openxmlformats.org/drawingml/2006/main" noGrp="1"/>
          </p:cNvSpPr>
          <p:nvPr/>
        </p:nvSpPr>
        <p:spPr>
          <a:xfrm xmlns:a="http://schemas.openxmlformats.org/drawingml/2006/main">
            <a:off x="6877050" y="27717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.806</a:t>
            </a:r>
          </a:p>
        </p:txBody>
      </p:sp>
      <p:sp>
        <p:nvSpPr>
          <p:cNvPr id="19" name="text-355">
            <a:extLst xmlns:a="http://schemas.openxmlformats.org/drawingml/2006/main">
              <a:ext uri="{FF2B5EF4-FFF2-40B4-BE49-F238E27FC236}">
                <a16:creationId xmlns:a16="http://schemas.microsoft.com/office/drawing/2014/main" id="{1A58A4DA-D277-4CF5-B0E7-5F6560587992}"/>
              </a:ext>
            </a:extLst>
          </p:cNvPr>
          <p:cNvSpPr>
            <a:spLocks xmlns:a="http://schemas.openxmlformats.org/drawingml/2006/main" noGrp="1"/>
          </p:cNvSpPr>
          <p:nvPr/>
        </p:nvSpPr>
        <p:spPr>
          <a:xfrm xmlns:a="http://schemas.openxmlformats.org/drawingml/2006/main">
            <a:off x="8258175" y="277177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.617</a:t>
            </a:r>
          </a:p>
        </p:txBody>
      </p:sp>
      <p:sp>
        <p:nvSpPr>
          <p:cNvPr id="20" name="text-356">
            <a:extLst xmlns:a="http://schemas.openxmlformats.org/drawingml/2006/main">
              <a:ext uri="{FF2B5EF4-FFF2-40B4-BE49-F238E27FC236}">
                <a16:creationId xmlns:a16="http://schemas.microsoft.com/office/drawing/2014/main" id="{E648919A-47DF-4A08-AFA0-57FF0FF37C47}"/>
              </a:ext>
            </a:extLst>
          </p:cNvPr>
          <p:cNvSpPr>
            <a:spLocks xmlns:a="http://schemas.openxmlformats.org/drawingml/2006/main" noGrp="1"/>
          </p:cNvSpPr>
          <p:nvPr/>
        </p:nvSpPr>
        <p:spPr>
          <a:xfrm xmlns:a="http://schemas.openxmlformats.org/drawingml/2006/main">
            <a:off x="9639300" y="277177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.589</a:t>
            </a:r>
          </a:p>
        </p:txBody>
      </p:sp>
      <p:sp>
        <p:nvSpPr>
          <p:cNvPr id="21" name="shape-357">
            <a:extLst xmlns:a="http://schemas.openxmlformats.org/drawingml/2006/main">
              <a:ext uri="{FF2B5EF4-FFF2-40B4-BE49-F238E27FC236}">
                <a16:creationId xmlns:a16="http://schemas.microsoft.com/office/drawing/2014/main" id="{9C43D8EE-5536-4BC7-97A4-204D1327CBE5}"/>
              </a:ext>
            </a:extLst>
          </p:cNvPr>
          <p:cNvSpPr>
            <a:spLocks xmlns:a="http://schemas.openxmlformats.org/drawingml/2006/main" noGrp="1"/>
          </p:cNvSpPr>
          <p:nvPr/>
        </p:nvSpPr>
        <p:spPr>
          <a:xfrm xmlns:a="http://schemas.openxmlformats.org/drawingml/2006/main">
            <a:off x="571500" y="32766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2" name="text-358">
            <a:extLst xmlns:a="http://schemas.openxmlformats.org/drawingml/2006/main">
              <a:ext uri="{FF2B5EF4-FFF2-40B4-BE49-F238E27FC236}">
                <a16:creationId xmlns:a16="http://schemas.microsoft.com/office/drawing/2014/main" id="{5D0D38C4-2307-45A9-99B3-E985CDD5E9BD}"/>
              </a:ext>
            </a:extLst>
          </p:cNvPr>
          <p:cNvSpPr>
            <a:spLocks xmlns:a="http://schemas.openxmlformats.org/drawingml/2006/main" noGrp="1"/>
          </p:cNvSpPr>
          <p:nvPr/>
        </p:nvSpPr>
        <p:spPr>
          <a:xfrm xmlns:a="http://schemas.openxmlformats.org/drawingml/2006/main">
            <a:off x="685800" y="3390900"/>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Extra Trees</a:t>
            </a:r>
          </a:p>
        </p:txBody>
      </p:sp>
      <p:sp>
        <p:nvSpPr>
          <p:cNvPr id="23" name="text-359">
            <a:extLst xmlns:a="http://schemas.openxmlformats.org/drawingml/2006/main">
              <a:ext uri="{FF2B5EF4-FFF2-40B4-BE49-F238E27FC236}">
                <a16:creationId xmlns:a16="http://schemas.microsoft.com/office/drawing/2014/main" id="{7020E579-09AC-4961-B1A0-AA3DB7112CDF}"/>
              </a:ext>
            </a:extLst>
          </p:cNvPr>
          <p:cNvSpPr>
            <a:spLocks xmlns:a="http://schemas.openxmlformats.org/drawingml/2006/main" noGrp="1"/>
          </p:cNvSpPr>
          <p:nvPr/>
        </p:nvSpPr>
        <p:spPr>
          <a:xfrm xmlns:a="http://schemas.openxmlformats.org/drawingml/2006/main">
            <a:off x="4019550" y="339090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.482</a:t>
            </a:r>
          </a:p>
        </p:txBody>
      </p:sp>
      <p:sp>
        <p:nvSpPr>
          <p:cNvPr id="24" name="text-360">
            <a:extLst xmlns:a="http://schemas.openxmlformats.org/drawingml/2006/main">
              <a:ext uri="{FF2B5EF4-FFF2-40B4-BE49-F238E27FC236}">
                <a16:creationId xmlns:a16="http://schemas.microsoft.com/office/drawing/2014/main" id="{2AB30ADF-6999-4510-889B-F7CE471EC452}"/>
              </a:ext>
            </a:extLst>
          </p:cNvPr>
          <p:cNvSpPr>
            <a:spLocks xmlns:a="http://schemas.openxmlformats.org/drawingml/2006/main" noGrp="1"/>
          </p:cNvSpPr>
          <p:nvPr/>
        </p:nvSpPr>
        <p:spPr>
          <a:xfrm xmlns:a="http://schemas.openxmlformats.org/drawingml/2006/main">
            <a:off x="5400675" y="3390900"/>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.647</a:t>
            </a:r>
          </a:p>
        </p:txBody>
      </p:sp>
      <p:sp>
        <p:nvSpPr>
          <p:cNvPr id="25" name="text-361">
            <a:extLst xmlns:a="http://schemas.openxmlformats.org/drawingml/2006/main">
              <a:ext uri="{FF2B5EF4-FFF2-40B4-BE49-F238E27FC236}">
                <a16:creationId xmlns:a16="http://schemas.microsoft.com/office/drawing/2014/main" id="{A4BA9B9E-F13C-4F35-A1AD-3A3A1E62D58E}"/>
              </a:ext>
            </a:extLst>
          </p:cNvPr>
          <p:cNvSpPr>
            <a:spLocks xmlns:a="http://schemas.openxmlformats.org/drawingml/2006/main" noGrp="1"/>
          </p:cNvSpPr>
          <p:nvPr/>
        </p:nvSpPr>
        <p:spPr>
          <a:xfrm xmlns:a="http://schemas.openxmlformats.org/drawingml/2006/main">
            <a:off x="6877050" y="339090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.493</a:t>
            </a:r>
          </a:p>
        </p:txBody>
      </p:sp>
      <p:sp>
        <p:nvSpPr>
          <p:cNvPr id="26" name="text-362">
            <a:extLst xmlns:a="http://schemas.openxmlformats.org/drawingml/2006/main">
              <a:ext uri="{FF2B5EF4-FFF2-40B4-BE49-F238E27FC236}">
                <a16:creationId xmlns:a16="http://schemas.microsoft.com/office/drawing/2014/main" id="{797F99C0-2CC0-4B6A-BEFC-FCD171ECF378}"/>
              </a:ext>
            </a:extLst>
          </p:cNvPr>
          <p:cNvSpPr>
            <a:spLocks xmlns:a="http://schemas.openxmlformats.org/drawingml/2006/main" noGrp="1"/>
          </p:cNvSpPr>
          <p:nvPr/>
        </p:nvSpPr>
        <p:spPr>
          <a:xfrm xmlns:a="http://schemas.openxmlformats.org/drawingml/2006/main">
            <a:off x="8258175" y="339090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.559</a:t>
            </a:r>
          </a:p>
        </p:txBody>
      </p:sp>
      <p:sp>
        <p:nvSpPr>
          <p:cNvPr id="27" name="text-363">
            <a:extLst xmlns:a="http://schemas.openxmlformats.org/drawingml/2006/main">
              <a:ext uri="{FF2B5EF4-FFF2-40B4-BE49-F238E27FC236}">
                <a16:creationId xmlns:a16="http://schemas.microsoft.com/office/drawing/2014/main" id="{9FD036E7-698E-4E8D-BFCC-A304E01AA33D}"/>
              </a:ext>
            </a:extLst>
          </p:cNvPr>
          <p:cNvSpPr>
            <a:spLocks xmlns:a="http://schemas.openxmlformats.org/drawingml/2006/main" noGrp="1"/>
          </p:cNvSpPr>
          <p:nvPr/>
        </p:nvSpPr>
        <p:spPr>
          <a:xfrm xmlns:a="http://schemas.openxmlformats.org/drawingml/2006/main">
            <a:off x="9639300" y="3390900"/>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.604</a:t>
            </a:r>
          </a:p>
        </p:txBody>
      </p:sp>
      <p:sp>
        <p:nvSpPr>
          <p:cNvPr id="28" name="shape-364">
            <a:extLst xmlns:a="http://schemas.openxmlformats.org/drawingml/2006/main">
              <a:ext uri="{FF2B5EF4-FFF2-40B4-BE49-F238E27FC236}">
                <a16:creationId xmlns:a16="http://schemas.microsoft.com/office/drawing/2014/main" id="{8404EA77-D37C-4108-8CCD-34685379A459}"/>
              </a:ext>
            </a:extLst>
          </p:cNvPr>
          <p:cNvSpPr>
            <a:spLocks xmlns:a="http://schemas.openxmlformats.org/drawingml/2006/main" noGrp="1"/>
          </p:cNvSpPr>
          <p:nvPr/>
        </p:nvSpPr>
        <p:spPr>
          <a:xfrm xmlns:a="http://schemas.openxmlformats.org/drawingml/2006/main">
            <a:off x="571500" y="389572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9" name="shape-365">
            <a:extLst xmlns:a="http://schemas.openxmlformats.org/drawingml/2006/main">
              <a:ext uri="{FF2B5EF4-FFF2-40B4-BE49-F238E27FC236}">
                <a16:creationId xmlns:a16="http://schemas.microsoft.com/office/drawing/2014/main" id="{716ADA85-50B8-41B3-A162-346E024E836D}"/>
              </a:ext>
            </a:extLst>
          </p:cNvPr>
          <p:cNvSpPr>
            <a:spLocks xmlns:a="http://schemas.openxmlformats.org/drawingml/2006/main" noGrp="1"/>
          </p:cNvSpPr>
          <p:nvPr/>
        </p:nvSpPr>
        <p:spPr>
          <a:xfrm xmlns:a="http://schemas.openxmlformats.org/drawingml/2006/main">
            <a:off x="571500" y="3895725"/>
            <a:ext cx="11049000" cy="619125"/>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30" name="text-366">
            <a:extLst xmlns:a="http://schemas.openxmlformats.org/drawingml/2006/main">
              <a:ext uri="{FF2B5EF4-FFF2-40B4-BE49-F238E27FC236}">
                <a16:creationId xmlns:a16="http://schemas.microsoft.com/office/drawing/2014/main" id="{40B4A775-FB8E-49EE-B981-E8E8D134162C}"/>
              </a:ext>
            </a:extLst>
          </p:cNvPr>
          <p:cNvSpPr>
            <a:spLocks xmlns:a="http://schemas.openxmlformats.org/drawingml/2006/main" noGrp="1"/>
          </p:cNvSpPr>
          <p:nvPr/>
        </p:nvSpPr>
        <p:spPr>
          <a:xfrm xmlns:a="http://schemas.openxmlformats.org/drawingml/2006/main">
            <a:off x="685800" y="4010025"/>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Soft voting</a:t>
            </a:r>
          </a:p>
        </p:txBody>
      </p:sp>
      <p:sp>
        <p:nvSpPr>
          <p:cNvPr id="31" name="text-367">
            <a:extLst xmlns:a="http://schemas.openxmlformats.org/drawingml/2006/main">
              <a:ext uri="{FF2B5EF4-FFF2-40B4-BE49-F238E27FC236}">
                <a16:creationId xmlns:a16="http://schemas.microsoft.com/office/drawing/2014/main" id="{9E13E09A-C2E3-4FA6-86F2-0D02306CEFB1}"/>
              </a:ext>
            </a:extLst>
          </p:cNvPr>
          <p:cNvSpPr>
            <a:spLocks xmlns:a="http://schemas.openxmlformats.org/drawingml/2006/main" noGrp="1"/>
          </p:cNvSpPr>
          <p:nvPr/>
        </p:nvSpPr>
        <p:spPr>
          <a:xfrm xmlns:a="http://schemas.openxmlformats.org/drawingml/2006/main">
            <a:off x="4019550" y="401002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.549</a:t>
            </a:r>
          </a:p>
        </p:txBody>
      </p:sp>
      <p:sp>
        <p:nvSpPr>
          <p:cNvPr id="32" name="text-368">
            <a:extLst xmlns:a="http://schemas.openxmlformats.org/drawingml/2006/main">
              <a:ext uri="{FF2B5EF4-FFF2-40B4-BE49-F238E27FC236}">
                <a16:creationId xmlns:a16="http://schemas.microsoft.com/office/drawing/2014/main" id="{B026FD86-C414-4B7B-82B4-3F13A5CAF074}"/>
              </a:ext>
            </a:extLst>
          </p:cNvPr>
          <p:cNvSpPr>
            <a:spLocks xmlns:a="http://schemas.openxmlformats.org/drawingml/2006/main" noGrp="1"/>
          </p:cNvSpPr>
          <p:nvPr/>
        </p:nvSpPr>
        <p:spPr>
          <a:xfrm xmlns:a="http://schemas.openxmlformats.org/drawingml/2006/main">
            <a:off x="5400675" y="4010025"/>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.537</a:t>
            </a:r>
          </a:p>
        </p:txBody>
      </p:sp>
      <p:sp>
        <p:nvSpPr>
          <p:cNvPr id="33" name="text-369">
            <a:extLst xmlns:a="http://schemas.openxmlformats.org/drawingml/2006/main">
              <a:ext uri="{FF2B5EF4-FFF2-40B4-BE49-F238E27FC236}">
                <a16:creationId xmlns:a16="http://schemas.microsoft.com/office/drawing/2014/main" id="{81A04CDA-E784-4A48-AEC9-8D260CC9500D}"/>
              </a:ext>
            </a:extLst>
          </p:cNvPr>
          <p:cNvSpPr>
            <a:spLocks xmlns:a="http://schemas.openxmlformats.org/drawingml/2006/main" noGrp="1"/>
          </p:cNvSpPr>
          <p:nvPr/>
        </p:nvSpPr>
        <p:spPr>
          <a:xfrm xmlns:a="http://schemas.openxmlformats.org/drawingml/2006/main">
            <a:off x="6877050" y="401002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.761</a:t>
            </a:r>
          </a:p>
        </p:txBody>
      </p:sp>
      <p:sp>
        <p:nvSpPr>
          <p:cNvPr id="34" name="text-370">
            <a:extLst xmlns:a="http://schemas.openxmlformats.org/drawingml/2006/main">
              <a:ext uri="{FF2B5EF4-FFF2-40B4-BE49-F238E27FC236}">
                <a16:creationId xmlns:a16="http://schemas.microsoft.com/office/drawing/2014/main" id="{1E4EEA36-132B-472D-8C95-0C8454BE7D6E}"/>
              </a:ext>
            </a:extLst>
          </p:cNvPr>
          <p:cNvSpPr>
            <a:spLocks xmlns:a="http://schemas.openxmlformats.org/drawingml/2006/main" noGrp="1"/>
          </p:cNvSpPr>
          <p:nvPr/>
        </p:nvSpPr>
        <p:spPr>
          <a:xfrm xmlns:a="http://schemas.openxmlformats.org/drawingml/2006/main">
            <a:off x="8258175" y="4010025"/>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.630</a:t>
            </a:r>
          </a:p>
        </p:txBody>
      </p:sp>
      <p:sp>
        <p:nvSpPr>
          <p:cNvPr id="35" name="text-371">
            <a:extLst xmlns:a="http://schemas.openxmlformats.org/drawingml/2006/main">
              <a:ext uri="{FF2B5EF4-FFF2-40B4-BE49-F238E27FC236}">
                <a16:creationId xmlns:a16="http://schemas.microsoft.com/office/drawing/2014/main" id="{46F1F169-65A8-4BA6-AFE4-D3AAF958A46F}"/>
              </a:ext>
            </a:extLst>
          </p:cNvPr>
          <p:cNvSpPr>
            <a:spLocks xmlns:a="http://schemas.openxmlformats.org/drawingml/2006/main" noGrp="1"/>
          </p:cNvSpPr>
          <p:nvPr/>
        </p:nvSpPr>
        <p:spPr>
          <a:xfrm xmlns:a="http://schemas.openxmlformats.org/drawingml/2006/main">
            <a:off x="9639300" y="401002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.624</a:t>
            </a:r>
          </a:p>
        </p:txBody>
      </p:sp>
      <p:sp>
        <p:nvSpPr>
          <p:cNvPr id="36" name="shape-372">
            <a:extLst xmlns:a="http://schemas.openxmlformats.org/drawingml/2006/main">
              <a:ext uri="{FF2B5EF4-FFF2-40B4-BE49-F238E27FC236}">
                <a16:creationId xmlns:a16="http://schemas.microsoft.com/office/drawing/2014/main" id="{678A2506-CCBA-4EC5-BC96-44D9A3B8683D}"/>
              </a:ext>
            </a:extLst>
          </p:cNvPr>
          <p:cNvSpPr>
            <a:spLocks xmlns:a="http://schemas.openxmlformats.org/drawingml/2006/main" noGrp="1"/>
          </p:cNvSpPr>
          <p:nvPr/>
        </p:nvSpPr>
        <p:spPr>
          <a:xfrm xmlns:a="http://schemas.openxmlformats.org/drawingml/2006/main">
            <a:off x="571500" y="451485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37" name="text-373">
            <a:extLst xmlns:a="http://schemas.openxmlformats.org/drawingml/2006/main">
              <a:ext uri="{FF2B5EF4-FFF2-40B4-BE49-F238E27FC236}">
                <a16:creationId xmlns:a16="http://schemas.microsoft.com/office/drawing/2014/main" id="{DB28860A-7A56-4115-9261-AA731341BD8A}"/>
              </a:ext>
            </a:extLst>
          </p:cNvPr>
          <p:cNvSpPr>
            <a:spLocks xmlns:a="http://schemas.openxmlformats.org/drawingml/2006/main" noGrp="1"/>
          </p:cNvSpPr>
          <p:nvPr/>
        </p:nvSpPr>
        <p:spPr>
          <a:xfrm xmlns:a="http://schemas.openxmlformats.org/drawingml/2006/main">
            <a:off x="685800" y="4629150"/>
            <a:ext cx="3105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Stacking</a:t>
            </a:r>
          </a:p>
        </p:txBody>
      </p:sp>
      <p:sp>
        <p:nvSpPr>
          <p:cNvPr id="38" name="text-374">
            <a:extLst xmlns:a="http://schemas.openxmlformats.org/drawingml/2006/main">
              <a:ext uri="{FF2B5EF4-FFF2-40B4-BE49-F238E27FC236}">
                <a16:creationId xmlns:a16="http://schemas.microsoft.com/office/drawing/2014/main" id="{42E7A8F0-EECF-4444-A298-5A37D55FA083}"/>
              </a:ext>
            </a:extLst>
          </p:cNvPr>
          <p:cNvSpPr>
            <a:spLocks xmlns:a="http://schemas.openxmlformats.org/drawingml/2006/main" noGrp="1"/>
          </p:cNvSpPr>
          <p:nvPr/>
        </p:nvSpPr>
        <p:spPr>
          <a:xfrm xmlns:a="http://schemas.openxmlformats.org/drawingml/2006/main">
            <a:off x="4019550" y="462915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.545</a:t>
            </a:r>
          </a:p>
        </p:txBody>
      </p:sp>
      <p:sp>
        <p:nvSpPr>
          <p:cNvPr id="39" name="text-375">
            <a:extLst xmlns:a="http://schemas.openxmlformats.org/drawingml/2006/main">
              <a:ext uri="{FF2B5EF4-FFF2-40B4-BE49-F238E27FC236}">
                <a16:creationId xmlns:a16="http://schemas.microsoft.com/office/drawing/2014/main" id="{98ACB51D-1DD6-44EC-9C94-848777D31C9B}"/>
              </a:ext>
            </a:extLst>
          </p:cNvPr>
          <p:cNvSpPr>
            <a:spLocks xmlns:a="http://schemas.openxmlformats.org/drawingml/2006/main" noGrp="1"/>
          </p:cNvSpPr>
          <p:nvPr/>
        </p:nvSpPr>
        <p:spPr>
          <a:xfrm xmlns:a="http://schemas.openxmlformats.org/drawingml/2006/main">
            <a:off x="5400675" y="4629150"/>
            <a:ext cx="1247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.457</a:t>
            </a:r>
          </a:p>
        </p:txBody>
      </p:sp>
      <p:sp>
        <p:nvSpPr>
          <p:cNvPr id="40" name="text-376">
            <a:extLst xmlns:a="http://schemas.openxmlformats.org/drawingml/2006/main">
              <a:ext uri="{FF2B5EF4-FFF2-40B4-BE49-F238E27FC236}">
                <a16:creationId xmlns:a16="http://schemas.microsoft.com/office/drawing/2014/main" id="{C9CCF8CA-5782-4A64-AB60-63A3995253F0}"/>
              </a:ext>
            </a:extLst>
          </p:cNvPr>
          <p:cNvSpPr>
            <a:spLocks xmlns:a="http://schemas.openxmlformats.org/drawingml/2006/main" noGrp="1"/>
          </p:cNvSpPr>
          <p:nvPr/>
        </p:nvSpPr>
        <p:spPr>
          <a:xfrm xmlns:a="http://schemas.openxmlformats.org/drawingml/2006/main">
            <a:off x="6877050" y="462915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.866</a:t>
            </a:r>
          </a:p>
        </p:txBody>
      </p:sp>
      <p:sp>
        <p:nvSpPr>
          <p:cNvPr id="41" name="text-377">
            <a:extLst xmlns:a="http://schemas.openxmlformats.org/drawingml/2006/main">
              <a:ext uri="{FF2B5EF4-FFF2-40B4-BE49-F238E27FC236}">
                <a16:creationId xmlns:a16="http://schemas.microsoft.com/office/drawing/2014/main" id="{AA0B9F14-142F-4955-8DD4-FC0407DA4A18}"/>
              </a:ext>
            </a:extLst>
          </p:cNvPr>
          <p:cNvSpPr>
            <a:spLocks xmlns:a="http://schemas.openxmlformats.org/drawingml/2006/main" noGrp="1"/>
          </p:cNvSpPr>
          <p:nvPr/>
        </p:nvSpPr>
        <p:spPr>
          <a:xfrm xmlns:a="http://schemas.openxmlformats.org/drawingml/2006/main">
            <a:off x="8258175" y="4629150"/>
            <a:ext cx="1152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.598</a:t>
            </a:r>
          </a:p>
        </p:txBody>
      </p:sp>
      <p:sp>
        <p:nvSpPr>
          <p:cNvPr id="42" name="text-378">
            <a:extLst xmlns:a="http://schemas.openxmlformats.org/drawingml/2006/main">
              <a:ext uri="{FF2B5EF4-FFF2-40B4-BE49-F238E27FC236}">
                <a16:creationId xmlns:a16="http://schemas.microsoft.com/office/drawing/2014/main" id="{6EA4F683-D7E3-4A89-A05A-1BA2AC478BB4}"/>
              </a:ext>
            </a:extLst>
          </p:cNvPr>
          <p:cNvSpPr>
            <a:spLocks xmlns:a="http://schemas.openxmlformats.org/drawingml/2006/main" noGrp="1"/>
          </p:cNvSpPr>
          <p:nvPr/>
        </p:nvSpPr>
        <p:spPr>
          <a:xfrm xmlns:a="http://schemas.openxmlformats.org/drawingml/2006/main">
            <a:off x="9639300" y="4629150"/>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.616</a:t>
            </a:r>
          </a:p>
        </p:txBody>
      </p:sp>
      <p:sp>
        <p:nvSpPr>
          <p:cNvPr id="43" name="shape-379">
            <a:extLst xmlns:a="http://schemas.openxmlformats.org/drawingml/2006/main">
              <a:ext uri="{FF2B5EF4-FFF2-40B4-BE49-F238E27FC236}">
                <a16:creationId xmlns:a16="http://schemas.microsoft.com/office/drawing/2014/main" id="{41D99168-957E-4287-B981-EC7BC0D7DA73}"/>
              </a:ext>
            </a:extLst>
          </p:cNvPr>
          <p:cNvSpPr>
            <a:spLocks xmlns:a="http://schemas.openxmlformats.org/drawingml/2006/main" noGrp="1"/>
          </p:cNvSpPr>
          <p:nvPr/>
        </p:nvSpPr>
        <p:spPr>
          <a:xfrm xmlns:a="http://schemas.openxmlformats.org/drawingml/2006/main">
            <a:off x="571500" y="513397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44" name="text-380">
            <a:extLst xmlns:a="http://schemas.openxmlformats.org/drawingml/2006/main">
              <a:ext uri="{FF2B5EF4-FFF2-40B4-BE49-F238E27FC236}">
                <a16:creationId xmlns:a16="http://schemas.microsoft.com/office/drawing/2014/main" id="{D4CBB01F-5933-49BC-8921-1E90524A5730}"/>
              </a:ext>
            </a:extLst>
          </p:cNvPr>
          <p:cNvSpPr>
            <a:spLocks xmlns:a="http://schemas.openxmlformats.org/drawingml/2006/main" noGrp="1"/>
          </p:cNvSpPr>
          <p:nvPr/>
        </p:nvSpPr>
        <p:spPr>
          <a:xfrm xmlns:a="http://schemas.openxmlformats.org/drawingml/2006/main">
            <a:off x="571500" y="5810250"/>
            <a:ext cx="110490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0">
                <a:solidFill>
                  <a:srgbClr val="596C7D"/>
                </a:solidFill>
                <a:latin typeface="Arial"/>
                <a:ea typeface="Arial"/>
                <a:cs typeface="Arial"/>
              </a:defRPr>
            </a:pPr>
            <a:r>
              <a:rPr sz="1500" b="0">
                <a:solidFill>
                  <a:srgbClr val="596C7D"/>
                </a:solidFill>
                <a:latin typeface="Arial"/>
                <a:ea typeface="Arial"/>
                <a:cs typeface="Arial"/>
              </a:rPr>
              <a:t>Soft voting: +.011 CV AP and +.013 evaluation F1 versus boosting; recall declines by 4.5 percentage points.</a:t>
            </a:r>
          </a:p>
        </p:txBody>
      </p:sp>
    </p:spTree>
    <p:extLst>
      <p:ext uri="{BB962C8B-B14F-4D97-AF65-F5344CB8AC3E}">
        <p14:creationId xmlns:p14="http://schemas.microsoft.com/office/powerpoint/2010/main" val="46549737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7F97838-8D07-43E0-B74E-DC439013AE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88465A2B-78DF-4D9E-A4AB-08AC9E7B2FA3}"/>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D3A19772-E7ED-4DA7-8730-DAC8FD8DC19E}"/>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CLASSIFICATION ERRORS</a:t>
            </a:r>
          </a:p>
        </p:txBody>
      </p:sp>
      <p:sp>
        <p:nvSpPr>
          <p:cNvPr id="4" name="text-381">
            <a:extLst xmlns:a="http://schemas.openxmlformats.org/drawingml/2006/main">
              <a:ext uri="{FF2B5EF4-FFF2-40B4-BE49-F238E27FC236}">
                <a16:creationId xmlns:a16="http://schemas.microsoft.com/office/drawing/2014/main" id="{C9B31251-8D54-49EF-9BF3-595E6CF3E5EE}"/>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At 0.50, soft voting finds 51 responders and misses 16</a:t>
            </a:r>
          </a:p>
        </p:txBody>
      </p:sp>
      <p:sp>
        <p:nvSpPr>
          <p:cNvPr id="5" name="shape-382">
            <a:extLst xmlns:a="http://schemas.openxmlformats.org/drawingml/2006/main">
              <a:ext uri="{FF2B5EF4-FFF2-40B4-BE49-F238E27FC236}">
                <a16:creationId xmlns:a16="http://schemas.microsoft.com/office/drawing/2014/main" id="{74D8DB29-AB1D-44E4-9B6E-7C7F774BFA87}"/>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383">
            <a:extLst xmlns:a="http://schemas.openxmlformats.org/drawingml/2006/main">
              <a:ext uri="{FF2B5EF4-FFF2-40B4-BE49-F238E27FC236}">
                <a16:creationId xmlns:a16="http://schemas.microsoft.com/office/drawing/2014/main" id="{0D6F589C-7D70-4C3E-81BE-FAC16755BB14}"/>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§8 | 448 evaluation customers; threshold=0.50</a:t>
            </a:r>
          </a:p>
        </p:txBody>
      </p:sp>
      <p:sp>
        <p:nvSpPr>
          <p:cNvPr id="7" name="text-384">
            <a:extLst xmlns:a="http://schemas.openxmlformats.org/drawingml/2006/main">
              <a:ext uri="{FF2B5EF4-FFF2-40B4-BE49-F238E27FC236}">
                <a16:creationId xmlns:a16="http://schemas.microsoft.com/office/drawing/2014/main" id="{9DF136A2-3D23-498F-AE00-13046F194D24}"/>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17</a:t>
            </a:r>
          </a:p>
        </p:txBody>
      </p:sp>
      <p:sp>
        <p:nvSpPr>
          <p:cNvPr id="8" name="text-385">
            <a:extLst xmlns:a="http://schemas.openxmlformats.org/drawingml/2006/main">
              <a:ext uri="{FF2B5EF4-FFF2-40B4-BE49-F238E27FC236}">
                <a16:creationId xmlns:a16="http://schemas.microsoft.com/office/drawing/2014/main" id="{3DA26CF6-4950-4613-97D7-811375ED20DB}"/>
              </a:ext>
            </a:extLst>
          </p:cNvPr>
          <p:cNvSpPr>
            <a:spLocks xmlns:a="http://schemas.openxmlformats.org/drawingml/2006/main" noGrp="1"/>
          </p:cNvSpPr>
          <p:nvPr/>
        </p:nvSpPr>
        <p:spPr>
          <a:xfrm xmlns:a="http://schemas.openxmlformats.org/drawingml/2006/main">
            <a:off x="2924175" y="2085975"/>
            <a:ext cx="4810125"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1275" b="1">
                <a:solidFill>
                  <a:srgbClr val="596C7D"/>
                </a:solidFill>
                <a:latin typeface="Arial"/>
                <a:ea typeface="Arial"/>
                <a:cs typeface="Arial"/>
              </a:defRPr>
            </a:pPr>
            <a:r>
              <a:rPr sz="1275" b="1">
                <a:solidFill>
                  <a:srgbClr val="596C7D"/>
                </a:solidFill>
                <a:latin typeface="Arial"/>
                <a:ea typeface="Arial"/>
                <a:cs typeface="Arial"/>
              </a:rPr>
              <a:t>PREDICTED</a:t>
            </a:r>
          </a:p>
        </p:txBody>
      </p:sp>
      <p:sp>
        <p:nvSpPr>
          <p:cNvPr id="9" name="text-386">
            <a:extLst xmlns:a="http://schemas.openxmlformats.org/drawingml/2006/main">
              <a:ext uri="{FF2B5EF4-FFF2-40B4-BE49-F238E27FC236}">
                <a16:creationId xmlns:a16="http://schemas.microsoft.com/office/drawing/2014/main" id="{F9FDAF1F-3C45-4175-955A-34F925EAAE26}"/>
              </a:ext>
            </a:extLst>
          </p:cNvPr>
          <p:cNvSpPr>
            <a:spLocks xmlns:a="http://schemas.openxmlformats.org/drawingml/2006/main" noGrp="1"/>
          </p:cNvSpPr>
          <p:nvPr/>
        </p:nvSpPr>
        <p:spPr>
          <a:xfrm xmlns:a="http://schemas.openxmlformats.org/drawingml/2006/main">
            <a:off x="2619375" y="2486025"/>
            <a:ext cx="2409825" cy="3238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1725" b="1">
                <a:solidFill>
                  <a:srgbClr val="182D43"/>
                </a:solidFill>
                <a:latin typeface="Arial"/>
                <a:ea typeface="Arial"/>
                <a:cs typeface="Arial"/>
              </a:defRPr>
            </a:pPr>
            <a:r>
              <a:rPr sz="1725" b="1">
                <a:solidFill>
                  <a:srgbClr val="182D43"/>
                </a:solidFill>
                <a:latin typeface="Arial"/>
                <a:ea typeface="Arial"/>
                <a:cs typeface="Arial"/>
              </a:rPr>
              <a:t>No response</a:t>
            </a:r>
          </a:p>
        </p:txBody>
      </p:sp>
      <p:sp>
        <p:nvSpPr>
          <p:cNvPr id="10" name="text-387">
            <a:extLst xmlns:a="http://schemas.openxmlformats.org/drawingml/2006/main">
              <a:ext uri="{FF2B5EF4-FFF2-40B4-BE49-F238E27FC236}">
                <a16:creationId xmlns:a16="http://schemas.microsoft.com/office/drawing/2014/main" id="{255CA1E7-8329-4115-B7B3-D02F90557EBD}"/>
              </a:ext>
            </a:extLst>
          </p:cNvPr>
          <p:cNvSpPr>
            <a:spLocks xmlns:a="http://schemas.openxmlformats.org/drawingml/2006/main" noGrp="1"/>
          </p:cNvSpPr>
          <p:nvPr/>
        </p:nvSpPr>
        <p:spPr>
          <a:xfrm xmlns:a="http://schemas.openxmlformats.org/drawingml/2006/main">
            <a:off x="5276850" y="2486025"/>
            <a:ext cx="2409825" cy="3238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1725" b="1">
                <a:solidFill>
                  <a:srgbClr val="182D43"/>
                </a:solidFill>
                <a:latin typeface="Arial"/>
                <a:ea typeface="Arial"/>
                <a:cs typeface="Arial"/>
              </a:defRPr>
            </a:pPr>
            <a:r>
              <a:rPr sz="1725" b="1">
                <a:solidFill>
                  <a:srgbClr val="182D43"/>
                </a:solidFill>
                <a:latin typeface="Arial"/>
                <a:ea typeface="Arial"/>
                <a:cs typeface="Arial"/>
              </a:rPr>
              <a:t>Accepted</a:t>
            </a:r>
          </a:p>
        </p:txBody>
      </p:sp>
      <p:sp>
        <p:nvSpPr>
          <p:cNvPr id="11" name="text-388">
            <a:extLst xmlns:a="http://schemas.openxmlformats.org/drawingml/2006/main">
              <a:ext uri="{FF2B5EF4-FFF2-40B4-BE49-F238E27FC236}">
                <a16:creationId xmlns:a16="http://schemas.microsoft.com/office/drawing/2014/main" id="{8DA48A80-B021-4AA1-8D02-60D06B1E0C59}"/>
              </a:ext>
            </a:extLst>
          </p:cNvPr>
          <p:cNvSpPr>
            <a:spLocks xmlns:a="http://schemas.openxmlformats.org/drawingml/2006/main" noGrp="1"/>
          </p:cNvSpPr>
          <p:nvPr/>
        </p:nvSpPr>
        <p:spPr>
          <a:xfrm xmlns:a="http://schemas.openxmlformats.org/drawingml/2006/main">
            <a:off x="571500" y="3209925"/>
            <a:ext cx="161925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200" b="1">
                <a:solidFill>
                  <a:srgbClr val="596C7D"/>
                </a:solidFill>
                <a:latin typeface="Arial"/>
                <a:ea typeface="Arial"/>
                <a:cs typeface="Arial"/>
              </a:defRPr>
            </a:pPr>
            <a:r>
              <a:rPr sz="1200" b="1">
                <a:solidFill>
                  <a:srgbClr val="596C7D"/>
                </a:solidFill>
                <a:latin typeface="Arial"/>
                <a:ea typeface="Arial"/>
                <a:cs typeface="Arial"/>
              </a:rPr>
              <a:t>ACTUAL</a:t>
            </a:r>
          </a:p>
        </p:txBody>
      </p:sp>
      <p:sp>
        <p:nvSpPr>
          <p:cNvPr id="12" name="text-389">
            <a:extLst xmlns:a="http://schemas.openxmlformats.org/drawingml/2006/main">
              <a:ext uri="{FF2B5EF4-FFF2-40B4-BE49-F238E27FC236}">
                <a16:creationId xmlns:a16="http://schemas.microsoft.com/office/drawing/2014/main" id="{BEF96D54-6683-4CD7-B128-CE6E96948669}"/>
              </a:ext>
            </a:extLst>
          </p:cNvPr>
          <p:cNvSpPr>
            <a:spLocks xmlns:a="http://schemas.openxmlformats.org/drawingml/2006/main" noGrp="1"/>
          </p:cNvSpPr>
          <p:nvPr/>
        </p:nvSpPr>
        <p:spPr>
          <a:xfrm xmlns:a="http://schemas.openxmlformats.org/drawingml/2006/main">
            <a:off x="571500" y="3695700"/>
            <a:ext cx="1695450" cy="333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No response</a:t>
            </a:r>
          </a:p>
        </p:txBody>
      </p:sp>
      <p:sp>
        <p:nvSpPr>
          <p:cNvPr id="13" name="text-390">
            <a:extLst xmlns:a="http://schemas.openxmlformats.org/drawingml/2006/main">
              <a:ext uri="{FF2B5EF4-FFF2-40B4-BE49-F238E27FC236}">
                <a16:creationId xmlns:a16="http://schemas.microsoft.com/office/drawing/2014/main" id="{18B9B936-937E-40D9-9670-2D73AE0FDD07}"/>
              </a:ext>
            </a:extLst>
          </p:cNvPr>
          <p:cNvSpPr>
            <a:spLocks xmlns:a="http://schemas.openxmlformats.org/drawingml/2006/main" noGrp="1"/>
          </p:cNvSpPr>
          <p:nvPr/>
        </p:nvSpPr>
        <p:spPr>
          <a:xfrm xmlns:a="http://schemas.openxmlformats.org/drawingml/2006/main">
            <a:off x="571500" y="5133975"/>
            <a:ext cx="1695450" cy="333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182D43"/>
                </a:solidFill>
                <a:latin typeface="Arial"/>
                <a:ea typeface="Arial"/>
                <a:cs typeface="Arial"/>
              </a:defRPr>
            </a:pPr>
            <a:r>
              <a:rPr sz="1650" b="0">
                <a:solidFill>
                  <a:srgbClr val="182D43"/>
                </a:solidFill>
                <a:latin typeface="Arial"/>
                <a:ea typeface="Arial"/>
                <a:cs typeface="Arial"/>
              </a:rPr>
              <a:t>Accepted</a:t>
            </a:r>
          </a:p>
        </p:txBody>
      </p:sp>
      <p:sp>
        <p:nvSpPr>
          <p:cNvPr id="14" name="shape-391">
            <a:extLst xmlns:a="http://schemas.openxmlformats.org/drawingml/2006/main">
              <a:ext uri="{FF2B5EF4-FFF2-40B4-BE49-F238E27FC236}">
                <a16:creationId xmlns:a16="http://schemas.microsoft.com/office/drawing/2014/main" id="{57EC282C-4169-4CFE-8361-5B45E2E0FD7A}"/>
              </a:ext>
            </a:extLst>
          </p:cNvPr>
          <p:cNvSpPr>
            <a:spLocks xmlns:a="http://schemas.openxmlformats.org/drawingml/2006/main" noGrp="1"/>
          </p:cNvSpPr>
          <p:nvPr/>
        </p:nvSpPr>
        <p:spPr>
          <a:xfrm xmlns:a="http://schemas.openxmlformats.org/drawingml/2006/main">
            <a:off x="2619375" y="3000375"/>
            <a:ext cx="2409825" cy="1381125"/>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5" name="text-392">
            <a:extLst xmlns:a="http://schemas.openxmlformats.org/drawingml/2006/main">
              <a:ext uri="{FF2B5EF4-FFF2-40B4-BE49-F238E27FC236}">
                <a16:creationId xmlns:a16="http://schemas.microsoft.com/office/drawing/2014/main" id="{8D7A5EDC-5C56-40AB-BB13-537866C85014}"/>
              </a:ext>
            </a:extLst>
          </p:cNvPr>
          <p:cNvSpPr>
            <a:spLocks xmlns:a="http://schemas.openxmlformats.org/drawingml/2006/main" noGrp="1"/>
          </p:cNvSpPr>
          <p:nvPr/>
        </p:nvSpPr>
        <p:spPr>
          <a:xfrm xmlns:a="http://schemas.openxmlformats.org/drawingml/2006/main">
            <a:off x="2809875" y="3162300"/>
            <a:ext cx="2028825"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3900" b="0">
                <a:solidFill>
                  <a:srgbClr val="182D43"/>
                </a:solidFill>
                <a:latin typeface="Georgia"/>
                <a:ea typeface="Georgia"/>
                <a:cs typeface="Georgia"/>
              </a:defRPr>
            </a:pPr>
            <a:r>
              <a:rPr sz="3900" b="0">
                <a:solidFill>
                  <a:srgbClr val="182D43"/>
                </a:solidFill>
                <a:latin typeface="Georgia"/>
                <a:ea typeface="Georgia"/>
                <a:cs typeface="Georgia"/>
              </a:rPr>
              <a:t>337</a:t>
            </a:r>
          </a:p>
        </p:txBody>
      </p:sp>
      <p:sp>
        <p:nvSpPr>
          <p:cNvPr id="16" name="text-393">
            <a:extLst xmlns:a="http://schemas.openxmlformats.org/drawingml/2006/main">
              <a:ext uri="{FF2B5EF4-FFF2-40B4-BE49-F238E27FC236}">
                <a16:creationId xmlns:a16="http://schemas.microsoft.com/office/drawing/2014/main" id="{494DED49-3889-4D21-B9DA-B856377B5343}"/>
              </a:ext>
            </a:extLst>
          </p:cNvPr>
          <p:cNvSpPr>
            <a:spLocks xmlns:a="http://schemas.openxmlformats.org/drawingml/2006/main" noGrp="1"/>
          </p:cNvSpPr>
          <p:nvPr/>
        </p:nvSpPr>
        <p:spPr>
          <a:xfrm xmlns:a="http://schemas.openxmlformats.org/drawingml/2006/main">
            <a:off x="2762250" y="3962400"/>
            <a:ext cx="2124075" cy="3143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1500" b="0">
                <a:solidFill>
                  <a:srgbClr val="182D43"/>
                </a:solidFill>
                <a:latin typeface="Arial"/>
                <a:ea typeface="Arial"/>
                <a:cs typeface="Arial"/>
              </a:defRPr>
            </a:pPr>
            <a:r>
              <a:rPr sz="1500" b="0">
                <a:solidFill>
                  <a:srgbClr val="182D43"/>
                </a:solidFill>
                <a:latin typeface="Arial"/>
                <a:ea typeface="Arial"/>
                <a:cs typeface="Arial"/>
              </a:rPr>
              <a:t>True negatives</a:t>
            </a:r>
          </a:p>
        </p:txBody>
      </p:sp>
      <p:sp>
        <p:nvSpPr>
          <p:cNvPr id="17" name="shape-394">
            <a:extLst xmlns:a="http://schemas.openxmlformats.org/drawingml/2006/main">
              <a:ext uri="{FF2B5EF4-FFF2-40B4-BE49-F238E27FC236}">
                <a16:creationId xmlns:a16="http://schemas.microsoft.com/office/drawing/2014/main" id="{C7B45510-821F-4A11-AFC9-98A49B470ADC}"/>
              </a:ext>
            </a:extLst>
          </p:cNvPr>
          <p:cNvSpPr>
            <a:spLocks xmlns:a="http://schemas.openxmlformats.org/drawingml/2006/main" noGrp="1"/>
          </p:cNvSpPr>
          <p:nvPr/>
        </p:nvSpPr>
        <p:spPr>
          <a:xfrm xmlns:a="http://schemas.openxmlformats.org/drawingml/2006/main">
            <a:off x="5276850" y="3000375"/>
            <a:ext cx="2409825" cy="1381125"/>
          </a:xfrm>
          <a:prstGeom xmlns:a="http://schemas.openxmlformats.org/drawingml/2006/main" prst="rect">
            <a:avLst/>
          </a:prstGeom>
          <a:solidFill xmlns:a="http://schemas.openxmlformats.org/drawingml/2006/main">
            <a:srgbClr val="F5E9D7"/>
          </a:solidFill>
          <a:ln xmlns:a="http://schemas.openxmlformats.org/drawingml/2006/main" w="0">
            <a:noFill/>
            <a:prstDash val="solid"/>
          </a:ln>
        </p:spPr>
      </p:sp>
      <p:sp>
        <p:nvSpPr>
          <p:cNvPr id="18" name="text-395">
            <a:extLst xmlns:a="http://schemas.openxmlformats.org/drawingml/2006/main">
              <a:ext uri="{FF2B5EF4-FFF2-40B4-BE49-F238E27FC236}">
                <a16:creationId xmlns:a16="http://schemas.microsoft.com/office/drawing/2014/main" id="{0F206A1C-E481-4409-9B70-2938832FAF5E}"/>
              </a:ext>
            </a:extLst>
          </p:cNvPr>
          <p:cNvSpPr>
            <a:spLocks xmlns:a="http://schemas.openxmlformats.org/drawingml/2006/main" noGrp="1"/>
          </p:cNvSpPr>
          <p:nvPr/>
        </p:nvSpPr>
        <p:spPr>
          <a:xfrm xmlns:a="http://schemas.openxmlformats.org/drawingml/2006/main">
            <a:off x="5467350" y="3162300"/>
            <a:ext cx="2028825"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3900" b="0">
                <a:solidFill>
                  <a:srgbClr val="182D43"/>
                </a:solidFill>
                <a:latin typeface="Georgia"/>
                <a:ea typeface="Georgia"/>
                <a:cs typeface="Georgia"/>
              </a:defRPr>
            </a:pPr>
            <a:r>
              <a:rPr sz="3900" b="0">
                <a:solidFill>
                  <a:srgbClr val="182D43"/>
                </a:solidFill>
                <a:latin typeface="Georgia"/>
                <a:ea typeface="Georgia"/>
                <a:cs typeface="Georgia"/>
              </a:rPr>
              <a:t>44</a:t>
            </a:r>
          </a:p>
        </p:txBody>
      </p:sp>
      <p:sp>
        <p:nvSpPr>
          <p:cNvPr id="19" name="text-396">
            <a:extLst xmlns:a="http://schemas.openxmlformats.org/drawingml/2006/main">
              <a:ext uri="{FF2B5EF4-FFF2-40B4-BE49-F238E27FC236}">
                <a16:creationId xmlns:a16="http://schemas.microsoft.com/office/drawing/2014/main" id="{B7961AA5-C555-4903-BE45-A0F6DD3CD278}"/>
              </a:ext>
            </a:extLst>
          </p:cNvPr>
          <p:cNvSpPr>
            <a:spLocks xmlns:a="http://schemas.openxmlformats.org/drawingml/2006/main" noGrp="1"/>
          </p:cNvSpPr>
          <p:nvPr/>
        </p:nvSpPr>
        <p:spPr>
          <a:xfrm xmlns:a="http://schemas.openxmlformats.org/drawingml/2006/main">
            <a:off x="5419725" y="3962400"/>
            <a:ext cx="2124075" cy="3143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1500" b="0">
                <a:solidFill>
                  <a:srgbClr val="182D43"/>
                </a:solidFill>
                <a:latin typeface="Arial"/>
                <a:ea typeface="Arial"/>
                <a:cs typeface="Arial"/>
              </a:defRPr>
            </a:pPr>
            <a:r>
              <a:rPr sz="1500" b="0">
                <a:solidFill>
                  <a:srgbClr val="182D43"/>
                </a:solidFill>
                <a:latin typeface="Arial"/>
                <a:ea typeface="Arial"/>
                <a:cs typeface="Arial"/>
              </a:rPr>
              <a:t>False positives</a:t>
            </a:r>
          </a:p>
        </p:txBody>
      </p:sp>
      <p:sp>
        <p:nvSpPr>
          <p:cNvPr id="20" name="shape-397">
            <a:extLst xmlns:a="http://schemas.openxmlformats.org/drawingml/2006/main">
              <a:ext uri="{FF2B5EF4-FFF2-40B4-BE49-F238E27FC236}">
                <a16:creationId xmlns:a16="http://schemas.microsoft.com/office/drawing/2014/main" id="{B44C03B0-6EB0-487B-A159-5D351C42DB6E}"/>
              </a:ext>
            </a:extLst>
          </p:cNvPr>
          <p:cNvSpPr>
            <a:spLocks xmlns:a="http://schemas.openxmlformats.org/drawingml/2006/main" noGrp="1"/>
          </p:cNvSpPr>
          <p:nvPr/>
        </p:nvSpPr>
        <p:spPr>
          <a:xfrm xmlns:a="http://schemas.openxmlformats.org/drawingml/2006/main">
            <a:off x="2619375" y="4533900"/>
            <a:ext cx="2409825" cy="1381125"/>
          </a:xfrm>
          <a:prstGeom xmlns:a="http://schemas.openxmlformats.org/drawingml/2006/main" prst="rect">
            <a:avLst/>
          </a:prstGeom>
          <a:solidFill xmlns:a="http://schemas.openxmlformats.org/drawingml/2006/main">
            <a:srgbClr val="F5E9D7"/>
          </a:solidFill>
          <a:ln xmlns:a="http://schemas.openxmlformats.org/drawingml/2006/main" w="0">
            <a:noFill/>
            <a:prstDash val="solid"/>
          </a:ln>
        </p:spPr>
      </p:sp>
      <p:sp>
        <p:nvSpPr>
          <p:cNvPr id="21" name="text-398">
            <a:extLst xmlns:a="http://schemas.openxmlformats.org/drawingml/2006/main">
              <a:ext uri="{FF2B5EF4-FFF2-40B4-BE49-F238E27FC236}">
                <a16:creationId xmlns:a16="http://schemas.microsoft.com/office/drawing/2014/main" id="{57C9052B-69B2-4AA3-90D1-D5DD34C33539}"/>
              </a:ext>
            </a:extLst>
          </p:cNvPr>
          <p:cNvSpPr>
            <a:spLocks xmlns:a="http://schemas.openxmlformats.org/drawingml/2006/main" noGrp="1"/>
          </p:cNvSpPr>
          <p:nvPr/>
        </p:nvSpPr>
        <p:spPr>
          <a:xfrm xmlns:a="http://schemas.openxmlformats.org/drawingml/2006/main">
            <a:off x="2809875" y="4695825"/>
            <a:ext cx="2028825"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3900" b="0">
                <a:solidFill>
                  <a:srgbClr val="182D43"/>
                </a:solidFill>
                <a:latin typeface="Georgia"/>
                <a:ea typeface="Georgia"/>
                <a:cs typeface="Georgia"/>
              </a:defRPr>
            </a:pPr>
            <a:r>
              <a:rPr sz="3900" b="0">
                <a:solidFill>
                  <a:srgbClr val="182D43"/>
                </a:solidFill>
                <a:latin typeface="Georgia"/>
                <a:ea typeface="Georgia"/>
                <a:cs typeface="Georgia"/>
              </a:rPr>
              <a:t>16</a:t>
            </a:r>
          </a:p>
        </p:txBody>
      </p:sp>
      <p:sp>
        <p:nvSpPr>
          <p:cNvPr id="22" name="text-399">
            <a:extLst xmlns:a="http://schemas.openxmlformats.org/drawingml/2006/main">
              <a:ext uri="{FF2B5EF4-FFF2-40B4-BE49-F238E27FC236}">
                <a16:creationId xmlns:a16="http://schemas.microsoft.com/office/drawing/2014/main" id="{CB8EF020-5392-4AB3-AF38-90C69DA0C6FE}"/>
              </a:ext>
            </a:extLst>
          </p:cNvPr>
          <p:cNvSpPr>
            <a:spLocks xmlns:a="http://schemas.openxmlformats.org/drawingml/2006/main" noGrp="1"/>
          </p:cNvSpPr>
          <p:nvPr/>
        </p:nvSpPr>
        <p:spPr>
          <a:xfrm xmlns:a="http://schemas.openxmlformats.org/drawingml/2006/main">
            <a:off x="2762250" y="5495925"/>
            <a:ext cx="2124075" cy="3143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1500" b="0">
                <a:solidFill>
                  <a:srgbClr val="182D43"/>
                </a:solidFill>
                <a:latin typeface="Arial"/>
                <a:ea typeface="Arial"/>
                <a:cs typeface="Arial"/>
              </a:defRPr>
            </a:pPr>
            <a:r>
              <a:rPr sz="1500" b="0">
                <a:solidFill>
                  <a:srgbClr val="182D43"/>
                </a:solidFill>
                <a:latin typeface="Arial"/>
                <a:ea typeface="Arial"/>
                <a:cs typeface="Arial"/>
              </a:rPr>
              <a:t>False negatives</a:t>
            </a:r>
          </a:p>
        </p:txBody>
      </p:sp>
      <p:sp>
        <p:nvSpPr>
          <p:cNvPr id="23" name="shape-400">
            <a:extLst xmlns:a="http://schemas.openxmlformats.org/drawingml/2006/main">
              <a:ext uri="{FF2B5EF4-FFF2-40B4-BE49-F238E27FC236}">
                <a16:creationId xmlns:a16="http://schemas.microsoft.com/office/drawing/2014/main" id="{497A1041-203F-4099-8311-D44BCB3A762C}"/>
              </a:ext>
            </a:extLst>
          </p:cNvPr>
          <p:cNvSpPr>
            <a:spLocks xmlns:a="http://schemas.openxmlformats.org/drawingml/2006/main" noGrp="1"/>
          </p:cNvSpPr>
          <p:nvPr/>
        </p:nvSpPr>
        <p:spPr>
          <a:xfrm xmlns:a="http://schemas.openxmlformats.org/drawingml/2006/main">
            <a:off x="5276850" y="4533900"/>
            <a:ext cx="2409825" cy="1381125"/>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24" name="text-401">
            <a:extLst xmlns:a="http://schemas.openxmlformats.org/drawingml/2006/main">
              <a:ext uri="{FF2B5EF4-FFF2-40B4-BE49-F238E27FC236}">
                <a16:creationId xmlns:a16="http://schemas.microsoft.com/office/drawing/2014/main" id="{CF19B087-CC65-4A86-B348-D638D332D257}"/>
              </a:ext>
            </a:extLst>
          </p:cNvPr>
          <p:cNvSpPr>
            <a:spLocks xmlns:a="http://schemas.openxmlformats.org/drawingml/2006/main" noGrp="1"/>
          </p:cNvSpPr>
          <p:nvPr/>
        </p:nvSpPr>
        <p:spPr>
          <a:xfrm xmlns:a="http://schemas.openxmlformats.org/drawingml/2006/main">
            <a:off x="5467350" y="4695825"/>
            <a:ext cx="2028825"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3900" b="0">
                <a:solidFill>
                  <a:srgbClr val="FFFFFF"/>
                </a:solidFill>
                <a:latin typeface="Georgia"/>
                <a:ea typeface="Georgia"/>
                <a:cs typeface="Georgia"/>
              </a:defRPr>
            </a:pPr>
            <a:r>
              <a:rPr sz="3900" b="0">
                <a:solidFill>
                  <a:srgbClr val="FFFFFF"/>
                </a:solidFill>
                <a:latin typeface="Georgia"/>
                <a:ea typeface="Georgia"/>
                <a:cs typeface="Georgia"/>
              </a:rPr>
              <a:t>51</a:t>
            </a:r>
          </a:p>
        </p:txBody>
      </p:sp>
      <p:sp>
        <p:nvSpPr>
          <p:cNvPr id="25" name="text-402">
            <a:extLst xmlns:a="http://schemas.openxmlformats.org/drawingml/2006/main">
              <a:ext uri="{FF2B5EF4-FFF2-40B4-BE49-F238E27FC236}">
                <a16:creationId xmlns:a16="http://schemas.microsoft.com/office/drawing/2014/main" id="{F2A5CDC7-6A6F-4192-8D1D-64BB14B36E07}"/>
              </a:ext>
            </a:extLst>
          </p:cNvPr>
          <p:cNvSpPr>
            <a:spLocks xmlns:a="http://schemas.openxmlformats.org/drawingml/2006/main" noGrp="1"/>
          </p:cNvSpPr>
          <p:nvPr/>
        </p:nvSpPr>
        <p:spPr>
          <a:xfrm xmlns:a="http://schemas.openxmlformats.org/drawingml/2006/main">
            <a:off x="5419725" y="5495925"/>
            <a:ext cx="2124075" cy="3143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ctr">
              <a:defRPr sz="1500" b="0">
                <a:solidFill>
                  <a:srgbClr val="FFFFFF"/>
                </a:solidFill>
                <a:latin typeface="Arial"/>
                <a:ea typeface="Arial"/>
                <a:cs typeface="Arial"/>
              </a:defRPr>
            </a:pPr>
            <a:r>
              <a:rPr sz="1500" b="0">
                <a:solidFill>
                  <a:srgbClr val="FFFFFF"/>
                </a:solidFill>
                <a:latin typeface="Arial"/>
                <a:ea typeface="Arial"/>
                <a:cs typeface="Arial"/>
              </a:rPr>
              <a:t>True positives</a:t>
            </a:r>
          </a:p>
        </p:txBody>
      </p:sp>
      <p:sp>
        <p:nvSpPr>
          <p:cNvPr id="26" name="text-403">
            <a:extLst xmlns:a="http://schemas.openxmlformats.org/drawingml/2006/main">
              <a:ext uri="{FF2B5EF4-FFF2-40B4-BE49-F238E27FC236}">
                <a16:creationId xmlns:a16="http://schemas.microsoft.com/office/drawing/2014/main" id="{92A49187-1EC5-49DD-92DE-7D3B1D912229}"/>
              </a:ext>
            </a:extLst>
          </p:cNvPr>
          <p:cNvSpPr>
            <a:spLocks xmlns:a="http://schemas.openxmlformats.org/drawingml/2006/main" noGrp="1"/>
          </p:cNvSpPr>
          <p:nvPr/>
        </p:nvSpPr>
        <p:spPr>
          <a:xfrm xmlns:a="http://schemas.openxmlformats.org/drawingml/2006/main">
            <a:off x="8524875" y="2571750"/>
            <a:ext cx="3000375"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53.7%</a:t>
            </a:r>
          </a:p>
        </p:txBody>
      </p:sp>
      <p:sp>
        <p:nvSpPr>
          <p:cNvPr id="27" name="text-404">
            <a:extLst xmlns:a="http://schemas.openxmlformats.org/drawingml/2006/main">
              <a:ext uri="{FF2B5EF4-FFF2-40B4-BE49-F238E27FC236}">
                <a16:creationId xmlns:a16="http://schemas.microsoft.com/office/drawing/2014/main" id="{F664D401-992D-461E-ABC2-A86BFFE6B01C}"/>
              </a:ext>
            </a:extLst>
          </p:cNvPr>
          <p:cNvSpPr>
            <a:spLocks xmlns:a="http://schemas.openxmlformats.org/drawingml/2006/main" noGrp="1"/>
          </p:cNvSpPr>
          <p:nvPr/>
        </p:nvSpPr>
        <p:spPr>
          <a:xfrm xmlns:a="http://schemas.openxmlformats.org/drawingml/2006/main">
            <a:off x="8524875" y="3448050"/>
            <a:ext cx="3000375"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precision · 51 / 95</a:t>
            </a:r>
          </a:p>
        </p:txBody>
      </p:sp>
      <p:sp>
        <p:nvSpPr>
          <p:cNvPr id="28" name="text-405">
            <a:extLst xmlns:a="http://schemas.openxmlformats.org/drawingml/2006/main">
              <a:ext uri="{FF2B5EF4-FFF2-40B4-BE49-F238E27FC236}">
                <a16:creationId xmlns:a16="http://schemas.microsoft.com/office/drawing/2014/main" id="{A2B5E3CF-F027-4491-A029-E15B665468D8}"/>
              </a:ext>
            </a:extLst>
          </p:cNvPr>
          <p:cNvSpPr>
            <a:spLocks xmlns:a="http://schemas.openxmlformats.org/drawingml/2006/main" noGrp="1"/>
          </p:cNvSpPr>
          <p:nvPr/>
        </p:nvSpPr>
        <p:spPr>
          <a:xfrm xmlns:a="http://schemas.openxmlformats.org/drawingml/2006/main">
            <a:off x="8524875" y="4429125"/>
            <a:ext cx="3000375"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76.1%</a:t>
            </a:r>
          </a:p>
        </p:txBody>
      </p:sp>
      <p:sp>
        <p:nvSpPr>
          <p:cNvPr id="29" name="text-406">
            <a:extLst xmlns:a="http://schemas.openxmlformats.org/drawingml/2006/main">
              <a:ext uri="{FF2B5EF4-FFF2-40B4-BE49-F238E27FC236}">
                <a16:creationId xmlns:a16="http://schemas.microsoft.com/office/drawing/2014/main" id="{CB34DE8D-7DD2-4695-A7F5-1BF8F5AAED74}"/>
              </a:ext>
            </a:extLst>
          </p:cNvPr>
          <p:cNvSpPr>
            <a:spLocks xmlns:a="http://schemas.openxmlformats.org/drawingml/2006/main" noGrp="1"/>
          </p:cNvSpPr>
          <p:nvPr/>
        </p:nvSpPr>
        <p:spPr>
          <a:xfrm xmlns:a="http://schemas.openxmlformats.org/drawingml/2006/main">
            <a:off x="8524875" y="5305425"/>
            <a:ext cx="3000375"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recall · 51 / 67</a:t>
            </a:r>
          </a:p>
        </p:txBody>
      </p:sp>
    </p:spTree>
    <p:extLst>
      <p:ext uri="{BB962C8B-B14F-4D97-AF65-F5344CB8AC3E}">
        <p14:creationId xmlns:p14="http://schemas.microsoft.com/office/powerpoint/2010/main" val="97763142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37A64D3B-C5B6-426C-9350-96D9D1A68F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863633F7-8666-42EC-B983-007CB0ABE69A}"/>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E1118A10-818D-4D67-879E-F5ACF4E156F0}"/>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RANKING QUALITY</a:t>
            </a:r>
          </a:p>
        </p:txBody>
      </p:sp>
      <p:sp>
        <p:nvSpPr>
          <p:cNvPr id="4" name="text-407">
            <a:extLst xmlns:a="http://schemas.openxmlformats.org/drawingml/2006/main">
              <a:ext uri="{FF2B5EF4-FFF2-40B4-BE49-F238E27FC236}">
                <a16:creationId xmlns:a16="http://schemas.microsoft.com/office/drawing/2014/main" id="{A84E421B-2968-4FF4-A1A9-6C44BAABF7FF}"/>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ROC AUC is .907; average precision is .624</a:t>
            </a:r>
          </a:p>
        </p:txBody>
      </p:sp>
      <p:sp>
        <p:nvSpPr>
          <p:cNvPr id="5" name="shape-408">
            <a:extLst xmlns:a="http://schemas.openxmlformats.org/drawingml/2006/main">
              <a:ext uri="{FF2B5EF4-FFF2-40B4-BE49-F238E27FC236}">
                <a16:creationId xmlns:a16="http://schemas.microsoft.com/office/drawing/2014/main" id="{FA11D137-307C-41F8-90B9-06925E752608}"/>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409">
            <a:extLst xmlns:a="http://schemas.openxmlformats.org/drawingml/2006/main">
              <a:ext uri="{FF2B5EF4-FFF2-40B4-BE49-F238E27FC236}">
                <a16:creationId xmlns:a16="http://schemas.microsoft.com/office/drawing/2014/main" id="{A067C79E-0733-4DF1-A211-5688DFCC87B6}"/>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§8 | exact notebook ROC and PR chart outputs</a:t>
            </a:r>
          </a:p>
        </p:txBody>
      </p:sp>
      <p:sp>
        <p:nvSpPr>
          <p:cNvPr id="7" name="text-410">
            <a:extLst xmlns:a="http://schemas.openxmlformats.org/drawingml/2006/main">
              <a:ext uri="{FF2B5EF4-FFF2-40B4-BE49-F238E27FC236}">
                <a16:creationId xmlns:a16="http://schemas.microsoft.com/office/drawing/2014/main" id="{2B785FF1-7384-4EAD-BBB5-38491DD4BE0C}"/>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18</a:t>
            </a:r>
          </a:p>
        </p:txBody>
      </p:sp>
      <p:pic>
        <p:nvPicPr>
          <p:cNvPr id="8" name="source-roc-curve"/>
          <p:cNvPicPr>
            <a:picLocks xmlns:a="http://schemas.openxmlformats.org/drawingml/2006/main" noChangeAspect="1"/>
          </p:cNvPicPr>
          <p:nvPr/>
        </p:nvPicPr>
        <p:blipFill>
          <a:blip xmlns:r="http://schemas.openxmlformats.org/officeDocument/2006/relationships" xmlns:a="http://schemas.openxmlformats.org/drawingml/2006/main" r:embed="Rfd3ff69667cf4628"/>
          <a:stretch xmlns:a="http://schemas.openxmlformats.org/drawingml/2006/main"/>
        </p:blipFill>
        <p:spPr>
          <a:xfrm xmlns:a="http://schemas.openxmlformats.org/drawingml/2006/main">
            <a:off x="1291616" y="1971675"/>
            <a:ext cx="3846143" cy="3895725"/>
          </a:xfrm>
          <a:prstGeom xmlns:a="http://schemas.openxmlformats.org/drawingml/2006/main" prst="rect">
            <a:avLst/>
          </a:prstGeom>
        </p:spPr>
      </p:pic>
      <p:pic>
        <p:nvPicPr>
          <p:cNvPr id="9" name="source-pr-curve"/>
          <p:cNvPicPr>
            <a:picLocks xmlns:a="http://schemas.openxmlformats.org/drawingml/2006/main" noChangeAspect="1"/>
          </p:cNvPicPr>
          <p:nvPr/>
        </p:nvPicPr>
        <p:blipFill>
          <a:blip xmlns:r="http://schemas.openxmlformats.org/officeDocument/2006/relationships" xmlns:a="http://schemas.openxmlformats.org/drawingml/2006/main" r:embed="Re1264a6a3d864eda"/>
          <a:stretch xmlns:a="http://schemas.openxmlformats.org/drawingml/2006/main"/>
        </p:blipFill>
        <p:spPr>
          <a:xfrm xmlns:a="http://schemas.openxmlformats.org/drawingml/2006/main">
            <a:off x="6958991" y="1971675"/>
            <a:ext cx="3846143" cy="3895725"/>
          </a:xfrm>
          <a:prstGeom xmlns:a="http://schemas.openxmlformats.org/drawingml/2006/main" prst="rect">
            <a:avLst/>
          </a:prstGeom>
        </p:spPr>
      </p:pic>
      <p:sp>
        <p:nvSpPr>
          <p:cNvPr id="10" name="text-411">
            <a:extLst xmlns:a="http://schemas.openxmlformats.org/drawingml/2006/main">
              <a:ext uri="{FF2B5EF4-FFF2-40B4-BE49-F238E27FC236}">
                <a16:creationId xmlns:a16="http://schemas.microsoft.com/office/drawing/2014/main" id="{FA53A61A-D193-4D21-8C15-C78AEA3CDC56}"/>
              </a:ext>
            </a:extLst>
          </p:cNvPr>
          <p:cNvSpPr>
            <a:spLocks xmlns:a="http://schemas.openxmlformats.org/drawingml/2006/main" noGrp="1"/>
          </p:cNvSpPr>
          <p:nvPr/>
        </p:nvSpPr>
        <p:spPr>
          <a:xfrm xmlns:a="http://schemas.openxmlformats.org/drawingml/2006/main">
            <a:off x="571500" y="5972175"/>
            <a:ext cx="11049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350" b="0">
                <a:solidFill>
                  <a:srgbClr val="596C7D"/>
                </a:solidFill>
                <a:latin typeface="Arial"/>
                <a:ea typeface="Arial"/>
                <a:cs typeface="Arial"/>
              </a:defRPr>
            </a:pPr>
            <a:r>
              <a:rPr sz="1350" b="0">
                <a:solidFill>
                  <a:srgbClr val="596C7D"/>
                </a:solidFill>
                <a:latin typeface="Arial"/>
                <a:ea typeface="Arial"/>
                <a:cs typeface="Arial"/>
              </a:rPr>
              <a:t>Across thresholds; confusion matrix uses one threshold.</a:t>
            </a:r>
          </a:p>
        </p:txBody>
      </p:sp>
    </p:spTree>
    <p:extLst>
      <p:ext uri="{BB962C8B-B14F-4D97-AF65-F5344CB8AC3E}">
        <p14:creationId xmlns:p14="http://schemas.microsoft.com/office/powerpoint/2010/main" val="178561655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E00396F-C181-45E3-A4B6-55C6384719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2012F14F-AF72-46C4-ABDE-31EE142E24F4}"/>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470D342D-ECF9-43D4-9411-F1F328FBC662}"/>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FROM SCORE TO LIST</a:t>
            </a:r>
          </a:p>
        </p:txBody>
      </p:sp>
      <p:sp>
        <p:nvSpPr>
          <p:cNvPr id="4" name="text-412">
            <a:extLst xmlns:a="http://schemas.openxmlformats.org/drawingml/2006/main">
              <a:ext uri="{FF2B5EF4-FFF2-40B4-BE49-F238E27FC236}">
                <a16:creationId xmlns:a16="http://schemas.microsoft.com/office/drawing/2014/main" id="{F282F34D-4571-4D9A-9C02-9CFE588F6BBC}"/>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Rank by acceptance score, then apply the calling capacity</a:t>
            </a:r>
          </a:p>
        </p:txBody>
      </p:sp>
      <p:sp>
        <p:nvSpPr>
          <p:cNvPr id="5" name="shape-413">
            <a:extLst xmlns:a="http://schemas.openxmlformats.org/drawingml/2006/main">
              <a:ext uri="{FF2B5EF4-FFF2-40B4-BE49-F238E27FC236}">
                <a16:creationId xmlns:a16="http://schemas.microsoft.com/office/drawing/2014/main" id="{DBFC9A8C-F7ED-40E9-88BA-D096E91A1C2C}"/>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414">
            <a:extLst xmlns:a="http://schemas.openxmlformats.org/drawingml/2006/main">
              <a:ext uri="{FF2B5EF4-FFF2-40B4-BE49-F238E27FC236}">
                <a16:creationId xmlns:a16="http://schemas.microsoft.com/office/drawing/2014/main" id="{B90BC6C8-1090-4C37-8E84-11647AF7A02C}"/>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§9 | predict_proba(X_test)[:, 1], descending sort</a:t>
            </a:r>
          </a:p>
        </p:txBody>
      </p:sp>
      <p:sp>
        <p:nvSpPr>
          <p:cNvPr id="7" name="text-415">
            <a:extLst xmlns:a="http://schemas.openxmlformats.org/drawingml/2006/main">
              <a:ext uri="{FF2B5EF4-FFF2-40B4-BE49-F238E27FC236}">
                <a16:creationId xmlns:a16="http://schemas.microsoft.com/office/drawing/2014/main" id="{FD8A9C2C-124C-4277-825C-FC23D794AEC1}"/>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19</a:t>
            </a:r>
          </a:p>
        </p:txBody>
      </p:sp>
      <p:sp>
        <p:nvSpPr>
          <p:cNvPr id="8" name="text-416">
            <a:extLst xmlns:a="http://schemas.openxmlformats.org/drawingml/2006/main">
              <a:ext uri="{FF2B5EF4-FFF2-40B4-BE49-F238E27FC236}">
                <a16:creationId xmlns:a16="http://schemas.microsoft.com/office/drawing/2014/main" id="{18CDA82E-B18A-499E-89E3-5B004CA743FB}"/>
              </a:ext>
            </a:extLst>
          </p:cNvPr>
          <p:cNvSpPr>
            <a:spLocks xmlns:a="http://schemas.openxmlformats.org/drawingml/2006/main" noGrp="1"/>
          </p:cNvSpPr>
          <p:nvPr/>
        </p:nvSpPr>
        <p:spPr>
          <a:xfrm xmlns:a="http://schemas.openxmlformats.org/drawingml/2006/main">
            <a:off x="571500" y="2305050"/>
            <a:ext cx="3333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1">
                <a:solidFill>
                  <a:srgbClr val="4682B4"/>
                </a:solidFill>
                <a:latin typeface="Arial"/>
                <a:ea typeface="Arial"/>
                <a:cs typeface="Arial"/>
              </a:defRPr>
            </a:pPr>
            <a:r>
              <a:rPr sz="2250" b="1">
                <a:solidFill>
                  <a:srgbClr val="4682B4"/>
                </a:solidFill>
                <a:latin typeface="Arial"/>
                <a:ea typeface="Arial"/>
                <a:cs typeface="Arial"/>
              </a:rPr>
              <a:t>1. Score</a:t>
            </a:r>
          </a:p>
        </p:txBody>
      </p:sp>
      <p:sp>
        <p:nvSpPr>
          <p:cNvPr id="9" name="text-417">
            <a:extLst xmlns:a="http://schemas.openxmlformats.org/drawingml/2006/main">
              <a:ext uri="{FF2B5EF4-FFF2-40B4-BE49-F238E27FC236}">
                <a16:creationId xmlns:a16="http://schemas.microsoft.com/office/drawing/2014/main" id="{57DCD781-A038-461B-816F-8D09D7DB2FFB}"/>
              </a:ext>
            </a:extLst>
          </p:cNvPr>
          <p:cNvSpPr>
            <a:spLocks xmlns:a="http://schemas.openxmlformats.org/drawingml/2006/main" noGrp="1"/>
          </p:cNvSpPr>
          <p:nvPr/>
        </p:nvSpPr>
        <p:spPr>
          <a:xfrm xmlns:a="http://schemas.openxmlformats.org/drawingml/2006/main">
            <a:off x="571500" y="3000375"/>
            <a:ext cx="3095625"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0">
                <a:solidFill>
                  <a:srgbClr val="182D43"/>
                </a:solidFill>
                <a:latin typeface="Arial"/>
                <a:ea typeface="Arial"/>
                <a:cs typeface="Arial"/>
              </a:defRPr>
            </a:pPr>
            <a:r>
              <a:rPr sz="2025" b="0">
                <a:solidFill>
                  <a:srgbClr val="182D43"/>
                </a:solidFill>
                <a:latin typeface="Arial"/>
                <a:ea typeface="Arial"/>
                <a:cs typeface="Arial"/>
              </a:rPr>
              <a:t>Average the three class-one outputs.</a:t>
            </a:r>
          </a:p>
        </p:txBody>
      </p:sp>
      <p:sp>
        <p:nvSpPr>
          <p:cNvPr id="10" name="text-418">
            <a:extLst xmlns:a="http://schemas.openxmlformats.org/drawingml/2006/main">
              <a:ext uri="{FF2B5EF4-FFF2-40B4-BE49-F238E27FC236}">
                <a16:creationId xmlns:a16="http://schemas.microsoft.com/office/drawing/2014/main" id="{3CD2AAD8-3F6A-4E6D-9C6B-29F3601425C9}"/>
              </a:ext>
            </a:extLst>
          </p:cNvPr>
          <p:cNvSpPr>
            <a:spLocks xmlns:a="http://schemas.openxmlformats.org/drawingml/2006/main" noGrp="1"/>
          </p:cNvSpPr>
          <p:nvPr/>
        </p:nvSpPr>
        <p:spPr>
          <a:xfrm xmlns:a="http://schemas.openxmlformats.org/drawingml/2006/main">
            <a:off x="4495800" y="2305050"/>
            <a:ext cx="3333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1">
                <a:solidFill>
                  <a:srgbClr val="4682B4"/>
                </a:solidFill>
                <a:latin typeface="Arial"/>
                <a:ea typeface="Arial"/>
                <a:cs typeface="Arial"/>
              </a:defRPr>
            </a:pPr>
            <a:r>
              <a:rPr sz="2250" b="1">
                <a:solidFill>
                  <a:srgbClr val="4682B4"/>
                </a:solidFill>
                <a:latin typeface="Arial"/>
                <a:ea typeface="Arial"/>
                <a:cs typeface="Arial"/>
              </a:rPr>
              <a:t>2. Sort descending</a:t>
            </a:r>
          </a:p>
        </p:txBody>
      </p:sp>
      <p:sp>
        <p:nvSpPr>
          <p:cNvPr id="11" name="text-419">
            <a:extLst xmlns:a="http://schemas.openxmlformats.org/drawingml/2006/main">
              <a:ext uri="{FF2B5EF4-FFF2-40B4-BE49-F238E27FC236}">
                <a16:creationId xmlns:a16="http://schemas.microsoft.com/office/drawing/2014/main" id="{3E193A19-B9B2-4111-B807-CDA452240DC7}"/>
              </a:ext>
            </a:extLst>
          </p:cNvPr>
          <p:cNvSpPr>
            <a:spLocks xmlns:a="http://schemas.openxmlformats.org/drawingml/2006/main" noGrp="1"/>
          </p:cNvSpPr>
          <p:nvPr/>
        </p:nvSpPr>
        <p:spPr>
          <a:xfrm xmlns:a="http://schemas.openxmlformats.org/drawingml/2006/main">
            <a:off x="4495800" y="3000375"/>
            <a:ext cx="3333750" cy="1285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00" b="0">
                <a:solidFill>
                  <a:srgbClr val="182D43"/>
                </a:solidFill>
                <a:latin typeface="Arial"/>
                <a:ea typeface="Arial"/>
                <a:cs typeface="Arial"/>
              </a:defRPr>
            </a:pPr>
            <a:r>
              <a:rPr sz="2100" b="0">
                <a:solidFill>
                  <a:srgbClr val="182D43"/>
                </a:solidFill>
                <a:latin typeface="Arial"/>
                <a:ea typeface="Arial"/>
                <a:cs typeface="Arial"/>
              </a:rPr>
              <a:t>Customer A    0.82 Customer B    0.71 Customer C    0.29</a:t>
            </a:r>
          </a:p>
        </p:txBody>
      </p:sp>
      <p:sp>
        <p:nvSpPr>
          <p:cNvPr id="12" name="text-420">
            <a:extLst xmlns:a="http://schemas.openxmlformats.org/drawingml/2006/main">
              <a:ext uri="{FF2B5EF4-FFF2-40B4-BE49-F238E27FC236}">
                <a16:creationId xmlns:a16="http://schemas.microsoft.com/office/drawing/2014/main" id="{72178812-4213-4CBF-A57B-D968728230D9}"/>
              </a:ext>
            </a:extLst>
          </p:cNvPr>
          <p:cNvSpPr>
            <a:spLocks xmlns:a="http://schemas.openxmlformats.org/drawingml/2006/main" noGrp="1"/>
          </p:cNvSpPr>
          <p:nvPr/>
        </p:nvSpPr>
        <p:spPr>
          <a:xfrm xmlns:a="http://schemas.openxmlformats.org/drawingml/2006/main">
            <a:off x="8420100" y="2305050"/>
            <a:ext cx="31432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1">
                <a:solidFill>
                  <a:srgbClr val="4682B4"/>
                </a:solidFill>
                <a:latin typeface="Arial"/>
                <a:ea typeface="Arial"/>
                <a:cs typeface="Arial"/>
              </a:defRPr>
            </a:pPr>
            <a:r>
              <a:rPr sz="2250" b="1">
                <a:solidFill>
                  <a:srgbClr val="4682B4"/>
                </a:solidFill>
                <a:latin typeface="Arial"/>
                <a:ea typeface="Arial"/>
                <a:cs typeface="Arial"/>
              </a:rPr>
              <a:t>3. Select top k</a:t>
            </a:r>
          </a:p>
        </p:txBody>
      </p:sp>
      <p:sp>
        <p:nvSpPr>
          <p:cNvPr id="13" name="text-421">
            <a:extLst xmlns:a="http://schemas.openxmlformats.org/drawingml/2006/main">
              <a:ext uri="{FF2B5EF4-FFF2-40B4-BE49-F238E27FC236}">
                <a16:creationId xmlns:a16="http://schemas.microsoft.com/office/drawing/2014/main" id="{690DA114-26B9-424F-9E7E-3B8754C3348C}"/>
              </a:ext>
            </a:extLst>
          </p:cNvPr>
          <p:cNvSpPr>
            <a:spLocks xmlns:a="http://schemas.openxmlformats.org/drawingml/2006/main" noGrp="1"/>
          </p:cNvSpPr>
          <p:nvPr/>
        </p:nvSpPr>
        <p:spPr>
          <a:xfrm xmlns:a="http://schemas.openxmlformats.org/drawingml/2006/main">
            <a:off x="8420100" y="3000375"/>
            <a:ext cx="31432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0">
                <a:solidFill>
                  <a:srgbClr val="182D43"/>
                </a:solidFill>
                <a:latin typeface="Arial"/>
                <a:ea typeface="Arial"/>
                <a:cs typeface="Arial"/>
              </a:defRPr>
            </a:pPr>
            <a:r>
              <a:rPr sz="2025" b="0">
                <a:solidFill>
                  <a:srgbClr val="182D43"/>
                </a:solidFill>
                <a:latin typeface="Arial"/>
                <a:ea typeface="Arial"/>
                <a:cs typeface="Arial"/>
              </a:rPr>
              <a:t>Call capacity determines the size of the list.</a:t>
            </a:r>
          </a:p>
        </p:txBody>
      </p:sp>
      <p:sp>
        <p:nvSpPr>
          <p:cNvPr id="14" name="shape-422">
            <a:extLst xmlns:a="http://schemas.openxmlformats.org/drawingml/2006/main">
              <a:ext uri="{FF2B5EF4-FFF2-40B4-BE49-F238E27FC236}">
                <a16:creationId xmlns:a16="http://schemas.microsoft.com/office/drawing/2014/main" id="{40625631-9D24-4901-B5B2-18BFCB390D1D}"/>
              </a:ext>
            </a:extLst>
          </p:cNvPr>
          <p:cNvSpPr>
            <a:spLocks xmlns:a="http://schemas.openxmlformats.org/drawingml/2006/main" noGrp="1"/>
          </p:cNvSpPr>
          <p:nvPr/>
        </p:nvSpPr>
        <p:spPr>
          <a:xfrm xmlns:a="http://schemas.openxmlformats.org/drawingml/2006/main">
            <a:off x="571500" y="481965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5" name="text-423">
            <a:extLst xmlns:a="http://schemas.openxmlformats.org/drawingml/2006/main">
              <a:ext uri="{FF2B5EF4-FFF2-40B4-BE49-F238E27FC236}">
                <a16:creationId xmlns:a16="http://schemas.microsoft.com/office/drawing/2014/main" id="{2FC6F63D-77B9-4309-A6EE-EB23E204D486}"/>
              </a:ext>
            </a:extLst>
          </p:cNvPr>
          <p:cNvSpPr>
            <a:spLocks xmlns:a="http://schemas.openxmlformats.org/drawingml/2006/main" noGrp="1"/>
          </p:cNvSpPr>
          <p:nvPr/>
        </p:nvSpPr>
        <p:spPr>
          <a:xfrm xmlns:a="http://schemas.openxmlformats.org/drawingml/2006/main">
            <a:off x="571500" y="5162550"/>
            <a:ext cx="11049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75" b="1">
                <a:solidFill>
                  <a:srgbClr val="182D43"/>
                </a:solidFill>
                <a:latin typeface="Arial"/>
                <a:ea typeface="Arial"/>
                <a:cs typeface="Arial"/>
              </a:defRPr>
            </a:pPr>
            <a:r>
              <a:rPr sz="2175" b="1">
                <a:solidFill>
                  <a:srgbClr val="182D43"/>
                </a:solidFill>
                <a:latin typeface="Arial"/>
                <a:ea typeface="Arial"/>
                <a:cs typeface="Arial"/>
              </a:rPr>
              <a:t>Actual response is used for evaluation only, never for ranking.</a:t>
            </a:r>
          </a:p>
        </p:txBody>
      </p:sp>
      <p:sp>
        <p:nvSpPr>
          <p:cNvPr id="16" name="text-424">
            <a:extLst xmlns:a="http://schemas.openxmlformats.org/drawingml/2006/main">
              <a:ext uri="{FF2B5EF4-FFF2-40B4-BE49-F238E27FC236}">
                <a16:creationId xmlns:a16="http://schemas.microsoft.com/office/drawing/2014/main" id="{A93A82BA-B785-4064-A64A-8F9D15758F68}"/>
              </a:ext>
            </a:extLst>
          </p:cNvPr>
          <p:cNvSpPr>
            <a:spLocks xmlns:a="http://schemas.openxmlformats.org/drawingml/2006/main" noGrp="1"/>
          </p:cNvSpPr>
          <p:nvPr/>
        </p:nvSpPr>
        <p:spPr>
          <a:xfrm xmlns:a="http://schemas.openxmlformats.org/drawingml/2006/main">
            <a:off x="571500" y="5810250"/>
            <a:ext cx="11049000" cy="342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596C7D"/>
                </a:solidFill>
                <a:latin typeface="Arial"/>
                <a:ea typeface="Arial"/>
                <a:cs typeface="Arial"/>
              </a:defRPr>
            </a:pPr>
            <a:r>
              <a:rPr sz="1425" b="0">
                <a:solidFill>
                  <a:srgbClr val="596C7D"/>
                </a:solidFill>
                <a:latin typeface="Arial"/>
                <a:ea typeface="Arial"/>
                <a:cs typeface="Arial"/>
              </a:rPr>
              <a:t>Illustrative customer scores above are fictional. Real ranking uses predict_proba(X_test)[:, 1].</a:t>
            </a:r>
          </a:p>
        </p:txBody>
      </p:sp>
    </p:spTree>
    <p:extLst>
      <p:ext uri="{BB962C8B-B14F-4D97-AF65-F5344CB8AC3E}">
        <p14:creationId xmlns:p14="http://schemas.microsoft.com/office/powerpoint/2010/main" val="155898666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942EADE3-CC81-4FC6-896F-37CFE2B02A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AFB6B8DA-EA77-4050-93A8-EC988373B62E}"/>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D134C1B1-6A96-4AF9-8E69-7063833B68C3}"/>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CUMULATIVE GAINS</a:t>
            </a:r>
          </a:p>
        </p:txBody>
      </p:sp>
      <p:sp>
        <p:nvSpPr>
          <p:cNvPr id="4" name="text-425">
            <a:extLst xmlns:a="http://schemas.openxmlformats.org/drawingml/2006/main">
              <a:ext uri="{FF2B5EF4-FFF2-40B4-BE49-F238E27FC236}">
                <a16:creationId xmlns:a16="http://schemas.microsoft.com/office/drawing/2014/main" id="{EA9F08E1-7B61-42A3-8121-1E31CED3B922}"/>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The top 20% contains 73.1% of historical responders</a:t>
            </a:r>
          </a:p>
        </p:txBody>
      </p:sp>
      <p:sp>
        <p:nvSpPr>
          <p:cNvPr id="5" name="shape-426">
            <a:extLst xmlns:a="http://schemas.openxmlformats.org/drawingml/2006/main">
              <a:ext uri="{FF2B5EF4-FFF2-40B4-BE49-F238E27FC236}">
                <a16:creationId xmlns:a16="http://schemas.microsoft.com/office/drawing/2014/main" id="{8A3464FF-F377-4DD9-B468-A62865866476}"/>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427">
            <a:extLst xmlns:a="http://schemas.openxmlformats.org/drawingml/2006/main">
              <a:ext uri="{FF2B5EF4-FFF2-40B4-BE49-F238E27FC236}">
                <a16:creationId xmlns:a16="http://schemas.microsoft.com/office/drawing/2014/main" id="{51784FF4-AE60-4C1B-BB5E-F098F914C395}"/>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§9 | 49 / 67 responders in top 90 / 448 rows</a:t>
            </a:r>
          </a:p>
        </p:txBody>
      </p:sp>
      <p:sp>
        <p:nvSpPr>
          <p:cNvPr id="7" name="text-428">
            <a:extLst xmlns:a="http://schemas.openxmlformats.org/drawingml/2006/main">
              <a:ext uri="{FF2B5EF4-FFF2-40B4-BE49-F238E27FC236}">
                <a16:creationId xmlns:a16="http://schemas.microsoft.com/office/drawing/2014/main" id="{1305BBD2-BB5D-48D5-8AE5-FCC4DC73C689}"/>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20</a:t>
            </a:r>
          </a:p>
        </p:txBody>
      </p:sp>
      <p:graphicFrame>
        <p:nvGraphicFramePr>
          <p:cNvPr id="8" name="Chart"/>
          <p:cNvGraphicFramePr/>
          <p:nvPr/>
        </p:nvGraphicFramePr>
        <p:xfrm>
          <a:off xmlns:a="http://schemas.openxmlformats.org/drawingml/2006/main" x="571500" y="2095500"/>
          <a:ext xmlns:a="http://schemas.openxmlformats.org/drawingml/2006/main" cx="7572375" cy="3914775"/>
        </p:xfrm>
        <a:graphic xmlns:a="http://schemas.openxmlformats.org/drawingml/2006/main">
          <a:graphicData uri="http://schemas.openxmlformats.org/drawingml/2006/chart">
            <c:chart xmlns:r="http://schemas.openxmlformats.org/officeDocument/2006/relationships" xmlns:c="http://schemas.openxmlformats.org/drawingml/2006/chart" r:id="Rff67142d27884a1d"/>
          </a:graphicData>
        </a:graphic>
      </p:graphicFrame>
      <p:sp>
        <p:nvSpPr>
          <p:cNvPr id="9" name="text-429">
            <a:extLst xmlns:a="http://schemas.openxmlformats.org/drawingml/2006/main">
              <a:ext uri="{FF2B5EF4-FFF2-40B4-BE49-F238E27FC236}">
                <a16:creationId xmlns:a16="http://schemas.microsoft.com/office/drawing/2014/main" id="{7857BD25-B241-4F7F-9E2F-8387935B6075}"/>
              </a:ext>
            </a:extLst>
          </p:cNvPr>
          <p:cNvSpPr>
            <a:spLocks xmlns:a="http://schemas.openxmlformats.org/drawingml/2006/main" noGrp="1"/>
          </p:cNvSpPr>
          <p:nvPr/>
        </p:nvSpPr>
        <p:spPr>
          <a:xfrm xmlns:a="http://schemas.openxmlformats.org/drawingml/2006/main">
            <a:off x="8715375" y="2324100"/>
            <a:ext cx="287655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49 / 67</a:t>
            </a:r>
          </a:p>
        </p:txBody>
      </p:sp>
      <p:sp>
        <p:nvSpPr>
          <p:cNvPr id="10" name="text-430">
            <a:extLst xmlns:a="http://schemas.openxmlformats.org/drawingml/2006/main">
              <a:ext uri="{FF2B5EF4-FFF2-40B4-BE49-F238E27FC236}">
                <a16:creationId xmlns:a16="http://schemas.microsoft.com/office/drawing/2014/main" id="{4195AB76-4B6A-4FCA-B9AD-E6DA6A215CB7}"/>
              </a:ext>
            </a:extLst>
          </p:cNvPr>
          <p:cNvSpPr>
            <a:spLocks xmlns:a="http://schemas.openxmlformats.org/drawingml/2006/main" noGrp="1"/>
          </p:cNvSpPr>
          <p:nvPr/>
        </p:nvSpPr>
        <p:spPr>
          <a:xfrm xmlns:a="http://schemas.openxmlformats.org/drawingml/2006/main">
            <a:off x="8715375" y="3200400"/>
            <a:ext cx="287655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responders captured within 90 selected customers</a:t>
            </a:r>
          </a:p>
        </p:txBody>
      </p:sp>
      <p:sp>
        <p:nvSpPr>
          <p:cNvPr id="11" name="shape-431">
            <a:extLst xmlns:a="http://schemas.openxmlformats.org/drawingml/2006/main">
              <a:ext uri="{FF2B5EF4-FFF2-40B4-BE49-F238E27FC236}">
                <a16:creationId xmlns:a16="http://schemas.microsoft.com/office/drawing/2014/main" id="{23161CC6-A40F-480C-A086-5AC8741FB786}"/>
              </a:ext>
            </a:extLst>
          </p:cNvPr>
          <p:cNvSpPr>
            <a:spLocks xmlns:a="http://schemas.openxmlformats.org/drawingml/2006/main" noGrp="1"/>
          </p:cNvSpPr>
          <p:nvPr/>
        </p:nvSpPr>
        <p:spPr>
          <a:xfrm xmlns:a="http://schemas.openxmlformats.org/drawingml/2006/main">
            <a:off x="8715375" y="4371975"/>
            <a:ext cx="28575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2" name="text-432">
            <a:extLst xmlns:a="http://schemas.openxmlformats.org/drawingml/2006/main">
              <a:ext uri="{FF2B5EF4-FFF2-40B4-BE49-F238E27FC236}">
                <a16:creationId xmlns:a16="http://schemas.microsoft.com/office/drawing/2014/main" id="{B50E66F9-284E-41F0-86B1-73F1DE0A36DD}"/>
              </a:ext>
            </a:extLst>
          </p:cNvPr>
          <p:cNvSpPr>
            <a:spLocks xmlns:a="http://schemas.openxmlformats.org/drawingml/2006/main" noGrp="1"/>
          </p:cNvSpPr>
          <p:nvPr/>
        </p:nvSpPr>
        <p:spPr>
          <a:xfrm xmlns:a="http://schemas.openxmlformats.org/drawingml/2006/main">
            <a:off x="8715375" y="4543425"/>
            <a:ext cx="28575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4682B4"/>
                </a:solidFill>
                <a:latin typeface="Arial"/>
                <a:ea typeface="Arial"/>
                <a:cs typeface="Arial"/>
              </a:defRPr>
            </a:pPr>
            <a:r>
              <a:rPr sz="1800" b="1">
                <a:solidFill>
                  <a:srgbClr val="4682B4"/>
                </a:solidFill>
                <a:latin typeface="Arial"/>
                <a:ea typeface="Arial"/>
                <a:cs typeface="Arial"/>
              </a:rPr>
              <a:t>Random benchmark</a:t>
            </a:r>
          </a:p>
        </p:txBody>
      </p:sp>
      <p:sp>
        <p:nvSpPr>
          <p:cNvPr id="13" name="text-433">
            <a:extLst xmlns:a="http://schemas.openxmlformats.org/drawingml/2006/main">
              <a:ext uri="{FF2B5EF4-FFF2-40B4-BE49-F238E27FC236}">
                <a16:creationId xmlns:a16="http://schemas.microsoft.com/office/drawing/2014/main" id="{786E22BB-2B64-4786-8026-2448A8B47C1D}"/>
              </a:ext>
            </a:extLst>
          </p:cNvPr>
          <p:cNvSpPr>
            <a:spLocks xmlns:a="http://schemas.openxmlformats.org/drawingml/2006/main" noGrp="1"/>
          </p:cNvSpPr>
          <p:nvPr/>
        </p:nvSpPr>
        <p:spPr>
          <a:xfrm xmlns:a="http://schemas.openxmlformats.org/drawingml/2006/main">
            <a:off x="8715375" y="5010150"/>
            <a:ext cx="2857500" cy="1066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0">
                <a:solidFill>
                  <a:srgbClr val="596C7D"/>
                </a:solidFill>
                <a:latin typeface="Arial"/>
                <a:ea typeface="Arial"/>
                <a:cs typeface="Arial"/>
              </a:defRPr>
            </a:pPr>
            <a:r>
              <a:rPr sz="1650" b="0">
                <a:solidFill>
                  <a:srgbClr val="596C7D"/>
                </a:solidFill>
                <a:latin typeface="Arial"/>
                <a:ea typeface="Arial"/>
                <a:cs typeface="Arial"/>
              </a:rPr>
              <a:t>Calling 20% at random captures 20% of responders in expectation.</a:t>
            </a:r>
          </a:p>
        </p:txBody>
      </p:sp>
    </p:spTree>
    <p:extLst>
      <p:ext uri="{BB962C8B-B14F-4D97-AF65-F5344CB8AC3E}">
        <p14:creationId xmlns:p14="http://schemas.microsoft.com/office/powerpoint/2010/main" val="104219122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052F9333-ECFB-4554-82A9-F91086F135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1FB7817E-2C69-45C6-969B-C7DCD559EAD3}"/>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0CFCA903-1A66-4BF3-AE82-925075E219AE}"/>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CALLING CAPACITY</a:t>
            </a:r>
          </a:p>
        </p:txBody>
      </p:sp>
      <p:sp>
        <p:nvSpPr>
          <p:cNvPr id="4" name="text-434">
            <a:extLst xmlns:a="http://schemas.openxmlformats.org/drawingml/2006/main">
              <a:ext uri="{FF2B5EF4-FFF2-40B4-BE49-F238E27FC236}">
                <a16:creationId xmlns:a16="http://schemas.microsoft.com/office/drawing/2014/main" id="{1DE10D89-2066-49ED-87F3-75203E7E6825}"/>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A 20% calling budget is a scenario, not a proven optimum</a:t>
            </a:r>
          </a:p>
        </p:txBody>
      </p:sp>
      <p:sp>
        <p:nvSpPr>
          <p:cNvPr id="5" name="shape-435">
            <a:extLst xmlns:a="http://schemas.openxmlformats.org/drawingml/2006/main">
              <a:ext uri="{FF2B5EF4-FFF2-40B4-BE49-F238E27FC236}">
                <a16:creationId xmlns:a16="http://schemas.microsoft.com/office/drawing/2014/main" id="{3655CD19-68BB-44AD-AD96-FF3702354C36}"/>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436">
            <a:extLst xmlns:a="http://schemas.openxmlformats.org/drawingml/2006/main">
              <a:ext uri="{FF2B5EF4-FFF2-40B4-BE49-F238E27FC236}">
                <a16:creationId xmlns:a16="http://schemas.microsoft.com/office/drawing/2014/main" id="{31E001BF-6261-4766-9A24-47BF4EBB8189}"/>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§9 | nominal contact fractions; customer counts rounded</a:t>
            </a:r>
          </a:p>
        </p:txBody>
      </p:sp>
      <p:sp>
        <p:nvSpPr>
          <p:cNvPr id="7" name="text-437">
            <a:extLst xmlns:a="http://schemas.openxmlformats.org/drawingml/2006/main">
              <a:ext uri="{FF2B5EF4-FFF2-40B4-BE49-F238E27FC236}">
                <a16:creationId xmlns:a16="http://schemas.microsoft.com/office/drawing/2014/main" id="{57E85FC6-CD79-4065-A247-71FE22FC51D6}"/>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21</a:t>
            </a:r>
          </a:p>
        </p:txBody>
      </p:sp>
      <p:sp>
        <p:nvSpPr>
          <p:cNvPr id="8" name="shape-438">
            <a:extLst xmlns:a="http://schemas.openxmlformats.org/drawingml/2006/main">
              <a:ext uri="{FF2B5EF4-FFF2-40B4-BE49-F238E27FC236}">
                <a16:creationId xmlns:a16="http://schemas.microsoft.com/office/drawing/2014/main" id="{B73BCB45-BD8C-4B58-BA88-89A3FBEB3625}"/>
              </a:ext>
            </a:extLst>
          </p:cNvPr>
          <p:cNvSpPr>
            <a:spLocks xmlns:a="http://schemas.openxmlformats.org/drawingml/2006/main" noGrp="1"/>
          </p:cNvSpPr>
          <p:nvPr/>
        </p:nvSpPr>
        <p:spPr>
          <a:xfrm xmlns:a="http://schemas.openxmlformats.org/drawingml/2006/main">
            <a:off x="571500" y="2200275"/>
            <a:ext cx="11049000" cy="457200"/>
          </a:xfrm>
          <a:prstGeom xmlns:a="http://schemas.openxmlformats.org/drawingml/2006/main" prst="rect">
            <a:avLst/>
          </a:prstGeom>
          <a:solidFill xmlns:a="http://schemas.openxmlformats.org/drawingml/2006/main">
            <a:srgbClr val="182D43"/>
          </a:solidFill>
          <a:ln xmlns:a="http://schemas.openxmlformats.org/drawingml/2006/main" w="0">
            <a:noFill/>
            <a:prstDash val="solid"/>
          </a:ln>
        </p:spPr>
      </p:sp>
      <p:sp>
        <p:nvSpPr>
          <p:cNvPr id="9" name="text-439">
            <a:extLst xmlns:a="http://schemas.openxmlformats.org/drawingml/2006/main">
              <a:ext uri="{FF2B5EF4-FFF2-40B4-BE49-F238E27FC236}">
                <a16:creationId xmlns:a16="http://schemas.microsoft.com/office/drawing/2014/main" id="{028E2F58-AA7B-4A73-8165-EE3EF1EBE82E}"/>
              </a:ext>
            </a:extLst>
          </p:cNvPr>
          <p:cNvSpPr>
            <a:spLocks xmlns:a="http://schemas.openxmlformats.org/drawingml/2006/main" noGrp="1"/>
          </p:cNvSpPr>
          <p:nvPr/>
        </p:nvSpPr>
        <p:spPr>
          <a:xfrm xmlns:a="http://schemas.openxmlformats.org/drawingml/2006/main">
            <a:off x="685800" y="2314575"/>
            <a:ext cx="18669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Target share</a:t>
            </a:r>
          </a:p>
        </p:txBody>
      </p:sp>
      <p:sp>
        <p:nvSpPr>
          <p:cNvPr id="10" name="text-440">
            <a:extLst xmlns:a="http://schemas.openxmlformats.org/drawingml/2006/main">
              <a:ext uri="{FF2B5EF4-FFF2-40B4-BE49-F238E27FC236}">
                <a16:creationId xmlns:a16="http://schemas.microsoft.com/office/drawing/2014/main" id="{970E0157-1145-4B09-95F5-300953F0439D}"/>
              </a:ext>
            </a:extLst>
          </p:cNvPr>
          <p:cNvSpPr>
            <a:spLocks xmlns:a="http://schemas.openxmlformats.org/drawingml/2006/main" noGrp="1"/>
          </p:cNvSpPr>
          <p:nvPr/>
        </p:nvSpPr>
        <p:spPr>
          <a:xfrm xmlns:a="http://schemas.openxmlformats.org/drawingml/2006/main">
            <a:off x="2781300" y="2314575"/>
            <a:ext cx="12954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Calls</a:t>
            </a:r>
          </a:p>
        </p:txBody>
      </p:sp>
      <p:sp>
        <p:nvSpPr>
          <p:cNvPr id="11" name="text-441">
            <a:extLst xmlns:a="http://schemas.openxmlformats.org/drawingml/2006/main">
              <a:ext uri="{FF2B5EF4-FFF2-40B4-BE49-F238E27FC236}">
                <a16:creationId xmlns:a16="http://schemas.microsoft.com/office/drawing/2014/main" id="{4CF73B0A-0FFF-4922-8612-7E14BE5CFAB3}"/>
              </a:ext>
            </a:extLst>
          </p:cNvPr>
          <p:cNvSpPr>
            <a:spLocks xmlns:a="http://schemas.openxmlformats.org/drawingml/2006/main" noGrp="1"/>
          </p:cNvSpPr>
          <p:nvPr/>
        </p:nvSpPr>
        <p:spPr>
          <a:xfrm xmlns:a="http://schemas.openxmlformats.org/drawingml/2006/main">
            <a:off x="4305300" y="2314575"/>
            <a:ext cx="162877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Responders</a:t>
            </a:r>
          </a:p>
        </p:txBody>
      </p:sp>
      <p:sp>
        <p:nvSpPr>
          <p:cNvPr id="12" name="text-442">
            <a:extLst xmlns:a="http://schemas.openxmlformats.org/drawingml/2006/main">
              <a:ext uri="{FF2B5EF4-FFF2-40B4-BE49-F238E27FC236}">
                <a16:creationId xmlns:a16="http://schemas.microsoft.com/office/drawing/2014/main" id="{48ED7E5B-7AED-4042-AF55-BB5B07DCCC90}"/>
              </a:ext>
            </a:extLst>
          </p:cNvPr>
          <p:cNvSpPr>
            <a:spLocks xmlns:a="http://schemas.openxmlformats.org/drawingml/2006/main" noGrp="1"/>
          </p:cNvSpPr>
          <p:nvPr/>
        </p:nvSpPr>
        <p:spPr>
          <a:xfrm xmlns:a="http://schemas.openxmlformats.org/drawingml/2006/main">
            <a:off x="6162675" y="2314575"/>
            <a:ext cx="1533525"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Capture</a:t>
            </a:r>
          </a:p>
        </p:txBody>
      </p:sp>
      <p:sp>
        <p:nvSpPr>
          <p:cNvPr id="13" name="text-443">
            <a:extLst xmlns:a="http://schemas.openxmlformats.org/drawingml/2006/main">
              <a:ext uri="{FF2B5EF4-FFF2-40B4-BE49-F238E27FC236}">
                <a16:creationId xmlns:a16="http://schemas.microsoft.com/office/drawing/2014/main" id="{BD240925-4350-4FA0-91C5-AA0556141903}"/>
              </a:ext>
            </a:extLst>
          </p:cNvPr>
          <p:cNvSpPr>
            <a:spLocks xmlns:a="http://schemas.openxmlformats.org/drawingml/2006/main" noGrp="1"/>
          </p:cNvSpPr>
          <p:nvPr/>
        </p:nvSpPr>
        <p:spPr>
          <a:xfrm xmlns:a="http://schemas.openxmlformats.org/drawingml/2006/main">
            <a:off x="7924800" y="2314575"/>
            <a:ext cx="15811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Response</a:t>
            </a:r>
          </a:p>
        </p:txBody>
      </p:sp>
      <p:sp>
        <p:nvSpPr>
          <p:cNvPr id="14" name="text-444">
            <a:extLst xmlns:a="http://schemas.openxmlformats.org/drawingml/2006/main">
              <a:ext uri="{FF2B5EF4-FFF2-40B4-BE49-F238E27FC236}">
                <a16:creationId xmlns:a16="http://schemas.microsoft.com/office/drawing/2014/main" id="{C0407AC1-BC95-4652-8C54-8B03A14E957C}"/>
              </a:ext>
            </a:extLst>
          </p:cNvPr>
          <p:cNvSpPr>
            <a:spLocks xmlns:a="http://schemas.openxmlformats.org/drawingml/2006/main" noGrp="1"/>
          </p:cNvSpPr>
          <p:nvPr/>
        </p:nvSpPr>
        <p:spPr>
          <a:xfrm xmlns:a="http://schemas.openxmlformats.org/drawingml/2006/main">
            <a:off x="9734550" y="2314575"/>
            <a:ext cx="12001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Lift</a:t>
            </a:r>
          </a:p>
        </p:txBody>
      </p:sp>
      <p:sp>
        <p:nvSpPr>
          <p:cNvPr id="15" name="text-445">
            <a:extLst xmlns:a="http://schemas.openxmlformats.org/drawingml/2006/main">
              <a:ext uri="{FF2B5EF4-FFF2-40B4-BE49-F238E27FC236}">
                <a16:creationId xmlns:a16="http://schemas.microsoft.com/office/drawing/2014/main" id="{69C3BA82-7312-4F27-8441-02030F51C9C3}"/>
              </a:ext>
            </a:extLst>
          </p:cNvPr>
          <p:cNvSpPr>
            <a:spLocks xmlns:a="http://schemas.openxmlformats.org/drawingml/2006/main" noGrp="1"/>
          </p:cNvSpPr>
          <p:nvPr/>
        </p:nvSpPr>
        <p:spPr>
          <a:xfrm xmlns:a="http://schemas.openxmlformats.org/drawingml/2006/main">
            <a:off x="685800" y="2771775"/>
            <a:ext cx="1866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10%</a:t>
            </a:r>
          </a:p>
        </p:txBody>
      </p:sp>
      <p:sp>
        <p:nvSpPr>
          <p:cNvPr id="16" name="text-446">
            <a:extLst xmlns:a="http://schemas.openxmlformats.org/drawingml/2006/main">
              <a:ext uri="{FF2B5EF4-FFF2-40B4-BE49-F238E27FC236}">
                <a16:creationId xmlns:a16="http://schemas.microsoft.com/office/drawing/2014/main" id="{447144A9-7E36-4F1C-98AF-BEA82D69802F}"/>
              </a:ext>
            </a:extLst>
          </p:cNvPr>
          <p:cNvSpPr>
            <a:spLocks xmlns:a="http://schemas.openxmlformats.org/drawingml/2006/main" noGrp="1"/>
          </p:cNvSpPr>
          <p:nvPr/>
        </p:nvSpPr>
        <p:spPr>
          <a:xfrm xmlns:a="http://schemas.openxmlformats.org/drawingml/2006/main">
            <a:off x="2781300" y="277177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45</a:t>
            </a:r>
          </a:p>
        </p:txBody>
      </p:sp>
      <p:sp>
        <p:nvSpPr>
          <p:cNvPr id="17" name="text-447">
            <a:extLst xmlns:a="http://schemas.openxmlformats.org/drawingml/2006/main">
              <a:ext uri="{FF2B5EF4-FFF2-40B4-BE49-F238E27FC236}">
                <a16:creationId xmlns:a16="http://schemas.microsoft.com/office/drawing/2014/main" id="{C590E36C-D9BD-4332-8154-914A0419A193}"/>
              </a:ext>
            </a:extLst>
          </p:cNvPr>
          <p:cNvSpPr>
            <a:spLocks xmlns:a="http://schemas.openxmlformats.org/drawingml/2006/main" noGrp="1"/>
          </p:cNvSpPr>
          <p:nvPr/>
        </p:nvSpPr>
        <p:spPr>
          <a:xfrm xmlns:a="http://schemas.openxmlformats.org/drawingml/2006/main">
            <a:off x="4305300" y="2771775"/>
            <a:ext cx="1628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27</a:t>
            </a:r>
          </a:p>
        </p:txBody>
      </p:sp>
      <p:sp>
        <p:nvSpPr>
          <p:cNvPr id="18" name="text-448">
            <a:extLst xmlns:a="http://schemas.openxmlformats.org/drawingml/2006/main">
              <a:ext uri="{FF2B5EF4-FFF2-40B4-BE49-F238E27FC236}">
                <a16:creationId xmlns:a16="http://schemas.microsoft.com/office/drawing/2014/main" id="{C7371250-DDB6-404D-9B96-AEAA6C7AFA47}"/>
              </a:ext>
            </a:extLst>
          </p:cNvPr>
          <p:cNvSpPr>
            <a:spLocks xmlns:a="http://schemas.openxmlformats.org/drawingml/2006/main" noGrp="1"/>
          </p:cNvSpPr>
          <p:nvPr/>
        </p:nvSpPr>
        <p:spPr>
          <a:xfrm xmlns:a="http://schemas.openxmlformats.org/drawingml/2006/main">
            <a:off x="6162675" y="2771775"/>
            <a:ext cx="1533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40.30%</a:t>
            </a:r>
          </a:p>
        </p:txBody>
      </p:sp>
      <p:sp>
        <p:nvSpPr>
          <p:cNvPr id="19" name="text-449">
            <a:extLst xmlns:a="http://schemas.openxmlformats.org/drawingml/2006/main">
              <a:ext uri="{FF2B5EF4-FFF2-40B4-BE49-F238E27FC236}">
                <a16:creationId xmlns:a16="http://schemas.microsoft.com/office/drawing/2014/main" id="{F178E6C8-CA20-43DB-B153-73882BE4D401}"/>
              </a:ext>
            </a:extLst>
          </p:cNvPr>
          <p:cNvSpPr>
            <a:spLocks xmlns:a="http://schemas.openxmlformats.org/drawingml/2006/main" noGrp="1"/>
          </p:cNvSpPr>
          <p:nvPr/>
        </p:nvSpPr>
        <p:spPr>
          <a:xfrm xmlns:a="http://schemas.openxmlformats.org/drawingml/2006/main">
            <a:off x="7924800" y="2771775"/>
            <a:ext cx="1581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60.00%</a:t>
            </a:r>
          </a:p>
        </p:txBody>
      </p:sp>
      <p:sp>
        <p:nvSpPr>
          <p:cNvPr id="20" name="text-450">
            <a:extLst xmlns:a="http://schemas.openxmlformats.org/drawingml/2006/main">
              <a:ext uri="{FF2B5EF4-FFF2-40B4-BE49-F238E27FC236}">
                <a16:creationId xmlns:a16="http://schemas.microsoft.com/office/drawing/2014/main" id="{2ACF24F5-3A43-476F-AF97-523E43DEE482}"/>
              </a:ext>
            </a:extLst>
          </p:cNvPr>
          <p:cNvSpPr>
            <a:spLocks xmlns:a="http://schemas.openxmlformats.org/drawingml/2006/main" noGrp="1"/>
          </p:cNvSpPr>
          <p:nvPr/>
        </p:nvSpPr>
        <p:spPr>
          <a:xfrm xmlns:a="http://schemas.openxmlformats.org/drawingml/2006/main">
            <a:off x="9734550" y="2771775"/>
            <a:ext cx="1200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4.01×</a:t>
            </a:r>
          </a:p>
        </p:txBody>
      </p:sp>
      <p:sp>
        <p:nvSpPr>
          <p:cNvPr id="21" name="shape-451">
            <a:extLst xmlns:a="http://schemas.openxmlformats.org/drawingml/2006/main">
              <a:ext uri="{FF2B5EF4-FFF2-40B4-BE49-F238E27FC236}">
                <a16:creationId xmlns:a16="http://schemas.microsoft.com/office/drawing/2014/main" id="{414B6E9E-64F4-41F7-A8C2-0D83E0FB6229}"/>
              </a:ext>
            </a:extLst>
          </p:cNvPr>
          <p:cNvSpPr>
            <a:spLocks xmlns:a="http://schemas.openxmlformats.org/drawingml/2006/main" noGrp="1"/>
          </p:cNvSpPr>
          <p:nvPr/>
        </p:nvSpPr>
        <p:spPr>
          <a:xfrm xmlns:a="http://schemas.openxmlformats.org/drawingml/2006/main">
            <a:off x="571500" y="32766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2" name="shape-452">
            <a:extLst xmlns:a="http://schemas.openxmlformats.org/drawingml/2006/main">
              <a:ext uri="{FF2B5EF4-FFF2-40B4-BE49-F238E27FC236}">
                <a16:creationId xmlns:a16="http://schemas.microsoft.com/office/drawing/2014/main" id="{047D7E91-6CAE-4817-97D9-E80B53DDBA50}"/>
              </a:ext>
            </a:extLst>
          </p:cNvPr>
          <p:cNvSpPr>
            <a:spLocks xmlns:a="http://schemas.openxmlformats.org/drawingml/2006/main" noGrp="1"/>
          </p:cNvSpPr>
          <p:nvPr/>
        </p:nvSpPr>
        <p:spPr>
          <a:xfrm xmlns:a="http://schemas.openxmlformats.org/drawingml/2006/main">
            <a:off x="571500" y="3276600"/>
            <a:ext cx="11049000" cy="619125"/>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23" name="text-453">
            <a:extLst xmlns:a="http://schemas.openxmlformats.org/drawingml/2006/main">
              <a:ext uri="{FF2B5EF4-FFF2-40B4-BE49-F238E27FC236}">
                <a16:creationId xmlns:a16="http://schemas.microsoft.com/office/drawing/2014/main" id="{4F64529D-315C-45AF-95FA-E489C9C8A747}"/>
              </a:ext>
            </a:extLst>
          </p:cNvPr>
          <p:cNvSpPr>
            <a:spLocks xmlns:a="http://schemas.openxmlformats.org/drawingml/2006/main" noGrp="1"/>
          </p:cNvSpPr>
          <p:nvPr/>
        </p:nvSpPr>
        <p:spPr>
          <a:xfrm xmlns:a="http://schemas.openxmlformats.org/drawingml/2006/main">
            <a:off x="685800" y="3390900"/>
            <a:ext cx="1866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20%</a:t>
            </a:r>
          </a:p>
        </p:txBody>
      </p:sp>
      <p:sp>
        <p:nvSpPr>
          <p:cNvPr id="24" name="text-454">
            <a:extLst xmlns:a="http://schemas.openxmlformats.org/drawingml/2006/main">
              <a:ext uri="{FF2B5EF4-FFF2-40B4-BE49-F238E27FC236}">
                <a16:creationId xmlns:a16="http://schemas.microsoft.com/office/drawing/2014/main" id="{5DEA5D49-AB11-4889-8F85-4B18A9E4B1C5}"/>
              </a:ext>
            </a:extLst>
          </p:cNvPr>
          <p:cNvSpPr>
            <a:spLocks xmlns:a="http://schemas.openxmlformats.org/drawingml/2006/main" noGrp="1"/>
          </p:cNvSpPr>
          <p:nvPr/>
        </p:nvSpPr>
        <p:spPr>
          <a:xfrm xmlns:a="http://schemas.openxmlformats.org/drawingml/2006/main">
            <a:off x="2781300" y="3390900"/>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90</a:t>
            </a:r>
          </a:p>
        </p:txBody>
      </p:sp>
      <p:sp>
        <p:nvSpPr>
          <p:cNvPr id="25" name="text-455">
            <a:extLst xmlns:a="http://schemas.openxmlformats.org/drawingml/2006/main">
              <a:ext uri="{FF2B5EF4-FFF2-40B4-BE49-F238E27FC236}">
                <a16:creationId xmlns:a16="http://schemas.microsoft.com/office/drawing/2014/main" id="{C2672707-115A-4D4B-957B-0AB1CB2D1B0A}"/>
              </a:ext>
            </a:extLst>
          </p:cNvPr>
          <p:cNvSpPr>
            <a:spLocks xmlns:a="http://schemas.openxmlformats.org/drawingml/2006/main" noGrp="1"/>
          </p:cNvSpPr>
          <p:nvPr/>
        </p:nvSpPr>
        <p:spPr>
          <a:xfrm xmlns:a="http://schemas.openxmlformats.org/drawingml/2006/main">
            <a:off x="4305300" y="3390900"/>
            <a:ext cx="1628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49</a:t>
            </a:r>
          </a:p>
        </p:txBody>
      </p:sp>
      <p:sp>
        <p:nvSpPr>
          <p:cNvPr id="26" name="text-456">
            <a:extLst xmlns:a="http://schemas.openxmlformats.org/drawingml/2006/main">
              <a:ext uri="{FF2B5EF4-FFF2-40B4-BE49-F238E27FC236}">
                <a16:creationId xmlns:a16="http://schemas.microsoft.com/office/drawing/2014/main" id="{D1507787-47D1-48A6-88B7-1425A606553D}"/>
              </a:ext>
            </a:extLst>
          </p:cNvPr>
          <p:cNvSpPr>
            <a:spLocks xmlns:a="http://schemas.openxmlformats.org/drawingml/2006/main" noGrp="1"/>
          </p:cNvSpPr>
          <p:nvPr/>
        </p:nvSpPr>
        <p:spPr>
          <a:xfrm xmlns:a="http://schemas.openxmlformats.org/drawingml/2006/main">
            <a:off x="6162675" y="3390900"/>
            <a:ext cx="1533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73.13%</a:t>
            </a:r>
          </a:p>
        </p:txBody>
      </p:sp>
      <p:sp>
        <p:nvSpPr>
          <p:cNvPr id="27" name="text-457">
            <a:extLst xmlns:a="http://schemas.openxmlformats.org/drawingml/2006/main">
              <a:ext uri="{FF2B5EF4-FFF2-40B4-BE49-F238E27FC236}">
                <a16:creationId xmlns:a16="http://schemas.microsoft.com/office/drawing/2014/main" id="{C62607AB-453C-42E9-B9AD-7FFF22429525}"/>
              </a:ext>
            </a:extLst>
          </p:cNvPr>
          <p:cNvSpPr>
            <a:spLocks xmlns:a="http://schemas.openxmlformats.org/drawingml/2006/main" noGrp="1"/>
          </p:cNvSpPr>
          <p:nvPr/>
        </p:nvSpPr>
        <p:spPr>
          <a:xfrm xmlns:a="http://schemas.openxmlformats.org/drawingml/2006/main">
            <a:off x="7924800" y="3390900"/>
            <a:ext cx="1581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54.44%</a:t>
            </a:r>
          </a:p>
        </p:txBody>
      </p:sp>
      <p:sp>
        <p:nvSpPr>
          <p:cNvPr id="28" name="text-458">
            <a:extLst xmlns:a="http://schemas.openxmlformats.org/drawingml/2006/main">
              <a:ext uri="{FF2B5EF4-FFF2-40B4-BE49-F238E27FC236}">
                <a16:creationId xmlns:a16="http://schemas.microsoft.com/office/drawing/2014/main" id="{927182D5-5FBA-45AF-B175-259E1882623C}"/>
              </a:ext>
            </a:extLst>
          </p:cNvPr>
          <p:cNvSpPr>
            <a:spLocks xmlns:a="http://schemas.openxmlformats.org/drawingml/2006/main" noGrp="1"/>
          </p:cNvSpPr>
          <p:nvPr/>
        </p:nvSpPr>
        <p:spPr>
          <a:xfrm xmlns:a="http://schemas.openxmlformats.org/drawingml/2006/main">
            <a:off x="9734550" y="3390900"/>
            <a:ext cx="1200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3.64×</a:t>
            </a:r>
          </a:p>
        </p:txBody>
      </p:sp>
      <p:sp>
        <p:nvSpPr>
          <p:cNvPr id="29" name="shape-459">
            <a:extLst xmlns:a="http://schemas.openxmlformats.org/drawingml/2006/main">
              <a:ext uri="{FF2B5EF4-FFF2-40B4-BE49-F238E27FC236}">
                <a16:creationId xmlns:a16="http://schemas.microsoft.com/office/drawing/2014/main" id="{5E8751D4-B5A5-406E-8856-0F3C380C76BC}"/>
              </a:ext>
            </a:extLst>
          </p:cNvPr>
          <p:cNvSpPr>
            <a:spLocks xmlns:a="http://schemas.openxmlformats.org/drawingml/2006/main" noGrp="1"/>
          </p:cNvSpPr>
          <p:nvPr/>
        </p:nvSpPr>
        <p:spPr>
          <a:xfrm xmlns:a="http://schemas.openxmlformats.org/drawingml/2006/main">
            <a:off x="571500" y="389572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30" name="text-460">
            <a:extLst xmlns:a="http://schemas.openxmlformats.org/drawingml/2006/main">
              <a:ext uri="{FF2B5EF4-FFF2-40B4-BE49-F238E27FC236}">
                <a16:creationId xmlns:a16="http://schemas.microsoft.com/office/drawing/2014/main" id="{C8850424-42FC-43FE-B38A-0618E82C5012}"/>
              </a:ext>
            </a:extLst>
          </p:cNvPr>
          <p:cNvSpPr>
            <a:spLocks xmlns:a="http://schemas.openxmlformats.org/drawingml/2006/main" noGrp="1"/>
          </p:cNvSpPr>
          <p:nvPr/>
        </p:nvSpPr>
        <p:spPr>
          <a:xfrm xmlns:a="http://schemas.openxmlformats.org/drawingml/2006/main">
            <a:off x="685800" y="4010025"/>
            <a:ext cx="1866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30%</a:t>
            </a:r>
          </a:p>
        </p:txBody>
      </p:sp>
      <p:sp>
        <p:nvSpPr>
          <p:cNvPr id="31" name="text-461">
            <a:extLst xmlns:a="http://schemas.openxmlformats.org/drawingml/2006/main">
              <a:ext uri="{FF2B5EF4-FFF2-40B4-BE49-F238E27FC236}">
                <a16:creationId xmlns:a16="http://schemas.microsoft.com/office/drawing/2014/main" id="{434A1605-8608-4F24-98E0-0130DC95268C}"/>
              </a:ext>
            </a:extLst>
          </p:cNvPr>
          <p:cNvSpPr>
            <a:spLocks xmlns:a="http://schemas.openxmlformats.org/drawingml/2006/main" noGrp="1"/>
          </p:cNvSpPr>
          <p:nvPr/>
        </p:nvSpPr>
        <p:spPr>
          <a:xfrm xmlns:a="http://schemas.openxmlformats.org/drawingml/2006/main">
            <a:off x="2781300" y="401002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134</a:t>
            </a:r>
          </a:p>
        </p:txBody>
      </p:sp>
      <p:sp>
        <p:nvSpPr>
          <p:cNvPr id="32" name="text-462">
            <a:extLst xmlns:a="http://schemas.openxmlformats.org/drawingml/2006/main">
              <a:ext uri="{FF2B5EF4-FFF2-40B4-BE49-F238E27FC236}">
                <a16:creationId xmlns:a16="http://schemas.microsoft.com/office/drawing/2014/main" id="{298C9630-BD42-4F94-B533-73BAA2C28A03}"/>
              </a:ext>
            </a:extLst>
          </p:cNvPr>
          <p:cNvSpPr>
            <a:spLocks xmlns:a="http://schemas.openxmlformats.org/drawingml/2006/main" noGrp="1"/>
          </p:cNvSpPr>
          <p:nvPr/>
        </p:nvSpPr>
        <p:spPr>
          <a:xfrm xmlns:a="http://schemas.openxmlformats.org/drawingml/2006/main">
            <a:off x="4305300" y="4010025"/>
            <a:ext cx="1628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59</a:t>
            </a:r>
          </a:p>
        </p:txBody>
      </p:sp>
      <p:sp>
        <p:nvSpPr>
          <p:cNvPr id="33" name="text-463">
            <a:extLst xmlns:a="http://schemas.openxmlformats.org/drawingml/2006/main">
              <a:ext uri="{FF2B5EF4-FFF2-40B4-BE49-F238E27FC236}">
                <a16:creationId xmlns:a16="http://schemas.microsoft.com/office/drawing/2014/main" id="{7EFA2B93-4172-471F-AE4C-38636A1B0697}"/>
              </a:ext>
            </a:extLst>
          </p:cNvPr>
          <p:cNvSpPr>
            <a:spLocks xmlns:a="http://schemas.openxmlformats.org/drawingml/2006/main" noGrp="1"/>
          </p:cNvSpPr>
          <p:nvPr/>
        </p:nvSpPr>
        <p:spPr>
          <a:xfrm xmlns:a="http://schemas.openxmlformats.org/drawingml/2006/main">
            <a:off x="6162675" y="4010025"/>
            <a:ext cx="1533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88.06%</a:t>
            </a:r>
          </a:p>
        </p:txBody>
      </p:sp>
      <p:sp>
        <p:nvSpPr>
          <p:cNvPr id="34" name="text-464">
            <a:extLst xmlns:a="http://schemas.openxmlformats.org/drawingml/2006/main">
              <a:ext uri="{FF2B5EF4-FFF2-40B4-BE49-F238E27FC236}">
                <a16:creationId xmlns:a16="http://schemas.microsoft.com/office/drawing/2014/main" id="{EA2662BF-D7F6-4CA8-9AEA-1BEE0C49280E}"/>
              </a:ext>
            </a:extLst>
          </p:cNvPr>
          <p:cNvSpPr>
            <a:spLocks xmlns:a="http://schemas.openxmlformats.org/drawingml/2006/main" noGrp="1"/>
          </p:cNvSpPr>
          <p:nvPr/>
        </p:nvSpPr>
        <p:spPr>
          <a:xfrm xmlns:a="http://schemas.openxmlformats.org/drawingml/2006/main">
            <a:off x="7924800" y="4010025"/>
            <a:ext cx="1581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44.03%</a:t>
            </a:r>
          </a:p>
        </p:txBody>
      </p:sp>
      <p:sp>
        <p:nvSpPr>
          <p:cNvPr id="35" name="text-465">
            <a:extLst xmlns:a="http://schemas.openxmlformats.org/drawingml/2006/main">
              <a:ext uri="{FF2B5EF4-FFF2-40B4-BE49-F238E27FC236}">
                <a16:creationId xmlns:a16="http://schemas.microsoft.com/office/drawing/2014/main" id="{63BC5DDF-4695-4304-90C6-D450E97C5BF6}"/>
              </a:ext>
            </a:extLst>
          </p:cNvPr>
          <p:cNvSpPr>
            <a:spLocks xmlns:a="http://schemas.openxmlformats.org/drawingml/2006/main" noGrp="1"/>
          </p:cNvSpPr>
          <p:nvPr/>
        </p:nvSpPr>
        <p:spPr>
          <a:xfrm xmlns:a="http://schemas.openxmlformats.org/drawingml/2006/main">
            <a:off x="9734550" y="4010025"/>
            <a:ext cx="1200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2.94×</a:t>
            </a:r>
          </a:p>
        </p:txBody>
      </p:sp>
      <p:sp>
        <p:nvSpPr>
          <p:cNvPr id="36" name="shape-466">
            <a:extLst xmlns:a="http://schemas.openxmlformats.org/drawingml/2006/main">
              <a:ext uri="{FF2B5EF4-FFF2-40B4-BE49-F238E27FC236}">
                <a16:creationId xmlns:a16="http://schemas.microsoft.com/office/drawing/2014/main" id="{3311DFD3-2D5B-45C1-B141-DD1B8F5D5679}"/>
              </a:ext>
            </a:extLst>
          </p:cNvPr>
          <p:cNvSpPr>
            <a:spLocks xmlns:a="http://schemas.openxmlformats.org/drawingml/2006/main" noGrp="1"/>
          </p:cNvSpPr>
          <p:nvPr/>
        </p:nvSpPr>
        <p:spPr>
          <a:xfrm xmlns:a="http://schemas.openxmlformats.org/drawingml/2006/main">
            <a:off x="571500" y="451485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37" name="text-467">
            <a:extLst xmlns:a="http://schemas.openxmlformats.org/drawingml/2006/main">
              <a:ext uri="{FF2B5EF4-FFF2-40B4-BE49-F238E27FC236}">
                <a16:creationId xmlns:a16="http://schemas.microsoft.com/office/drawing/2014/main" id="{7BA9BF61-A683-4CD9-8B6A-6AD05D759052}"/>
              </a:ext>
            </a:extLst>
          </p:cNvPr>
          <p:cNvSpPr>
            <a:spLocks xmlns:a="http://schemas.openxmlformats.org/drawingml/2006/main" noGrp="1"/>
          </p:cNvSpPr>
          <p:nvPr/>
        </p:nvSpPr>
        <p:spPr>
          <a:xfrm xmlns:a="http://schemas.openxmlformats.org/drawingml/2006/main">
            <a:off x="685800" y="4629150"/>
            <a:ext cx="1866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40%</a:t>
            </a:r>
          </a:p>
        </p:txBody>
      </p:sp>
      <p:sp>
        <p:nvSpPr>
          <p:cNvPr id="38" name="text-468">
            <a:extLst xmlns:a="http://schemas.openxmlformats.org/drawingml/2006/main">
              <a:ext uri="{FF2B5EF4-FFF2-40B4-BE49-F238E27FC236}">
                <a16:creationId xmlns:a16="http://schemas.microsoft.com/office/drawing/2014/main" id="{F4DB9E4A-69AD-421C-8CBD-4589907CBF45}"/>
              </a:ext>
            </a:extLst>
          </p:cNvPr>
          <p:cNvSpPr>
            <a:spLocks xmlns:a="http://schemas.openxmlformats.org/drawingml/2006/main" noGrp="1"/>
          </p:cNvSpPr>
          <p:nvPr/>
        </p:nvSpPr>
        <p:spPr>
          <a:xfrm xmlns:a="http://schemas.openxmlformats.org/drawingml/2006/main">
            <a:off x="2781300" y="4629150"/>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179</a:t>
            </a:r>
          </a:p>
        </p:txBody>
      </p:sp>
      <p:sp>
        <p:nvSpPr>
          <p:cNvPr id="39" name="text-469">
            <a:extLst xmlns:a="http://schemas.openxmlformats.org/drawingml/2006/main">
              <a:ext uri="{FF2B5EF4-FFF2-40B4-BE49-F238E27FC236}">
                <a16:creationId xmlns:a16="http://schemas.microsoft.com/office/drawing/2014/main" id="{9EC0CE0E-BBDE-489E-A00F-FA2BFB9E8744}"/>
              </a:ext>
            </a:extLst>
          </p:cNvPr>
          <p:cNvSpPr>
            <a:spLocks xmlns:a="http://schemas.openxmlformats.org/drawingml/2006/main" noGrp="1"/>
          </p:cNvSpPr>
          <p:nvPr/>
        </p:nvSpPr>
        <p:spPr>
          <a:xfrm xmlns:a="http://schemas.openxmlformats.org/drawingml/2006/main">
            <a:off x="4305300" y="4629150"/>
            <a:ext cx="1628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63</a:t>
            </a:r>
          </a:p>
        </p:txBody>
      </p:sp>
      <p:sp>
        <p:nvSpPr>
          <p:cNvPr id="40" name="text-470">
            <a:extLst xmlns:a="http://schemas.openxmlformats.org/drawingml/2006/main">
              <a:ext uri="{FF2B5EF4-FFF2-40B4-BE49-F238E27FC236}">
                <a16:creationId xmlns:a16="http://schemas.microsoft.com/office/drawing/2014/main" id="{9C12510E-0A7A-4F04-81F3-F6B7413192C2}"/>
              </a:ext>
            </a:extLst>
          </p:cNvPr>
          <p:cNvSpPr>
            <a:spLocks xmlns:a="http://schemas.openxmlformats.org/drawingml/2006/main" noGrp="1"/>
          </p:cNvSpPr>
          <p:nvPr/>
        </p:nvSpPr>
        <p:spPr>
          <a:xfrm xmlns:a="http://schemas.openxmlformats.org/drawingml/2006/main">
            <a:off x="6162675" y="4629150"/>
            <a:ext cx="1533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94.03%</a:t>
            </a:r>
          </a:p>
        </p:txBody>
      </p:sp>
      <p:sp>
        <p:nvSpPr>
          <p:cNvPr id="41" name="text-471">
            <a:extLst xmlns:a="http://schemas.openxmlformats.org/drawingml/2006/main">
              <a:ext uri="{FF2B5EF4-FFF2-40B4-BE49-F238E27FC236}">
                <a16:creationId xmlns:a16="http://schemas.microsoft.com/office/drawing/2014/main" id="{D8B398B8-14F7-4A60-87C7-8CB6EAA15C1C}"/>
              </a:ext>
            </a:extLst>
          </p:cNvPr>
          <p:cNvSpPr>
            <a:spLocks xmlns:a="http://schemas.openxmlformats.org/drawingml/2006/main" noGrp="1"/>
          </p:cNvSpPr>
          <p:nvPr/>
        </p:nvSpPr>
        <p:spPr>
          <a:xfrm xmlns:a="http://schemas.openxmlformats.org/drawingml/2006/main">
            <a:off x="7924800" y="4629150"/>
            <a:ext cx="1581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35.20%</a:t>
            </a:r>
          </a:p>
        </p:txBody>
      </p:sp>
      <p:sp>
        <p:nvSpPr>
          <p:cNvPr id="42" name="text-472">
            <a:extLst xmlns:a="http://schemas.openxmlformats.org/drawingml/2006/main">
              <a:ext uri="{FF2B5EF4-FFF2-40B4-BE49-F238E27FC236}">
                <a16:creationId xmlns:a16="http://schemas.microsoft.com/office/drawing/2014/main" id="{AB1F93DE-472C-4AED-8EE9-D09A0BDE3B30}"/>
              </a:ext>
            </a:extLst>
          </p:cNvPr>
          <p:cNvSpPr>
            <a:spLocks xmlns:a="http://schemas.openxmlformats.org/drawingml/2006/main" noGrp="1"/>
          </p:cNvSpPr>
          <p:nvPr/>
        </p:nvSpPr>
        <p:spPr>
          <a:xfrm xmlns:a="http://schemas.openxmlformats.org/drawingml/2006/main">
            <a:off x="9734550" y="4629150"/>
            <a:ext cx="1200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2.35×</a:t>
            </a:r>
          </a:p>
        </p:txBody>
      </p:sp>
      <p:sp>
        <p:nvSpPr>
          <p:cNvPr id="43" name="shape-473">
            <a:extLst xmlns:a="http://schemas.openxmlformats.org/drawingml/2006/main">
              <a:ext uri="{FF2B5EF4-FFF2-40B4-BE49-F238E27FC236}">
                <a16:creationId xmlns:a16="http://schemas.microsoft.com/office/drawing/2014/main" id="{320B1F95-BC66-4407-B285-8E17AE44839F}"/>
              </a:ext>
            </a:extLst>
          </p:cNvPr>
          <p:cNvSpPr>
            <a:spLocks xmlns:a="http://schemas.openxmlformats.org/drawingml/2006/main" noGrp="1"/>
          </p:cNvSpPr>
          <p:nvPr/>
        </p:nvSpPr>
        <p:spPr>
          <a:xfrm xmlns:a="http://schemas.openxmlformats.org/drawingml/2006/main">
            <a:off x="571500" y="513397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44" name="text-474">
            <a:extLst xmlns:a="http://schemas.openxmlformats.org/drawingml/2006/main">
              <a:ext uri="{FF2B5EF4-FFF2-40B4-BE49-F238E27FC236}">
                <a16:creationId xmlns:a16="http://schemas.microsoft.com/office/drawing/2014/main" id="{51453D0E-D564-41CC-B403-10F259361E81}"/>
              </a:ext>
            </a:extLst>
          </p:cNvPr>
          <p:cNvSpPr>
            <a:spLocks xmlns:a="http://schemas.openxmlformats.org/drawingml/2006/main" noGrp="1"/>
          </p:cNvSpPr>
          <p:nvPr/>
        </p:nvSpPr>
        <p:spPr>
          <a:xfrm xmlns:a="http://schemas.openxmlformats.org/drawingml/2006/main">
            <a:off x="685800" y="5248275"/>
            <a:ext cx="1866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50%</a:t>
            </a:r>
          </a:p>
        </p:txBody>
      </p:sp>
      <p:sp>
        <p:nvSpPr>
          <p:cNvPr id="45" name="text-475">
            <a:extLst xmlns:a="http://schemas.openxmlformats.org/drawingml/2006/main">
              <a:ext uri="{FF2B5EF4-FFF2-40B4-BE49-F238E27FC236}">
                <a16:creationId xmlns:a16="http://schemas.microsoft.com/office/drawing/2014/main" id="{428C7419-83E9-4CA5-B87F-B7761007C6AD}"/>
              </a:ext>
            </a:extLst>
          </p:cNvPr>
          <p:cNvSpPr>
            <a:spLocks xmlns:a="http://schemas.openxmlformats.org/drawingml/2006/main" noGrp="1"/>
          </p:cNvSpPr>
          <p:nvPr/>
        </p:nvSpPr>
        <p:spPr>
          <a:xfrm xmlns:a="http://schemas.openxmlformats.org/drawingml/2006/main">
            <a:off x="2781300" y="5248275"/>
            <a:ext cx="1295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224</a:t>
            </a:r>
          </a:p>
        </p:txBody>
      </p:sp>
      <p:sp>
        <p:nvSpPr>
          <p:cNvPr id="46" name="text-476">
            <a:extLst xmlns:a="http://schemas.openxmlformats.org/drawingml/2006/main">
              <a:ext uri="{FF2B5EF4-FFF2-40B4-BE49-F238E27FC236}">
                <a16:creationId xmlns:a16="http://schemas.microsoft.com/office/drawing/2014/main" id="{A599736B-3A4F-4195-A10F-6AFEA8A93EE4}"/>
              </a:ext>
            </a:extLst>
          </p:cNvPr>
          <p:cNvSpPr>
            <a:spLocks xmlns:a="http://schemas.openxmlformats.org/drawingml/2006/main" noGrp="1"/>
          </p:cNvSpPr>
          <p:nvPr/>
        </p:nvSpPr>
        <p:spPr>
          <a:xfrm xmlns:a="http://schemas.openxmlformats.org/drawingml/2006/main">
            <a:off x="4305300" y="5248275"/>
            <a:ext cx="162877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64</a:t>
            </a:r>
          </a:p>
        </p:txBody>
      </p:sp>
      <p:sp>
        <p:nvSpPr>
          <p:cNvPr id="47" name="text-477">
            <a:extLst xmlns:a="http://schemas.openxmlformats.org/drawingml/2006/main">
              <a:ext uri="{FF2B5EF4-FFF2-40B4-BE49-F238E27FC236}">
                <a16:creationId xmlns:a16="http://schemas.microsoft.com/office/drawing/2014/main" id="{982E9767-503F-4776-9AA8-EE9FA6442469}"/>
              </a:ext>
            </a:extLst>
          </p:cNvPr>
          <p:cNvSpPr>
            <a:spLocks xmlns:a="http://schemas.openxmlformats.org/drawingml/2006/main" noGrp="1"/>
          </p:cNvSpPr>
          <p:nvPr/>
        </p:nvSpPr>
        <p:spPr>
          <a:xfrm xmlns:a="http://schemas.openxmlformats.org/drawingml/2006/main">
            <a:off x="6162675" y="5248275"/>
            <a:ext cx="1533525"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95.52%</a:t>
            </a:r>
          </a:p>
        </p:txBody>
      </p:sp>
      <p:sp>
        <p:nvSpPr>
          <p:cNvPr id="48" name="text-478">
            <a:extLst xmlns:a="http://schemas.openxmlformats.org/drawingml/2006/main">
              <a:ext uri="{FF2B5EF4-FFF2-40B4-BE49-F238E27FC236}">
                <a16:creationId xmlns:a16="http://schemas.microsoft.com/office/drawing/2014/main" id="{A966B2BE-61FD-484D-9D5A-0FC3A20AC8EB}"/>
              </a:ext>
            </a:extLst>
          </p:cNvPr>
          <p:cNvSpPr>
            <a:spLocks xmlns:a="http://schemas.openxmlformats.org/drawingml/2006/main" noGrp="1"/>
          </p:cNvSpPr>
          <p:nvPr/>
        </p:nvSpPr>
        <p:spPr>
          <a:xfrm xmlns:a="http://schemas.openxmlformats.org/drawingml/2006/main">
            <a:off x="7924800" y="5248275"/>
            <a:ext cx="1581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28.57%</a:t>
            </a:r>
          </a:p>
        </p:txBody>
      </p:sp>
      <p:sp>
        <p:nvSpPr>
          <p:cNvPr id="49" name="text-479">
            <a:extLst xmlns:a="http://schemas.openxmlformats.org/drawingml/2006/main">
              <a:ext uri="{FF2B5EF4-FFF2-40B4-BE49-F238E27FC236}">
                <a16:creationId xmlns:a16="http://schemas.microsoft.com/office/drawing/2014/main" id="{B92574DF-141D-4ADC-8632-64E289D2B2BD}"/>
              </a:ext>
            </a:extLst>
          </p:cNvPr>
          <p:cNvSpPr>
            <a:spLocks xmlns:a="http://schemas.openxmlformats.org/drawingml/2006/main" noGrp="1"/>
          </p:cNvSpPr>
          <p:nvPr/>
        </p:nvSpPr>
        <p:spPr>
          <a:xfrm xmlns:a="http://schemas.openxmlformats.org/drawingml/2006/main">
            <a:off x="9734550" y="5248275"/>
            <a:ext cx="12001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1.91×</a:t>
            </a:r>
          </a:p>
        </p:txBody>
      </p:sp>
      <p:sp>
        <p:nvSpPr>
          <p:cNvPr id="50" name="shape-480">
            <a:extLst xmlns:a="http://schemas.openxmlformats.org/drawingml/2006/main">
              <a:ext uri="{FF2B5EF4-FFF2-40B4-BE49-F238E27FC236}">
                <a16:creationId xmlns:a16="http://schemas.microsoft.com/office/drawing/2014/main" id="{A428965F-AE3D-4D00-9C87-C5CFAD421DE1}"/>
              </a:ext>
            </a:extLst>
          </p:cNvPr>
          <p:cNvSpPr>
            <a:spLocks xmlns:a="http://schemas.openxmlformats.org/drawingml/2006/main" noGrp="1"/>
          </p:cNvSpPr>
          <p:nvPr/>
        </p:nvSpPr>
        <p:spPr>
          <a:xfrm xmlns:a="http://schemas.openxmlformats.org/drawingml/2006/main">
            <a:off x="571500" y="57531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51" name="text-481">
            <a:extLst xmlns:a="http://schemas.openxmlformats.org/drawingml/2006/main">
              <a:ext uri="{FF2B5EF4-FFF2-40B4-BE49-F238E27FC236}">
                <a16:creationId xmlns:a16="http://schemas.microsoft.com/office/drawing/2014/main" id="{45CDA3BF-03A5-44E1-8B21-5BC4235AAA7D}"/>
              </a:ext>
            </a:extLst>
          </p:cNvPr>
          <p:cNvSpPr>
            <a:spLocks xmlns:a="http://schemas.openxmlformats.org/drawingml/2006/main" noGrp="1"/>
          </p:cNvSpPr>
          <p:nvPr/>
        </p:nvSpPr>
        <p:spPr>
          <a:xfrm xmlns:a="http://schemas.openxmlformats.org/drawingml/2006/main">
            <a:off x="571500" y="5810250"/>
            <a:ext cx="110490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0">
                <a:solidFill>
                  <a:srgbClr val="596C7D"/>
                </a:solidFill>
                <a:latin typeface="Arial"/>
                <a:ea typeface="Arial"/>
                <a:cs typeface="Arial"/>
              </a:defRPr>
            </a:pPr>
            <a:r>
              <a:rPr sz="1500" b="0">
                <a:solidFill>
                  <a:srgbClr val="596C7D"/>
                </a:solidFill>
                <a:latin typeface="Arial"/>
                <a:ea typeface="Arial"/>
                <a:cs typeface="Arial"/>
              </a:rPr>
              <a:t>Moving from 20% to 30% adds 44 calls and 10 historical responders. Choose capacity using cost and value.</a:t>
            </a:r>
          </a:p>
        </p:txBody>
      </p:sp>
    </p:spTree>
    <p:extLst>
      <p:ext uri="{BB962C8B-B14F-4D97-AF65-F5344CB8AC3E}">
        <p14:creationId xmlns:p14="http://schemas.microsoft.com/office/powerpoint/2010/main" val="43263630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4EB980CA-6027-4C3A-90F2-8D25219012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BB4C183A-F367-4212-945C-7649D6D7BB01}"/>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6F8CE65D-11B0-4205-A7F0-A674AAF8257D}"/>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ECONOMIC SCENARIO</a:t>
            </a:r>
          </a:p>
        </p:txBody>
      </p:sp>
      <p:sp>
        <p:nvSpPr>
          <p:cNvPr id="4" name="text-482">
            <a:extLst xmlns:a="http://schemas.openxmlformats.org/drawingml/2006/main">
              <a:ext uri="{FF2B5EF4-FFF2-40B4-BE49-F238E27FC236}">
                <a16:creationId xmlns:a16="http://schemas.microsoft.com/office/drawing/2014/main" id="{7EBA0227-2081-438A-9F75-6BBB7E665C1E}"/>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Equal call budgets imply a $17.7k revenue illustration</a:t>
            </a:r>
          </a:p>
        </p:txBody>
      </p:sp>
      <p:sp>
        <p:nvSpPr>
          <p:cNvPr id="5" name="shape-483">
            <a:extLst xmlns:a="http://schemas.openxmlformats.org/drawingml/2006/main">
              <a:ext uri="{FF2B5EF4-FFF2-40B4-BE49-F238E27FC236}">
                <a16:creationId xmlns:a16="http://schemas.microsoft.com/office/drawing/2014/main" id="{E0765B24-FDA0-476F-92EE-FA49D959B659}"/>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484">
            <a:extLst xmlns:a="http://schemas.openxmlformats.org/drawingml/2006/main">
              <a:ext uri="{FF2B5EF4-FFF2-40B4-BE49-F238E27FC236}">
                <a16:creationId xmlns:a16="http://schemas.microsoft.com/office/drawing/2014/main" id="{3E5E7993-22FA-4273-8ADD-1420DEAFC7D2}"/>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§9 arithmetic | $499 offer from Problem Statement.pdf</a:t>
            </a:r>
          </a:p>
        </p:txBody>
      </p:sp>
      <p:sp>
        <p:nvSpPr>
          <p:cNvPr id="7" name="text-485">
            <a:extLst xmlns:a="http://schemas.openxmlformats.org/drawingml/2006/main">
              <a:ext uri="{FF2B5EF4-FFF2-40B4-BE49-F238E27FC236}">
                <a16:creationId xmlns:a16="http://schemas.microsoft.com/office/drawing/2014/main" id="{9EE1880D-2A4E-4EF5-B864-ACF04BB3A73D}"/>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22</a:t>
            </a:r>
          </a:p>
        </p:txBody>
      </p:sp>
      <p:sp>
        <p:nvSpPr>
          <p:cNvPr id="8" name="text-486">
            <a:extLst xmlns:a="http://schemas.openxmlformats.org/drawingml/2006/main">
              <a:ext uri="{FF2B5EF4-FFF2-40B4-BE49-F238E27FC236}">
                <a16:creationId xmlns:a16="http://schemas.microsoft.com/office/drawing/2014/main" id="{48BBD669-A472-4D87-BFB0-447E0442B39E}"/>
              </a:ext>
            </a:extLst>
          </p:cNvPr>
          <p:cNvSpPr>
            <a:spLocks xmlns:a="http://schemas.openxmlformats.org/drawingml/2006/main" noGrp="1"/>
          </p:cNvSpPr>
          <p:nvPr/>
        </p:nvSpPr>
        <p:spPr>
          <a:xfrm xmlns:a="http://schemas.openxmlformats.org/drawingml/2006/main">
            <a:off x="571500" y="2238375"/>
            <a:ext cx="342900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49</a:t>
            </a:r>
          </a:p>
        </p:txBody>
      </p:sp>
      <p:sp>
        <p:nvSpPr>
          <p:cNvPr id="9" name="text-487">
            <a:extLst xmlns:a="http://schemas.openxmlformats.org/drawingml/2006/main">
              <a:ext uri="{FF2B5EF4-FFF2-40B4-BE49-F238E27FC236}">
                <a16:creationId xmlns:a16="http://schemas.microsoft.com/office/drawing/2014/main" id="{4EF078C1-9400-4EDB-B461-9C6A9EBA0C2F}"/>
              </a:ext>
            </a:extLst>
          </p:cNvPr>
          <p:cNvSpPr>
            <a:spLocks xmlns:a="http://schemas.openxmlformats.org/drawingml/2006/main" noGrp="1"/>
          </p:cNvSpPr>
          <p:nvPr/>
        </p:nvSpPr>
        <p:spPr>
          <a:xfrm xmlns:a="http://schemas.openxmlformats.org/drawingml/2006/main">
            <a:off x="571500" y="3114675"/>
            <a:ext cx="34290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historical responders in the top 90</a:t>
            </a:r>
          </a:p>
        </p:txBody>
      </p:sp>
      <p:sp>
        <p:nvSpPr>
          <p:cNvPr id="10" name="text-488">
            <a:extLst xmlns:a="http://schemas.openxmlformats.org/drawingml/2006/main">
              <a:ext uri="{FF2B5EF4-FFF2-40B4-BE49-F238E27FC236}">
                <a16:creationId xmlns:a16="http://schemas.microsoft.com/office/drawing/2014/main" id="{45914F8A-FB7D-4402-A73E-6AFDB372224F}"/>
              </a:ext>
            </a:extLst>
          </p:cNvPr>
          <p:cNvSpPr>
            <a:spLocks xmlns:a="http://schemas.openxmlformats.org/drawingml/2006/main" noGrp="1"/>
          </p:cNvSpPr>
          <p:nvPr/>
        </p:nvSpPr>
        <p:spPr>
          <a:xfrm xmlns:a="http://schemas.openxmlformats.org/drawingml/2006/main">
            <a:off x="4476750" y="2238375"/>
            <a:ext cx="342900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13.46</a:t>
            </a:r>
          </a:p>
        </p:txBody>
      </p:sp>
      <p:sp>
        <p:nvSpPr>
          <p:cNvPr id="11" name="text-489">
            <a:extLst xmlns:a="http://schemas.openxmlformats.org/drawingml/2006/main">
              <a:ext uri="{FF2B5EF4-FFF2-40B4-BE49-F238E27FC236}">
                <a16:creationId xmlns:a16="http://schemas.microsoft.com/office/drawing/2014/main" id="{96103FFF-1DC9-41A7-AAD4-5BBCE5E28353}"/>
              </a:ext>
            </a:extLst>
          </p:cNvPr>
          <p:cNvSpPr>
            <a:spLocks xmlns:a="http://schemas.openxmlformats.org/drawingml/2006/main" noGrp="1"/>
          </p:cNvSpPr>
          <p:nvPr/>
        </p:nvSpPr>
        <p:spPr>
          <a:xfrm xmlns:a="http://schemas.openxmlformats.org/drawingml/2006/main">
            <a:off x="4476750" y="3114675"/>
            <a:ext cx="34290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expected in 90 random selections</a:t>
            </a:r>
          </a:p>
        </p:txBody>
      </p:sp>
      <p:sp>
        <p:nvSpPr>
          <p:cNvPr id="12" name="text-490">
            <a:extLst xmlns:a="http://schemas.openxmlformats.org/drawingml/2006/main">
              <a:ext uri="{FF2B5EF4-FFF2-40B4-BE49-F238E27FC236}">
                <a16:creationId xmlns:a16="http://schemas.microsoft.com/office/drawing/2014/main" id="{2AC7859D-75C0-4ECF-A124-767BEF7516D8}"/>
              </a:ext>
            </a:extLst>
          </p:cNvPr>
          <p:cNvSpPr>
            <a:spLocks xmlns:a="http://schemas.openxmlformats.org/drawingml/2006/main" noGrp="1"/>
          </p:cNvSpPr>
          <p:nvPr/>
        </p:nvSpPr>
        <p:spPr>
          <a:xfrm xmlns:a="http://schemas.openxmlformats.org/drawingml/2006/main">
            <a:off x="8382000" y="2238375"/>
            <a:ext cx="3429000" cy="800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4800" b="0">
                <a:solidFill>
                  <a:srgbClr val="4682B4"/>
                </a:solidFill>
                <a:latin typeface="Georgia"/>
                <a:ea typeface="Georgia"/>
                <a:cs typeface="Georgia"/>
              </a:defRPr>
            </a:pPr>
            <a:r>
              <a:rPr sz="4800" b="0">
                <a:solidFill>
                  <a:srgbClr val="4682B4"/>
                </a:solidFill>
                <a:latin typeface="Georgia"/>
                <a:ea typeface="Georgia"/>
                <a:cs typeface="Georgia"/>
              </a:rPr>
              <a:t>35.54</a:t>
            </a:r>
          </a:p>
        </p:txBody>
      </p:sp>
      <p:sp>
        <p:nvSpPr>
          <p:cNvPr id="13" name="text-491">
            <a:extLst xmlns:a="http://schemas.openxmlformats.org/drawingml/2006/main">
              <a:ext uri="{FF2B5EF4-FFF2-40B4-BE49-F238E27FC236}">
                <a16:creationId xmlns:a16="http://schemas.microsoft.com/office/drawing/2014/main" id="{D51CF4C9-F41B-4E07-AAC7-B4D7F00CF74C}"/>
              </a:ext>
            </a:extLst>
          </p:cNvPr>
          <p:cNvSpPr>
            <a:spLocks xmlns:a="http://schemas.openxmlformats.org/drawingml/2006/main" noGrp="1"/>
          </p:cNvSpPr>
          <p:nvPr/>
        </p:nvSpPr>
        <p:spPr>
          <a:xfrm xmlns:a="http://schemas.openxmlformats.org/drawingml/2006/main">
            <a:off x="8382000" y="3114675"/>
            <a:ext cx="34290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182D43"/>
                </a:solidFill>
                <a:latin typeface="Arial"/>
                <a:ea typeface="Arial"/>
                <a:cs typeface="Arial"/>
              </a:defRPr>
            </a:pPr>
            <a:r>
              <a:rPr sz="1725" b="0">
                <a:solidFill>
                  <a:srgbClr val="182D43"/>
                </a:solidFill>
                <a:latin typeface="Arial"/>
                <a:ea typeface="Arial"/>
                <a:cs typeface="Arial"/>
              </a:rPr>
              <a:t>difference in responder labels</a:t>
            </a:r>
          </a:p>
        </p:txBody>
      </p:sp>
      <p:sp>
        <p:nvSpPr>
          <p:cNvPr id="14" name="shape-492">
            <a:extLst xmlns:a="http://schemas.openxmlformats.org/drawingml/2006/main">
              <a:ext uri="{FF2B5EF4-FFF2-40B4-BE49-F238E27FC236}">
                <a16:creationId xmlns:a16="http://schemas.microsoft.com/office/drawing/2014/main" id="{D49215A3-826F-44AC-86E9-3978EC6F70EF}"/>
              </a:ext>
            </a:extLst>
          </p:cNvPr>
          <p:cNvSpPr>
            <a:spLocks xmlns:a="http://schemas.openxmlformats.org/drawingml/2006/main" noGrp="1"/>
          </p:cNvSpPr>
          <p:nvPr/>
        </p:nvSpPr>
        <p:spPr>
          <a:xfrm xmlns:a="http://schemas.openxmlformats.org/drawingml/2006/main">
            <a:off x="571500" y="4429125"/>
            <a:ext cx="11049000" cy="1257300"/>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5" name="text-493">
            <a:extLst xmlns:a="http://schemas.openxmlformats.org/drawingml/2006/main">
              <a:ext uri="{FF2B5EF4-FFF2-40B4-BE49-F238E27FC236}">
                <a16:creationId xmlns:a16="http://schemas.microsoft.com/office/drawing/2014/main" id="{1564240E-AEF2-4F77-8981-6223BBBA28D7}"/>
              </a:ext>
            </a:extLst>
          </p:cNvPr>
          <p:cNvSpPr>
            <a:spLocks xmlns:a="http://schemas.openxmlformats.org/drawingml/2006/main" noGrp="1"/>
          </p:cNvSpPr>
          <p:nvPr/>
        </p:nvSpPr>
        <p:spPr>
          <a:xfrm xmlns:a="http://schemas.openxmlformats.org/drawingml/2006/main">
            <a:off x="790575" y="4695825"/>
            <a:ext cx="6858000"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4682B4"/>
                </a:solidFill>
                <a:latin typeface="Georgia"/>
                <a:ea typeface="Georgia"/>
                <a:cs typeface="Georgia"/>
              </a:defRPr>
            </a:pPr>
            <a:r>
              <a:rPr sz="3300" b="0">
                <a:solidFill>
                  <a:srgbClr val="4682B4"/>
                </a:solidFill>
                <a:latin typeface="Georgia"/>
                <a:ea typeface="Georgia"/>
                <a:cs typeface="Georgia"/>
              </a:rPr>
              <a:t>35.54 × $499 ≈ $17,735</a:t>
            </a:r>
          </a:p>
        </p:txBody>
      </p:sp>
      <p:sp>
        <p:nvSpPr>
          <p:cNvPr id="16" name="text-494">
            <a:extLst xmlns:a="http://schemas.openxmlformats.org/drawingml/2006/main">
              <a:ext uri="{FF2B5EF4-FFF2-40B4-BE49-F238E27FC236}">
                <a16:creationId xmlns:a16="http://schemas.microsoft.com/office/drawing/2014/main" id="{372B641D-43EA-4B1D-B532-5CDE6A0EBD4B}"/>
              </a:ext>
            </a:extLst>
          </p:cNvPr>
          <p:cNvSpPr>
            <a:spLocks xmlns:a="http://schemas.openxmlformats.org/drawingml/2006/main" noGrp="1"/>
          </p:cNvSpPr>
          <p:nvPr/>
        </p:nvSpPr>
        <p:spPr>
          <a:xfrm xmlns:a="http://schemas.openxmlformats.org/drawingml/2006/main">
            <a:off x="8096250" y="4686300"/>
            <a:ext cx="32575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1">
                <a:solidFill>
                  <a:srgbClr val="182D43"/>
                </a:solidFill>
                <a:latin typeface="Arial"/>
                <a:ea typeface="Arial"/>
                <a:cs typeface="Arial"/>
              </a:defRPr>
            </a:pPr>
            <a:r>
              <a:rPr sz="1725" b="1">
                <a:solidFill>
                  <a:srgbClr val="182D43"/>
                </a:solidFill>
                <a:latin typeface="Arial"/>
                <a:ea typeface="Arial"/>
                <a:cs typeface="Arial"/>
              </a:rPr>
              <a:t>Illustrative gross revenue only. No causal or profit claim.</a:t>
            </a:r>
          </a:p>
        </p:txBody>
      </p:sp>
      <p:sp>
        <p:nvSpPr>
          <p:cNvPr id="17" name="text-495">
            <a:extLst xmlns:a="http://schemas.openxmlformats.org/drawingml/2006/main">
              <a:ext uri="{FF2B5EF4-FFF2-40B4-BE49-F238E27FC236}">
                <a16:creationId xmlns:a16="http://schemas.microsoft.com/office/drawing/2014/main" id="{CF4F92DE-5D0D-44A3-92E8-9B73A112D137}"/>
              </a:ext>
            </a:extLst>
          </p:cNvPr>
          <p:cNvSpPr>
            <a:spLocks xmlns:a="http://schemas.openxmlformats.org/drawingml/2006/main" noGrp="1"/>
          </p:cNvSpPr>
          <p:nvPr/>
        </p:nvSpPr>
        <p:spPr>
          <a:xfrm xmlns:a="http://schemas.openxmlformats.org/drawingml/2006/main">
            <a:off x="571500" y="5876925"/>
            <a:ext cx="11049000" cy="333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0">
                <a:solidFill>
                  <a:srgbClr val="596C7D"/>
                </a:solidFill>
                <a:latin typeface="Arial"/>
                <a:ea typeface="Arial"/>
                <a:cs typeface="Arial"/>
              </a:defRPr>
            </a:pPr>
            <a:r>
              <a:rPr sz="1500" b="0">
                <a:solidFill>
                  <a:srgbClr val="596C7D"/>
                </a:solidFill>
                <a:latin typeface="Arial"/>
                <a:ea typeface="Arial"/>
                <a:cs typeface="Arial"/>
              </a:rPr>
              <a:t>Validate paid conversions, net contribution, discount usage, and the effect of calling in a pilot.</a:t>
            </a:r>
          </a:p>
        </p:txBody>
      </p:sp>
    </p:spTree>
    <p:extLst>
      <p:ext uri="{BB962C8B-B14F-4D97-AF65-F5344CB8AC3E}">
        <p14:creationId xmlns:p14="http://schemas.microsoft.com/office/powerpoint/2010/main" val="93442770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9A7F2612-6A11-4BA9-BA28-96D98F2EEC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5C4CB0AA-2F32-4BC9-BED1-6256E2A9ABE5}"/>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96080313-8233-493B-B620-4E5002A2458A}"/>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BUSINESS VALIDATION</a:t>
            </a:r>
          </a:p>
        </p:txBody>
      </p:sp>
      <p:sp>
        <p:nvSpPr>
          <p:cNvPr id="4" name="text-496">
            <a:extLst xmlns:a="http://schemas.openxmlformats.org/drawingml/2006/main">
              <a:ext uri="{FF2B5EF4-FFF2-40B4-BE49-F238E27FC236}">
                <a16:creationId xmlns:a16="http://schemas.microsoft.com/office/drawing/2014/main" id="{7933364E-51E4-4FF4-9B98-881AFD267752}"/>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A randomized pilot should test the targeting policy</a:t>
            </a:r>
          </a:p>
        </p:txBody>
      </p:sp>
      <p:sp>
        <p:nvSpPr>
          <p:cNvPr id="5" name="shape-497">
            <a:extLst xmlns:a="http://schemas.openxmlformats.org/drawingml/2006/main">
              <a:ext uri="{FF2B5EF4-FFF2-40B4-BE49-F238E27FC236}">
                <a16:creationId xmlns:a16="http://schemas.microsoft.com/office/drawing/2014/main" id="{54AA1310-8B50-495F-99CC-D26EFFBD5A46}"/>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498">
            <a:extLst xmlns:a="http://schemas.openxmlformats.org/drawingml/2006/main">
              <a:ext uri="{FF2B5EF4-FFF2-40B4-BE49-F238E27FC236}">
                <a16:creationId xmlns:a16="http://schemas.microsoft.com/office/drawing/2014/main" id="{7272954E-4C9F-40F9-84E9-2EB2622300C7}"/>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Proposed deployment plan; no pilot has been run</a:t>
            </a:r>
          </a:p>
        </p:txBody>
      </p:sp>
      <p:sp>
        <p:nvSpPr>
          <p:cNvPr id="7" name="text-499">
            <a:extLst xmlns:a="http://schemas.openxmlformats.org/drawingml/2006/main">
              <a:ext uri="{FF2B5EF4-FFF2-40B4-BE49-F238E27FC236}">
                <a16:creationId xmlns:a16="http://schemas.microsoft.com/office/drawing/2014/main" id="{DCD54AB6-FC27-4C43-AAEE-C70D340E46F5}"/>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23</a:t>
            </a:r>
          </a:p>
        </p:txBody>
      </p:sp>
      <p:sp>
        <p:nvSpPr>
          <p:cNvPr id="8" name="text-500">
            <a:extLst xmlns:a="http://schemas.openxmlformats.org/drawingml/2006/main">
              <a:ext uri="{FF2B5EF4-FFF2-40B4-BE49-F238E27FC236}">
                <a16:creationId xmlns:a16="http://schemas.microsoft.com/office/drawing/2014/main" id="{FC329A2E-FD3B-446B-B4D4-61D55D87B4A8}"/>
              </a:ext>
            </a:extLst>
          </p:cNvPr>
          <p:cNvSpPr>
            <a:spLocks xmlns:a="http://schemas.openxmlformats.org/drawingml/2006/main" noGrp="1"/>
          </p:cNvSpPr>
          <p:nvPr/>
        </p:nvSpPr>
        <p:spPr>
          <a:xfrm xmlns:a="http://schemas.openxmlformats.org/drawingml/2006/main">
            <a:off x="571500" y="2219325"/>
            <a:ext cx="10953750" cy="5048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75" b="1">
                <a:solidFill>
                  <a:srgbClr val="182D43"/>
                </a:solidFill>
                <a:latin typeface="Arial"/>
                <a:ea typeface="Arial"/>
                <a:cs typeface="Arial"/>
              </a:defRPr>
            </a:pPr>
            <a:r>
              <a:rPr sz="2175" b="1">
                <a:solidFill>
                  <a:srgbClr val="182D43"/>
                </a:solidFill>
                <a:latin typeface="Arial"/>
                <a:ea typeface="Arial"/>
                <a:cs typeface="Arial"/>
              </a:rPr>
              <a:t>Randomly split one eligible customer pool into two policy arms</a:t>
            </a:r>
          </a:p>
        </p:txBody>
      </p:sp>
      <p:sp>
        <p:nvSpPr>
          <p:cNvPr id="9" name="shape-501">
            <a:extLst xmlns:a="http://schemas.openxmlformats.org/drawingml/2006/main">
              <a:ext uri="{FF2B5EF4-FFF2-40B4-BE49-F238E27FC236}">
                <a16:creationId xmlns:a16="http://schemas.microsoft.com/office/drawing/2014/main" id="{4C680E84-2993-48CF-8C1A-6DA815250E79}"/>
              </a:ext>
            </a:extLst>
          </p:cNvPr>
          <p:cNvSpPr>
            <a:spLocks xmlns:a="http://schemas.openxmlformats.org/drawingml/2006/main" noGrp="1"/>
          </p:cNvSpPr>
          <p:nvPr/>
        </p:nvSpPr>
        <p:spPr>
          <a:xfrm xmlns:a="http://schemas.openxmlformats.org/drawingml/2006/main">
            <a:off x="571500" y="3048000"/>
            <a:ext cx="5191125" cy="1657350"/>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0" name="shape-502">
            <a:extLst xmlns:a="http://schemas.openxmlformats.org/drawingml/2006/main">
              <a:ext uri="{FF2B5EF4-FFF2-40B4-BE49-F238E27FC236}">
                <a16:creationId xmlns:a16="http://schemas.microsoft.com/office/drawing/2014/main" id="{5FDDC02C-0146-4A28-820A-067097DCAC43}"/>
              </a:ext>
            </a:extLst>
          </p:cNvPr>
          <p:cNvSpPr>
            <a:spLocks xmlns:a="http://schemas.openxmlformats.org/drawingml/2006/main" noGrp="1"/>
          </p:cNvSpPr>
          <p:nvPr/>
        </p:nvSpPr>
        <p:spPr>
          <a:xfrm xmlns:a="http://schemas.openxmlformats.org/drawingml/2006/main">
            <a:off x="6419850" y="3048000"/>
            <a:ext cx="5191125" cy="1657350"/>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11" name="text-503">
            <a:extLst xmlns:a="http://schemas.openxmlformats.org/drawingml/2006/main">
              <a:ext uri="{FF2B5EF4-FFF2-40B4-BE49-F238E27FC236}">
                <a16:creationId xmlns:a16="http://schemas.microsoft.com/office/drawing/2014/main" id="{E2CF13C4-7486-4B31-82B2-2492325C6CC2}"/>
              </a:ext>
            </a:extLst>
          </p:cNvPr>
          <p:cNvSpPr>
            <a:spLocks xmlns:a="http://schemas.openxmlformats.org/drawingml/2006/main" noGrp="1"/>
          </p:cNvSpPr>
          <p:nvPr/>
        </p:nvSpPr>
        <p:spPr>
          <a:xfrm xmlns:a="http://schemas.openxmlformats.org/drawingml/2006/main">
            <a:off x="809625" y="3248025"/>
            <a:ext cx="46863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75" b="1">
                <a:solidFill>
                  <a:srgbClr val="4682B4"/>
                </a:solidFill>
                <a:latin typeface="Arial"/>
                <a:ea typeface="Arial"/>
                <a:cs typeface="Arial"/>
              </a:defRPr>
            </a:pPr>
            <a:r>
              <a:rPr sz="2175" b="1">
                <a:solidFill>
                  <a:srgbClr val="4682B4"/>
                </a:solidFill>
                <a:latin typeface="Arial"/>
                <a:ea typeface="Arial"/>
                <a:cs typeface="Arial"/>
              </a:rPr>
              <a:t>Model policy</a:t>
            </a:r>
          </a:p>
        </p:txBody>
      </p:sp>
      <p:sp>
        <p:nvSpPr>
          <p:cNvPr id="12" name="text-504">
            <a:extLst xmlns:a="http://schemas.openxmlformats.org/drawingml/2006/main">
              <a:ext uri="{FF2B5EF4-FFF2-40B4-BE49-F238E27FC236}">
                <a16:creationId xmlns:a16="http://schemas.microsoft.com/office/drawing/2014/main" id="{24B65499-2B17-4393-B69B-E72643AD030A}"/>
              </a:ext>
            </a:extLst>
          </p:cNvPr>
          <p:cNvSpPr>
            <a:spLocks xmlns:a="http://schemas.openxmlformats.org/drawingml/2006/main" noGrp="1"/>
          </p:cNvSpPr>
          <p:nvPr/>
        </p:nvSpPr>
        <p:spPr>
          <a:xfrm xmlns:a="http://schemas.openxmlformats.org/drawingml/2006/main">
            <a:off x="809625" y="3829050"/>
            <a:ext cx="46863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0">
                <a:solidFill>
                  <a:srgbClr val="182D43"/>
                </a:solidFill>
                <a:latin typeface="Arial"/>
                <a:ea typeface="Arial"/>
                <a:cs typeface="Arial"/>
              </a:defRPr>
            </a:pPr>
            <a:r>
              <a:rPr sz="2025" b="0">
                <a:solidFill>
                  <a:srgbClr val="182D43"/>
                </a:solidFill>
                <a:latin typeface="Arial"/>
                <a:ea typeface="Arial"/>
                <a:cs typeface="Arial"/>
              </a:rPr>
              <a:t>Call the top-scored 20% within its assigned arm.</a:t>
            </a:r>
          </a:p>
        </p:txBody>
      </p:sp>
      <p:sp>
        <p:nvSpPr>
          <p:cNvPr id="13" name="text-505">
            <a:extLst xmlns:a="http://schemas.openxmlformats.org/drawingml/2006/main">
              <a:ext uri="{FF2B5EF4-FFF2-40B4-BE49-F238E27FC236}">
                <a16:creationId xmlns:a16="http://schemas.microsoft.com/office/drawing/2014/main" id="{8A1F6E7C-9BD5-4AF4-B4C0-DB0B22E4DF52}"/>
              </a:ext>
            </a:extLst>
          </p:cNvPr>
          <p:cNvSpPr>
            <a:spLocks xmlns:a="http://schemas.openxmlformats.org/drawingml/2006/main" noGrp="1"/>
          </p:cNvSpPr>
          <p:nvPr/>
        </p:nvSpPr>
        <p:spPr>
          <a:xfrm xmlns:a="http://schemas.openxmlformats.org/drawingml/2006/main">
            <a:off x="6657975" y="3248025"/>
            <a:ext cx="466725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75" b="1">
                <a:solidFill>
                  <a:srgbClr val="4682B4"/>
                </a:solidFill>
                <a:latin typeface="Arial"/>
                <a:ea typeface="Arial"/>
                <a:cs typeface="Arial"/>
              </a:defRPr>
            </a:pPr>
            <a:r>
              <a:rPr sz="2175" b="1">
                <a:solidFill>
                  <a:srgbClr val="4682B4"/>
                </a:solidFill>
                <a:latin typeface="Arial"/>
                <a:ea typeface="Arial"/>
                <a:cs typeface="Arial"/>
              </a:rPr>
              <a:t>Random policy</a:t>
            </a:r>
          </a:p>
        </p:txBody>
      </p:sp>
      <p:sp>
        <p:nvSpPr>
          <p:cNvPr id="14" name="text-506">
            <a:extLst xmlns:a="http://schemas.openxmlformats.org/drawingml/2006/main">
              <a:ext uri="{FF2B5EF4-FFF2-40B4-BE49-F238E27FC236}">
                <a16:creationId xmlns:a16="http://schemas.microsoft.com/office/drawing/2014/main" id="{77FE9CE6-D4A8-4E03-A346-7B95B57A943A}"/>
              </a:ext>
            </a:extLst>
          </p:cNvPr>
          <p:cNvSpPr>
            <a:spLocks xmlns:a="http://schemas.openxmlformats.org/drawingml/2006/main" noGrp="1"/>
          </p:cNvSpPr>
          <p:nvPr/>
        </p:nvSpPr>
        <p:spPr>
          <a:xfrm xmlns:a="http://schemas.openxmlformats.org/drawingml/2006/main">
            <a:off x="6657975" y="3829050"/>
            <a:ext cx="46672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0">
                <a:solidFill>
                  <a:srgbClr val="182D43"/>
                </a:solidFill>
                <a:latin typeface="Arial"/>
                <a:ea typeface="Arial"/>
                <a:cs typeface="Arial"/>
              </a:defRPr>
            </a:pPr>
            <a:r>
              <a:rPr sz="2025" b="0">
                <a:solidFill>
                  <a:srgbClr val="182D43"/>
                </a:solidFill>
                <a:latin typeface="Arial"/>
                <a:ea typeface="Arial"/>
                <a:cs typeface="Arial"/>
              </a:rPr>
              <a:t>Call a random 20% within its assigned arm.</a:t>
            </a:r>
          </a:p>
        </p:txBody>
      </p:sp>
      <p:sp>
        <p:nvSpPr>
          <p:cNvPr id="15" name="text-507">
            <a:extLst xmlns:a="http://schemas.openxmlformats.org/drawingml/2006/main">
              <a:ext uri="{FF2B5EF4-FFF2-40B4-BE49-F238E27FC236}">
                <a16:creationId xmlns:a16="http://schemas.microsoft.com/office/drawing/2014/main" id="{C40E2C91-EF10-4C02-9EFE-D5E4DCC9ADE9}"/>
              </a:ext>
            </a:extLst>
          </p:cNvPr>
          <p:cNvSpPr>
            <a:spLocks xmlns:a="http://schemas.openxmlformats.org/drawingml/2006/main" noGrp="1"/>
          </p:cNvSpPr>
          <p:nvPr/>
        </p:nvSpPr>
        <p:spPr>
          <a:xfrm xmlns:a="http://schemas.openxmlformats.org/drawingml/2006/main">
            <a:off x="571500" y="5019675"/>
            <a:ext cx="110490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75" b="1">
                <a:solidFill>
                  <a:srgbClr val="182D43"/>
                </a:solidFill>
                <a:latin typeface="Arial"/>
                <a:ea typeface="Arial"/>
                <a:cs typeface="Arial"/>
              </a:defRPr>
            </a:pPr>
            <a:r>
              <a:rPr sz="2175" b="1">
                <a:solidFill>
                  <a:srgbClr val="182D43"/>
                </a:solidFill>
                <a:latin typeface="Arial"/>
                <a:ea typeface="Arial"/>
                <a:cs typeface="Arial"/>
              </a:rPr>
              <a:t>Same offer, script, budget and observation window</a:t>
            </a:r>
          </a:p>
        </p:txBody>
      </p:sp>
      <p:sp>
        <p:nvSpPr>
          <p:cNvPr id="16" name="text-508">
            <a:extLst xmlns:a="http://schemas.openxmlformats.org/drawingml/2006/main">
              <a:ext uri="{FF2B5EF4-FFF2-40B4-BE49-F238E27FC236}">
                <a16:creationId xmlns:a16="http://schemas.microsoft.com/office/drawing/2014/main" id="{A23A4316-EEEB-42D4-AB98-3F2F2E4F2FA9}"/>
              </a:ext>
            </a:extLst>
          </p:cNvPr>
          <p:cNvSpPr>
            <a:spLocks xmlns:a="http://schemas.openxmlformats.org/drawingml/2006/main" noGrp="1"/>
          </p:cNvSpPr>
          <p:nvPr/>
        </p:nvSpPr>
        <p:spPr>
          <a:xfrm xmlns:a="http://schemas.openxmlformats.org/drawingml/2006/main">
            <a:off x="571500" y="5695950"/>
            <a:ext cx="11049000" cy="4667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596C7D"/>
                </a:solidFill>
                <a:latin typeface="Arial"/>
                <a:ea typeface="Arial"/>
                <a:cs typeface="Arial"/>
              </a:defRPr>
            </a:pPr>
            <a:r>
              <a:rPr sz="1575" b="0">
                <a:solidFill>
                  <a:srgbClr val="596C7D"/>
                </a:solidFill>
                <a:latin typeface="Arial"/>
                <a:ea typeface="Arial"/>
                <a:cs typeface="Arial"/>
              </a:rPr>
              <a:t>Measure purchases and net contribution per eligible customer. A no-call arm tests contact incrementality.</a:t>
            </a:r>
          </a:p>
        </p:txBody>
      </p:sp>
    </p:spTree>
    <p:extLst>
      <p:ext uri="{BB962C8B-B14F-4D97-AF65-F5344CB8AC3E}">
        <p14:creationId xmlns:p14="http://schemas.microsoft.com/office/powerpoint/2010/main" val="6527733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26A04E17-3DB8-4507-AF94-A3389C7068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7FBB844A-A503-4EE2-B3B2-7FB06F999A87}"/>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3619A097-A85D-4DA0-8CAB-93C508F4087C}"/>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VALIDATION LIMITS</a:t>
            </a:r>
          </a:p>
        </p:txBody>
      </p:sp>
      <p:sp>
        <p:nvSpPr>
          <p:cNvPr id="4" name="text-509">
            <a:extLst xmlns:a="http://schemas.openxmlformats.org/drawingml/2006/main">
              <a:ext uri="{FF2B5EF4-FFF2-40B4-BE49-F238E27FC236}">
                <a16:creationId xmlns:a16="http://schemas.microsoft.com/office/drawing/2014/main" id="{1F9ACB30-CEA4-4969-B152-FA2DB1A604EF}"/>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The next evidence must come from fresh campaign data</a:t>
            </a:r>
          </a:p>
        </p:txBody>
      </p:sp>
      <p:sp>
        <p:nvSpPr>
          <p:cNvPr id="5" name="shape-510">
            <a:extLst xmlns:a="http://schemas.openxmlformats.org/drawingml/2006/main">
              <a:ext uri="{FF2B5EF4-FFF2-40B4-BE49-F238E27FC236}">
                <a16:creationId xmlns:a16="http://schemas.microsoft.com/office/drawing/2014/main" id="{4CF5FEE6-C9E3-4880-81FE-40E09396AE58}"/>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511">
            <a:extLst xmlns:a="http://schemas.openxmlformats.org/drawingml/2006/main">
              <a:ext uri="{FF2B5EF4-FFF2-40B4-BE49-F238E27FC236}">
                <a16:creationId xmlns:a16="http://schemas.microsoft.com/office/drawing/2014/main" id="{8DF8CCA9-8FE4-40B4-99F7-E8CEB6F40715}"/>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Review of main.ipynb implementation and evaluation workflow</a:t>
            </a:r>
          </a:p>
        </p:txBody>
      </p:sp>
      <p:sp>
        <p:nvSpPr>
          <p:cNvPr id="7" name="text-512">
            <a:extLst xmlns:a="http://schemas.openxmlformats.org/drawingml/2006/main">
              <a:ext uri="{FF2B5EF4-FFF2-40B4-BE49-F238E27FC236}">
                <a16:creationId xmlns:a16="http://schemas.microsoft.com/office/drawing/2014/main" id="{49363485-712B-47EC-85FE-24CDB536E873}"/>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24</a:t>
            </a:r>
          </a:p>
        </p:txBody>
      </p:sp>
      <p:sp>
        <p:nvSpPr>
          <p:cNvPr id="8" name="text-513">
            <a:extLst xmlns:a="http://schemas.openxmlformats.org/drawingml/2006/main">
              <a:ext uri="{FF2B5EF4-FFF2-40B4-BE49-F238E27FC236}">
                <a16:creationId xmlns:a16="http://schemas.microsoft.com/office/drawing/2014/main" id="{B43AA5F5-D2EE-4741-AFF8-5D6EE48E9A4F}"/>
              </a:ext>
            </a:extLst>
          </p:cNvPr>
          <p:cNvSpPr>
            <a:spLocks xmlns:a="http://schemas.openxmlformats.org/drawingml/2006/main" noGrp="1"/>
          </p:cNvSpPr>
          <p:nvPr/>
        </p:nvSpPr>
        <p:spPr>
          <a:xfrm xmlns:a="http://schemas.openxmlformats.org/drawingml/2006/main">
            <a:off x="571500" y="2143125"/>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01</a:t>
            </a:r>
          </a:p>
        </p:txBody>
      </p:sp>
      <p:sp>
        <p:nvSpPr>
          <p:cNvPr id="9" name="text-514">
            <a:extLst xmlns:a="http://schemas.openxmlformats.org/drawingml/2006/main">
              <a:ext uri="{FF2B5EF4-FFF2-40B4-BE49-F238E27FC236}">
                <a16:creationId xmlns:a16="http://schemas.microsoft.com/office/drawing/2014/main" id="{FFED290B-5ADA-43ED-A191-AFC24ADC5377}"/>
              </a:ext>
            </a:extLst>
          </p:cNvPr>
          <p:cNvSpPr>
            <a:spLocks xmlns:a="http://schemas.openxmlformats.org/drawingml/2006/main" noGrp="1"/>
          </p:cNvSpPr>
          <p:nvPr/>
        </p:nvSpPr>
        <p:spPr>
          <a:xfrm xmlns:a="http://schemas.openxmlformats.org/drawingml/2006/main">
            <a:off x="1428750" y="2143125"/>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Fresh evaluation</a:t>
            </a:r>
          </a:p>
        </p:txBody>
      </p:sp>
      <p:sp>
        <p:nvSpPr>
          <p:cNvPr id="10" name="text-515">
            <a:extLst xmlns:a="http://schemas.openxmlformats.org/drawingml/2006/main">
              <a:ext uri="{FF2B5EF4-FFF2-40B4-BE49-F238E27FC236}">
                <a16:creationId xmlns:a16="http://schemas.microsoft.com/office/drawing/2014/main" id="{79D2B875-D2C2-4BC9-9CA4-A18126936D60}"/>
              </a:ext>
            </a:extLst>
          </p:cNvPr>
          <p:cNvSpPr>
            <a:spLocks xmlns:a="http://schemas.openxmlformats.org/drawingml/2006/main" noGrp="1"/>
          </p:cNvSpPr>
          <p:nvPr/>
        </p:nvSpPr>
        <p:spPr>
          <a:xfrm xmlns:a="http://schemas.openxmlformats.org/drawingml/2006/main">
            <a:off x="5810250" y="2143125"/>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Repeated test inspection means reported results are exploratory.</a:t>
            </a:r>
          </a:p>
        </p:txBody>
      </p:sp>
      <p:sp>
        <p:nvSpPr>
          <p:cNvPr id="11" name="shape-516">
            <a:extLst xmlns:a="http://schemas.openxmlformats.org/drawingml/2006/main">
              <a:ext uri="{FF2B5EF4-FFF2-40B4-BE49-F238E27FC236}">
                <a16:creationId xmlns:a16="http://schemas.microsoft.com/office/drawing/2014/main" id="{8DB062C8-861E-4F31-9AE4-99AA1FD8FABC}"/>
              </a:ext>
            </a:extLst>
          </p:cNvPr>
          <p:cNvSpPr>
            <a:spLocks xmlns:a="http://schemas.openxmlformats.org/drawingml/2006/main" noGrp="1"/>
          </p:cNvSpPr>
          <p:nvPr/>
        </p:nvSpPr>
        <p:spPr>
          <a:xfrm xmlns:a="http://schemas.openxmlformats.org/drawingml/2006/main">
            <a:off x="1428750" y="2981325"/>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2" name="text-517">
            <a:extLst xmlns:a="http://schemas.openxmlformats.org/drawingml/2006/main">
              <a:ext uri="{FF2B5EF4-FFF2-40B4-BE49-F238E27FC236}">
                <a16:creationId xmlns:a16="http://schemas.microsoft.com/office/drawing/2014/main" id="{6F0110A8-2279-48C4-B351-54F8B26356AE}"/>
              </a:ext>
            </a:extLst>
          </p:cNvPr>
          <p:cNvSpPr>
            <a:spLocks xmlns:a="http://schemas.openxmlformats.org/drawingml/2006/main" noGrp="1"/>
          </p:cNvSpPr>
          <p:nvPr/>
        </p:nvSpPr>
        <p:spPr>
          <a:xfrm xmlns:a="http://schemas.openxmlformats.org/drawingml/2006/main">
            <a:off x="571500" y="3105150"/>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02</a:t>
            </a:r>
          </a:p>
        </p:txBody>
      </p:sp>
      <p:sp>
        <p:nvSpPr>
          <p:cNvPr id="13" name="text-518">
            <a:extLst xmlns:a="http://schemas.openxmlformats.org/drawingml/2006/main">
              <a:ext uri="{FF2B5EF4-FFF2-40B4-BE49-F238E27FC236}">
                <a16:creationId xmlns:a16="http://schemas.microsoft.com/office/drawing/2014/main" id="{5A2E1448-D2CB-48AD-B1C8-73E4399A2A74}"/>
              </a:ext>
            </a:extLst>
          </p:cNvPr>
          <p:cNvSpPr>
            <a:spLocks xmlns:a="http://schemas.openxmlformats.org/drawingml/2006/main" noGrp="1"/>
          </p:cNvSpPr>
          <p:nvPr/>
        </p:nvSpPr>
        <p:spPr>
          <a:xfrm xmlns:a="http://schemas.openxmlformats.org/drawingml/2006/main">
            <a:off x="1428750" y="3105150"/>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Nested validation</a:t>
            </a:r>
          </a:p>
        </p:txBody>
      </p:sp>
      <p:sp>
        <p:nvSpPr>
          <p:cNvPr id="14" name="text-519">
            <a:extLst xmlns:a="http://schemas.openxmlformats.org/drawingml/2006/main">
              <a:ext uri="{FF2B5EF4-FFF2-40B4-BE49-F238E27FC236}">
                <a16:creationId xmlns:a16="http://schemas.microsoft.com/office/drawing/2014/main" id="{71E6B6CA-974A-44C5-87D4-2A3A8879D38F}"/>
              </a:ext>
            </a:extLst>
          </p:cNvPr>
          <p:cNvSpPr>
            <a:spLocks xmlns:a="http://schemas.openxmlformats.org/drawingml/2006/main" noGrp="1"/>
          </p:cNvSpPr>
          <p:nvPr/>
        </p:nvSpPr>
        <p:spPr>
          <a:xfrm xmlns:a="http://schemas.openxmlformats.org/drawingml/2006/main">
            <a:off x="5810250" y="3105150"/>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Tune and calculate class weights inside each outer training fold.</a:t>
            </a:r>
          </a:p>
        </p:txBody>
      </p:sp>
      <p:sp>
        <p:nvSpPr>
          <p:cNvPr id="15" name="shape-520">
            <a:extLst xmlns:a="http://schemas.openxmlformats.org/drawingml/2006/main">
              <a:ext uri="{FF2B5EF4-FFF2-40B4-BE49-F238E27FC236}">
                <a16:creationId xmlns:a16="http://schemas.microsoft.com/office/drawing/2014/main" id="{501EA1BD-5D95-4DAF-8CE4-6A3BF8C49314}"/>
              </a:ext>
            </a:extLst>
          </p:cNvPr>
          <p:cNvSpPr>
            <a:spLocks xmlns:a="http://schemas.openxmlformats.org/drawingml/2006/main" noGrp="1"/>
          </p:cNvSpPr>
          <p:nvPr/>
        </p:nvSpPr>
        <p:spPr>
          <a:xfrm xmlns:a="http://schemas.openxmlformats.org/drawingml/2006/main">
            <a:off x="1428750" y="3943350"/>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6" name="text-521">
            <a:extLst xmlns:a="http://schemas.openxmlformats.org/drawingml/2006/main">
              <a:ext uri="{FF2B5EF4-FFF2-40B4-BE49-F238E27FC236}">
                <a16:creationId xmlns:a16="http://schemas.microsoft.com/office/drawing/2014/main" id="{8D7DE55A-E51E-46BE-8D5F-8A402B46EFC2}"/>
              </a:ext>
            </a:extLst>
          </p:cNvPr>
          <p:cNvSpPr>
            <a:spLocks xmlns:a="http://schemas.openxmlformats.org/drawingml/2006/main" noGrp="1"/>
          </p:cNvSpPr>
          <p:nvPr/>
        </p:nvSpPr>
        <p:spPr>
          <a:xfrm xmlns:a="http://schemas.openxmlformats.org/drawingml/2006/main">
            <a:off x="571500" y="4067175"/>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03</a:t>
            </a:r>
          </a:p>
        </p:txBody>
      </p:sp>
      <p:sp>
        <p:nvSpPr>
          <p:cNvPr id="17" name="text-522">
            <a:extLst xmlns:a="http://schemas.openxmlformats.org/drawingml/2006/main">
              <a:ext uri="{FF2B5EF4-FFF2-40B4-BE49-F238E27FC236}">
                <a16:creationId xmlns:a16="http://schemas.microsoft.com/office/drawing/2014/main" id="{74F13B04-112E-4F21-9FFD-D70F89718EA3}"/>
              </a:ext>
            </a:extLst>
          </p:cNvPr>
          <p:cNvSpPr>
            <a:spLocks xmlns:a="http://schemas.openxmlformats.org/drawingml/2006/main" noGrp="1"/>
          </p:cNvSpPr>
          <p:nvPr/>
        </p:nvSpPr>
        <p:spPr>
          <a:xfrm xmlns:a="http://schemas.openxmlformats.org/drawingml/2006/main">
            <a:off x="1428750" y="4067175"/>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Feature timing</a:t>
            </a:r>
          </a:p>
        </p:txBody>
      </p:sp>
      <p:sp>
        <p:nvSpPr>
          <p:cNvPr id="18" name="text-523">
            <a:extLst xmlns:a="http://schemas.openxmlformats.org/drawingml/2006/main">
              <a:ext uri="{FF2B5EF4-FFF2-40B4-BE49-F238E27FC236}">
                <a16:creationId xmlns:a16="http://schemas.microsoft.com/office/drawing/2014/main" id="{E7FD9056-ACBC-4B05-A0A4-7BF985A04DC9}"/>
              </a:ext>
            </a:extLst>
          </p:cNvPr>
          <p:cNvSpPr>
            <a:spLocks xmlns:a="http://schemas.openxmlformats.org/drawingml/2006/main" noGrp="1"/>
          </p:cNvSpPr>
          <p:nvPr/>
        </p:nvSpPr>
        <p:spPr>
          <a:xfrm xmlns:a="http://schemas.openxmlformats.org/drawingml/2006/main">
            <a:off x="5810250" y="4067175"/>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Confirm predictors precede the campaign; date cutoff is assumed.</a:t>
            </a:r>
          </a:p>
        </p:txBody>
      </p:sp>
      <p:sp>
        <p:nvSpPr>
          <p:cNvPr id="19" name="shape-524">
            <a:extLst xmlns:a="http://schemas.openxmlformats.org/drawingml/2006/main">
              <a:ext uri="{FF2B5EF4-FFF2-40B4-BE49-F238E27FC236}">
                <a16:creationId xmlns:a16="http://schemas.microsoft.com/office/drawing/2014/main" id="{25145E99-4862-4D85-94BB-1422E93A06EF}"/>
              </a:ext>
            </a:extLst>
          </p:cNvPr>
          <p:cNvSpPr>
            <a:spLocks xmlns:a="http://schemas.openxmlformats.org/drawingml/2006/main" noGrp="1"/>
          </p:cNvSpPr>
          <p:nvPr/>
        </p:nvSpPr>
        <p:spPr>
          <a:xfrm xmlns:a="http://schemas.openxmlformats.org/drawingml/2006/main">
            <a:off x="1428750" y="4905375"/>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0" name="text-525">
            <a:extLst xmlns:a="http://schemas.openxmlformats.org/drawingml/2006/main">
              <a:ext uri="{FF2B5EF4-FFF2-40B4-BE49-F238E27FC236}">
                <a16:creationId xmlns:a16="http://schemas.microsoft.com/office/drawing/2014/main" id="{A6BE2693-298A-4D4B-A20C-EEFF90D494F9}"/>
              </a:ext>
            </a:extLst>
          </p:cNvPr>
          <p:cNvSpPr>
            <a:spLocks xmlns:a="http://schemas.openxmlformats.org/drawingml/2006/main" noGrp="1"/>
          </p:cNvSpPr>
          <p:nvPr/>
        </p:nvSpPr>
        <p:spPr>
          <a:xfrm xmlns:a="http://schemas.openxmlformats.org/drawingml/2006/main">
            <a:off x="571500" y="5029200"/>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04</a:t>
            </a:r>
          </a:p>
        </p:txBody>
      </p:sp>
      <p:sp>
        <p:nvSpPr>
          <p:cNvPr id="21" name="text-526">
            <a:extLst xmlns:a="http://schemas.openxmlformats.org/drawingml/2006/main">
              <a:ext uri="{FF2B5EF4-FFF2-40B4-BE49-F238E27FC236}">
                <a16:creationId xmlns:a16="http://schemas.microsoft.com/office/drawing/2014/main" id="{7FFB83CB-413D-47C2-A366-A956B5483EDB}"/>
              </a:ext>
            </a:extLst>
          </p:cNvPr>
          <p:cNvSpPr>
            <a:spLocks xmlns:a="http://schemas.openxmlformats.org/drawingml/2006/main" noGrp="1"/>
          </p:cNvSpPr>
          <p:nvPr/>
        </p:nvSpPr>
        <p:spPr>
          <a:xfrm xmlns:a="http://schemas.openxmlformats.org/drawingml/2006/main">
            <a:off x="1428750" y="5029200"/>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Calibration &amp; drift</a:t>
            </a:r>
          </a:p>
        </p:txBody>
      </p:sp>
      <p:sp>
        <p:nvSpPr>
          <p:cNvPr id="22" name="text-527">
            <a:extLst xmlns:a="http://schemas.openxmlformats.org/drawingml/2006/main">
              <a:ext uri="{FF2B5EF4-FFF2-40B4-BE49-F238E27FC236}">
                <a16:creationId xmlns:a16="http://schemas.microsoft.com/office/drawing/2014/main" id="{E86FA9FB-CBAE-4BB5-92C6-F401A8EBB302}"/>
              </a:ext>
            </a:extLst>
          </p:cNvPr>
          <p:cNvSpPr>
            <a:spLocks xmlns:a="http://schemas.openxmlformats.org/drawingml/2006/main" noGrp="1"/>
          </p:cNvSpPr>
          <p:nvPr/>
        </p:nvSpPr>
        <p:spPr>
          <a:xfrm xmlns:a="http://schemas.openxmlformats.org/drawingml/2006/main">
            <a:off x="5810250" y="5029200"/>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Validate scores and economics on a new campaign before scale.</a:t>
            </a:r>
          </a:p>
        </p:txBody>
      </p:sp>
      <p:sp>
        <p:nvSpPr>
          <p:cNvPr id="23" name="shape-528">
            <a:extLst xmlns:a="http://schemas.openxmlformats.org/drawingml/2006/main">
              <a:ext uri="{FF2B5EF4-FFF2-40B4-BE49-F238E27FC236}">
                <a16:creationId xmlns:a16="http://schemas.microsoft.com/office/drawing/2014/main" id="{827731A5-82D6-45AF-808A-A05E7D726CC6}"/>
              </a:ext>
            </a:extLst>
          </p:cNvPr>
          <p:cNvSpPr>
            <a:spLocks xmlns:a="http://schemas.openxmlformats.org/drawingml/2006/main" noGrp="1"/>
          </p:cNvSpPr>
          <p:nvPr/>
        </p:nvSpPr>
        <p:spPr>
          <a:xfrm xmlns:a="http://schemas.openxmlformats.org/drawingml/2006/main">
            <a:off x="1428750" y="5867400"/>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Tree>
    <p:extLst>
      <p:ext uri="{BB962C8B-B14F-4D97-AF65-F5344CB8AC3E}">
        <p14:creationId xmlns:p14="http://schemas.microsoft.com/office/powerpoint/2010/main" val="72455658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13396A39-9D18-4E9E-9B16-19DF8B9888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283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C2747AE7-3E93-4EC8-BE7E-EB33CA805032}"/>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C095C4FC-9B18-4792-A48F-0FEF97D0C475}"/>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B7D3E9"/>
                </a:solidFill>
                <a:latin typeface="Arial"/>
                <a:ea typeface="Arial"/>
                <a:cs typeface="Arial"/>
              </a:defRPr>
            </a:pPr>
            <a:r>
              <a:rPr sz="1125" b="1">
                <a:solidFill>
                  <a:srgbClr val="B7D3E9"/>
                </a:solidFill>
                <a:latin typeface="Arial"/>
                <a:ea typeface="Arial"/>
                <a:cs typeface="Arial"/>
              </a:rPr>
              <a:t>RECOMMENDATION</a:t>
            </a:r>
          </a:p>
        </p:txBody>
      </p:sp>
      <p:sp>
        <p:nvSpPr>
          <p:cNvPr id="4" name="text-529">
            <a:extLst xmlns:a="http://schemas.openxmlformats.org/drawingml/2006/main">
              <a:ext uri="{FF2B5EF4-FFF2-40B4-BE49-F238E27FC236}">
                <a16:creationId xmlns:a16="http://schemas.microsoft.com/office/drawing/2014/main" id="{D2B5E61B-29DD-4CDF-8421-1F488B69BC95}"/>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FFFFFF"/>
                </a:solidFill>
                <a:latin typeface="Georgia"/>
                <a:ea typeface="Georgia"/>
                <a:cs typeface="Georgia"/>
              </a:defRPr>
            </a:pPr>
            <a:r>
              <a:rPr sz="3300" b="0">
                <a:solidFill>
                  <a:srgbClr val="FFFFFF"/>
                </a:solidFill>
                <a:latin typeface="Georgia"/>
                <a:ea typeface="Georgia"/>
                <a:cs typeface="Georgia"/>
              </a:rPr>
              <a:t>Pilot soft voting, then decide using conversion and contribution</a:t>
            </a:r>
          </a:p>
        </p:txBody>
      </p:sp>
      <p:sp>
        <p:nvSpPr>
          <p:cNvPr id="5" name="shape-530">
            <a:extLst xmlns:a="http://schemas.openxmlformats.org/drawingml/2006/main">
              <a:ext uri="{FF2B5EF4-FFF2-40B4-BE49-F238E27FC236}">
                <a16:creationId xmlns:a16="http://schemas.microsoft.com/office/drawing/2014/main" id="{56DEAEB5-4078-4739-9FFB-D2ADB9135EC1}"/>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3F566D"/>
          </a:solidFill>
          <a:ln xmlns:a="http://schemas.openxmlformats.org/drawingml/2006/main" w="0">
            <a:noFill/>
            <a:prstDash val="solid"/>
          </a:ln>
        </p:spPr>
      </p:sp>
      <p:sp>
        <p:nvSpPr>
          <p:cNvPr id="6" name="text-531">
            <a:extLst xmlns:a="http://schemas.openxmlformats.org/drawingml/2006/main">
              <a:ext uri="{FF2B5EF4-FFF2-40B4-BE49-F238E27FC236}">
                <a16:creationId xmlns:a16="http://schemas.microsoft.com/office/drawing/2014/main" id="{0F7704C8-4819-4FA1-82B4-12CD33CC3DA2}"/>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B7C6D5"/>
                </a:solidFill>
                <a:latin typeface="Arial"/>
                <a:ea typeface="Arial"/>
                <a:cs typeface="Arial"/>
              </a:defRPr>
            </a:pPr>
            <a:r>
              <a:rPr sz="975" b="0">
                <a:solidFill>
                  <a:srgbClr val="B7C6D5"/>
                </a:solidFill>
                <a:latin typeface="Arial"/>
                <a:ea typeface="Arial"/>
                <a:cs typeface="Arial"/>
              </a:rPr>
              <a:t>main.ipynb §7–10 | proposed next actions</a:t>
            </a:r>
          </a:p>
        </p:txBody>
      </p:sp>
      <p:sp>
        <p:nvSpPr>
          <p:cNvPr id="7" name="text-532">
            <a:extLst xmlns:a="http://schemas.openxmlformats.org/drawingml/2006/main">
              <a:ext uri="{FF2B5EF4-FFF2-40B4-BE49-F238E27FC236}">
                <a16:creationId xmlns:a16="http://schemas.microsoft.com/office/drawing/2014/main" id="{E3E0AA80-15AA-4E62-95D1-A6CAAB48AA46}"/>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B7C6D5"/>
                </a:solidFill>
                <a:latin typeface="Arial"/>
                <a:ea typeface="Arial"/>
                <a:cs typeface="Arial"/>
              </a:defRPr>
            </a:pPr>
            <a:r>
              <a:rPr sz="1200" b="0">
                <a:solidFill>
                  <a:srgbClr val="B7C6D5"/>
                </a:solidFill>
                <a:latin typeface="Arial"/>
                <a:ea typeface="Arial"/>
                <a:cs typeface="Arial"/>
              </a:rPr>
              <a:t>25</a:t>
            </a:r>
          </a:p>
        </p:txBody>
      </p:sp>
      <p:sp>
        <p:nvSpPr>
          <p:cNvPr id="8" name="text-533">
            <a:extLst xmlns:a="http://schemas.openxmlformats.org/drawingml/2006/main">
              <a:ext uri="{FF2B5EF4-FFF2-40B4-BE49-F238E27FC236}">
                <a16:creationId xmlns:a16="http://schemas.microsoft.com/office/drawing/2014/main" id="{A92B56B3-8DDF-438D-845B-133B1585BE2B}"/>
              </a:ext>
            </a:extLst>
          </p:cNvPr>
          <p:cNvSpPr>
            <a:spLocks xmlns:a="http://schemas.openxmlformats.org/drawingml/2006/main" noGrp="1"/>
          </p:cNvSpPr>
          <p:nvPr/>
        </p:nvSpPr>
        <p:spPr>
          <a:xfrm xmlns:a="http://schemas.openxmlformats.org/drawingml/2006/main">
            <a:off x="571500" y="2371725"/>
            <a:ext cx="5476875"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6450" b="0">
                <a:solidFill>
                  <a:srgbClr val="FFFFFF"/>
                </a:solidFill>
                <a:latin typeface="Georgia"/>
                <a:ea typeface="Georgia"/>
                <a:cs typeface="Georgia"/>
              </a:defRPr>
            </a:pPr>
            <a:r>
              <a:rPr sz="6450" b="0">
                <a:solidFill>
                  <a:srgbClr val="FFFFFF"/>
                </a:solidFill>
                <a:latin typeface="Georgia"/>
                <a:ea typeface="Georgia"/>
                <a:cs typeface="Georgia"/>
              </a:rPr>
              <a:t>73.1%</a:t>
            </a:r>
          </a:p>
        </p:txBody>
      </p:sp>
      <p:sp>
        <p:nvSpPr>
          <p:cNvPr id="9" name="text-534">
            <a:extLst xmlns:a="http://schemas.openxmlformats.org/drawingml/2006/main">
              <a:ext uri="{FF2B5EF4-FFF2-40B4-BE49-F238E27FC236}">
                <a16:creationId xmlns:a16="http://schemas.microsoft.com/office/drawing/2014/main" id="{57D8DF63-5103-48D9-BCC4-6C7CD4F49466}"/>
              </a:ext>
            </a:extLst>
          </p:cNvPr>
          <p:cNvSpPr>
            <a:spLocks xmlns:a="http://schemas.openxmlformats.org/drawingml/2006/main" noGrp="1"/>
          </p:cNvSpPr>
          <p:nvPr/>
        </p:nvSpPr>
        <p:spPr>
          <a:xfrm xmlns:a="http://schemas.openxmlformats.org/drawingml/2006/main">
            <a:off x="571500" y="3562350"/>
            <a:ext cx="6191250"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0">
                <a:solidFill>
                  <a:srgbClr val="B7D3E9"/>
                </a:solidFill>
                <a:latin typeface="Arial"/>
                <a:ea typeface="Arial"/>
                <a:cs typeface="Arial"/>
              </a:defRPr>
            </a:pPr>
            <a:r>
              <a:rPr sz="2250" b="0">
                <a:solidFill>
                  <a:srgbClr val="B7D3E9"/>
                </a:solidFill>
                <a:latin typeface="Arial"/>
                <a:ea typeface="Arial"/>
                <a:cs typeface="Arial"/>
              </a:rPr>
              <a:t>responder capture within the top 20%</a:t>
            </a:r>
          </a:p>
        </p:txBody>
      </p:sp>
      <p:sp>
        <p:nvSpPr>
          <p:cNvPr id="10" name="text-535">
            <a:extLst xmlns:a="http://schemas.openxmlformats.org/drawingml/2006/main">
              <a:ext uri="{FF2B5EF4-FFF2-40B4-BE49-F238E27FC236}">
                <a16:creationId xmlns:a16="http://schemas.microsoft.com/office/drawing/2014/main" id="{575123AC-7FB1-4D2E-8E2C-6D9BC5F014E1}"/>
              </a:ext>
            </a:extLst>
          </p:cNvPr>
          <p:cNvSpPr>
            <a:spLocks xmlns:a="http://schemas.openxmlformats.org/drawingml/2006/main" noGrp="1"/>
          </p:cNvSpPr>
          <p:nvPr/>
        </p:nvSpPr>
        <p:spPr>
          <a:xfrm xmlns:a="http://schemas.openxmlformats.org/drawingml/2006/main">
            <a:off x="7229475" y="2390775"/>
            <a:ext cx="438150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01  Freeze the score and contact policy</a:t>
            </a:r>
          </a:p>
        </p:txBody>
      </p:sp>
      <p:sp>
        <p:nvSpPr>
          <p:cNvPr id="11" name="text-536">
            <a:extLst xmlns:a="http://schemas.openxmlformats.org/drawingml/2006/main">
              <a:ext uri="{FF2B5EF4-FFF2-40B4-BE49-F238E27FC236}">
                <a16:creationId xmlns:a16="http://schemas.microsoft.com/office/drawing/2014/main" id="{5683C27C-0942-4BD5-AC4E-DF0C2E387550}"/>
              </a:ext>
            </a:extLst>
          </p:cNvPr>
          <p:cNvSpPr>
            <a:spLocks xmlns:a="http://schemas.openxmlformats.org/drawingml/2006/main" noGrp="1"/>
          </p:cNvSpPr>
          <p:nvPr/>
        </p:nvSpPr>
        <p:spPr>
          <a:xfrm xmlns:a="http://schemas.openxmlformats.org/drawingml/2006/main">
            <a:off x="7229475" y="3352800"/>
            <a:ext cx="438150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02  Run a randomized pilot</a:t>
            </a:r>
          </a:p>
        </p:txBody>
      </p:sp>
      <p:sp>
        <p:nvSpPr>
          <p:cNvPr id="12" name="text-537">
            <a:extLst xmlns:a="http://schemas.openxmlformats.org/drawingml/2006/main">
              <a:ext uri="{FF2B5EF4-FFF2-40B4-BE49-F238E27FC236}">
                <a16:creationId xmlns:a16="http://schemas.microsoft.com/office/drawing/2014/main" id="{1AA400CF-CE44-42FC-BC75-A5E3A9AF9746}"/>
              </a:ext>
            </a:extLst>
          </p:cNvPr>
          <p:cNvSpPr>
            <a:spLocks xmlns:a="http://schemas.openxmlformats.org/drawingml/2006/main" noGrp="1"/>
          </p:cNvSpPr>
          <p:nvPr/>
        </p:nvSpPr>
        <p:spPr>
          <a:xfrm xmlns:a="http://schemas.openxmlformats.org/drawingml/2006/main">
            <a:off x="7229475" y="4314825"/>
            <a:ext cx="438150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03  Scale on measured contribution</a:t>
            </a:r>
          </a:p>
        </p:txBody>
      </p:sp>
      <p:sp>
        <p:nvSpPr>
          <p:cNvPr id="13" name="text-538">
            <a:extLst xmlns:a="http://schemas.openxmlformats.org/drawingml/2006/main">
              <a:ext uri="{FF2B5EF4-FFF2-40B4-BE49-F238E27FC236}">
                <a16:creationId xmlns:a16="http://schemas.microsoft.com/office/drawing/2014/main" id="{87B4F4B1-B201-418C-9250-02D257BBD127}"/>
              </a:ext>
            </a:extLst>
          </p:cNvPr>
          <p:cNvSpPr>
            <a:spLocks xmlns:a="http://schemas.openxmlformats.org/drawingml/2006/main" noGrp="1"/>
          </p:cNvSpPr>
          <p:nvPr/>
        </p:nvSpPr>
        <p:spPr>
          <a:xfrm xmlns:a="http://schemas.openxmlformats.org/drawingml/2006/main">
            <a:off x="571500" y="5372100"/>
            <a:ext cx="11049000" cy="657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625" b="0">
                <a:solidFill>
                  <a:srgbClr val="FFFFFF"/>
                </a:solidFill>
                <a:latin typeface="Georgia"/>
                <a:ea typeface="Georgia"/>
                <a:cs typeface="Georgia"/>
              </a:defRPr>
            </a:pPr>
            <a:r>
              <a:rPr sz="2625" b="0">
                <a:solidFill>
                  <a:srgbClr val="FFFFFF"/>
                </a:solidFill>
                <a:latin typeface="Georgia"/>
                <a:ea typeface="Georgia"/>
                <a:cs typeface="Georgia"/>
              </a:rPr>
              <a:t>The model prioritizes the list. The next campaign validates the value.</a:t>
            </a:r>
          </a:p>
        </p:txBody>
      </p:sp>
    </p:spTree>
    <p:extLst>
      <p:ext uri="{BB962C8B-B14F-4D97-AF65-F5344CB8AC3E}">
        <p14:creationId xmlns:p14="http://schemas.microsoft.com/office/powerpoint/2010/main" val="210399607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5E7D52A3-BD5B-4988-8C87-0327563D24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283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F94EC108-7805-4A4D-B58E-0AA0C87574A6}"/>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1AD674E2-DE2F-438D-8F63-43E63AE5B7A8}"/>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B7D3E9"/>
                </a:solidFill>
                <a:latin typeface="Arial"/>
                <a:ea typeface="Arial"/>
                <a:cs typeface="Arial"/>
              </a:defRPr>
            </a:pPr>
            <a:r>
              <a:rPr sz="1125" b="1">
                <a:solidFill>
                  <a:srgbClr val="B7D3E9"/>
                </a:solidFill>
                <a:latin typeface="Arial"/>
                <a:ea typeface="Arial"/>
                <a:cs typeface="Arial"/>
              </a:rPr>
              <a:t>DISCUSSION</a:t>
            </a:r>
          </a:p>
        </p:txBody>
      </p:sp>
      <p:sp>
        <p:nvSpPr>
          <p:cNvPr id="4" name="text-539">
            <a:extLst xmlns:a="http://schemas.openxmlformats.org/drawingml/2006/main">
              <a:ext uri="{FF2B5EF4-FFF2-40B4-BE49-F238E27FC236}">
                <a16:creationId xmlns:a16="http://schemas.microsoft.com/office/drawing/2014/main" id="{FF6F6B16-606F-42F1-8B97-D17DC581C7E0}"/>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FFFFFF"/>
                </a:solidFill>
                <a:latin typeface="Georgia"/>
                <a:ea typeface="Georgia"/>
                <a:cs typeface="Georgia"/>
              </a:defRPr>
            </a:pPr>
            <a:r>
              <a:rPr sz="3300" b="0">
                <a:solidFill>
                  <a:srgbClr val="FFFFFF"/>
                </a:solidFill>
                <a:latin typeface="Georgia"/>
                <a:ea typeface="Georgia"/>
                <a:cs typeface="Georgia"/>
              </a:rPr>
              <a:t>Which constraint should determine the calling list?</a:t>
            </a:r>
          </a:p>
        </p:txBody>
      </p:sp>
      <p:sp>
        <p:nvSpPr>
          <p:cNvPr id="5" name="shape-540">
            <a:extLst xmlns:a="http://schemas.openxmlformats.org/drawingml/2006/main">
              <a:ext uri="{FF2B5EF4-FFF2-40B4-BE49-F238E27FC236}">
                <a16:creationId xmlns:a16="http://schemas.microsoft.com/office/drawing/2014/main" id="{3A0A595D-8079-4302-A224-6D41406BC4B4}"/>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3F566D"/>
          </a:solidFill>
          <a:ln xmlns:a="http://schemas.openxmlformats.org/drawingml/2006/main" w="0">
            <a:noFill/>
            <a:prstDash val="solid"/>
          </a:ln>
        </p:spPr>
      </p:sp>
      <p:sp>
        <p:nvSpPr>
          <p:cNvPr id="6" name="text-541">
            <a:extLst xmlns:a="http://schemas.openxmlformats.org/drawingml/2006/main">
              <a:ext uri="{FF2B5EF4-FFF2-40B4-BE49-F238E27FC236}">
                <a16:creationId xmlns:a16="http://schemas.microsoft.com/office/drawing/2014/main" id="{F2A709A4-6035-42BD-95A7-A6BE9A1CFFD2}"/>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B7C6D5"/>
                </a:solidFill>
                <a:latin typeface="Arial"/>
                <a:ea typeface="Arial"/>
                <a:cs typeface="Arial"/>
              </a:defRPr>
            </a:pPr>
            <a:r>
              <a:rPr sz="975" b="0">
                <a:solidFill>
                  <a:srgbClr val="B7C6D5"/>
                </a:solidFill>
                <a:latin typeface="Arial"/>
                <a:ea typeface="Arial"/>
                <a:cs typeface="Arial"/>
              </a:rPr>
              <a:t>Discussion prompts | appendix follows</a:t>
            </a:r>
          </a:p>
        </p:txBody>
      </p:sp>
      <p:sp>
        <p:nvSpPr>
          <p:cNvPr id="7" name="text-542">
            <a:extLst xmlns:a="http://schemas.openxmlformats.org/drawingml/2006/main">
              <a:ext uri="{FF2B5EF4-FFF2-40B4-BE49-F238E27FC236}">
                <a16:creationId xmlns:a16="http://schemas.microsoft.com/office/drawing/2014/main" id="{1B0BC376-A7FD-4EA3-8C22-32B468B52F57}"/>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B7C6D5"/>
                </a:solidFill>
                <a:latin typeface="Arial"/>
                <a:ea typeface="Arial"/>
                <a:cs typeface="Arial"/>
              </a:defRPr>
            </a:pPr>
            <a:r>
              <a:rPr sz="1200" b="0">
                <a:solidFill>
                  <a:srgbClr val="B7C6D5"/>
                </a:solidFill>
                <a:latin typeface="Arial"/>
                <a:ea typeface="Arial"/>
                <a:cs typeface="Arial"/>
              </a:rPr>
              <a:t>26</a:t>
            </a:r>
          </a:p>
        </p:txBody>
      </p:sp>
      <p:sp>
        <p:nvSpPr>
          <p:cNvPr id="8" name="text-543">
            <a:extLst xmlns:a="http://schemas.openxmlformats.org/drawingml/2006/main">
              <a:ext uri="{FF2B5EF4-FFF2-40B4-BE49-F238E27FC236}">
                <a16:creationId xmlns:a16="http://schemas.microsoft.com/office/drawing/2014/main" id="{56515F44-59F7-4F75-A671-21BB4788274C}"/>
              </a:ext>
            </a:extLst>
          </p:cNvPr>
          <p:cNvSpPr>
            <a:spLocks xmlns:a="http://schemas.openxmlformats.org/drawingml/2006/main" noGrp="1"/>
          </p:cNvSpPr>
          <p:nvPr/>
        </p:nvSpPr>
        <p:spPr>
          <a:xfrm xmlns:a="http://schemas.openxmlformats.org/drawingml/2006/main">
            <a:off x="571500" y="2438400"/>
            <a:ext cx="55245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FFFFFF"/>
                </a:solidFill>
                <a:latin typeface="Georgia"/>
                <a:ea typeface="Georgia"/>
                <a:cs typeface="Georgia"/>
              </a:defRPr>
            </a:pPr>
            <a:r>
              <a:rPr sz="3300" b="0">
                <a:solidFill>
                  <a:srgbClr val="FFFFFF"/>
                </a:solidFill>
                <a:latin typeface="Georgia"/>
                <a:ea typeface="Georgia"/>
                <a:cs typeface="Georgia"/>
              </a:rPr>
              <a:t>Call capacity</a:t>
            </a:r>
          </a:p>
        </p:txBody>
      </p:sp>
      <p:sp>
        <p:nvSpPr>
          <p:cNvPr id="9" name="text-544">
            <a:extLst xmlns:a="http://schemas.openxmlformats.org/drawingml/2006/main">
              <a:ext uri="{FF2B5EF4-FFF2-40B4-BE49-F238E27FC236}">
                <a16:creationId xmlns:a16="http://schemas.microsoft.com/office/drawing/2014/main" id="{3645C096-912D-4021-8DE5-55382009C18B}"/>
              </a:ext>
            </a:extLst>
          </p:cNvPr>
          <p:cNvSpPr>
            <a:spLocks xmlns:a="http://schemas.openxmlformats.org/drawingml/2006/main" noGrp="1"/>
          </p:cNvSpPr>
          <p:nvPr/>
        </p:nvSpPr>
        <p:spPr>
          <a:xfrm xmlns:a="http://schemas.openxmlformats.org/drawingml/2006/main">
            <a:off x="571500" y="3124200"/>
            <a:ext cx="10572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0">
                <a:solidFill>
                  <a:srgbClr val="B7D3E9"/>
                </a:solidFill>
                <a:latin typeface="Arial"/>
                <a:ea typeface="Arial"/>
                <a:cs typeface="Arial"/>
              </a:defRPr>
            </a:pPr>
            <a:r>
              <a:rPr sz="2025" b="0">
                <a:solidFill>
                  <a:srgbClr val="B7D3E9"/>
                </a:solidFill>
                <a:latin typeface="Arial"/>
                <a:ea typeface="Arial"/>
                <a:cs typeface="Arial"/>
              </a:rPr>
              <a:t>How many customers can the team reach?</a:t>
            </a:r>
          </a:p>
        </p:txBody>
      </p:sp>
      <p:sp>
        <p:nvSpPr>
          <p:cNvPr id="10" name="text-545">
            <a:extLst xmlns:a="http://schemas.openxmlformats.org/drawingml/2006/main">
              <a:ext uri="{FF2B5EF4-FFF2-40B4-BE49-F238E27FC236}">
                <a16:creationId xmlns:a16="http://schemas.microsoft.com/office/drawing/2014/main" id="{C5ACF251-81A9-4D41-9BAD-B2A1864167EF}"/>
              </a:ext>
            </a:extLst>
          </p:cNvPr>
          <p:cNvSpPr>
            <a:spLocks xmlns:a="http://schemas.openxmlformats.org/drawingml/2006/main" noGrp="1"/>
          </p:cNvSpPr>
          <p:nvPr/>
        </p:nvSpPr>
        <p:spPr>
          <a:xfrm xmlns:a="http://schemas.openxmlformats.org/drawingml/2006/main">
            <a:off x="571500" y="4000500"/>
            <a:ext cx="55245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FFFFFF"/>
                </a:solidFill>
                <a:latin typeface="Georgia"/>
                <a:ea typeface="Georgia"/>
                <a:cs typeface="Georgia"/>
              </a:defRPr>
            </a:pPr>
            <a:r>
              <a:rPr sz="3300" b="0">
                <a:solidFill>
                  <a:srgbClr val="FFFFFF"/>
                </a:solidFill>
                <a:latin typeface="Georgia"/>
                <a:ea typeface="Georgia"/>
                <a:cs typeface="Georgia"/>
              </a:rPr>
              <a:t>Cost of mistakes</a:t>
            </a:r>
          </a:p>
        </p:txBody>
      </p:sp>
      <p:sp>
        <p:nvSpPr>
          <p:cNvPr id="11" name="text-546">
            <a:extLst xmlns:a="http://schemas.openxmlformats.org/drawingml/2006/main">
              <a:ext uri="{FF2B5EF4-FFF2-40B4-BE49-F238E27FC236}">
                <a16:creationId xmlns:a16="http://schemas.microsoft.com/office/drawing/2014/main" id="{9BEC86F8-89C3-4533-9921-EB0C83B4FED0}"/>
              </a:ext>
            </a:extLst>
          </p:cNvPr>
          <p:cNvSpPr>
            <a:spLocks xmlns:a="http://schemas.openxmlformats.org/drawingml/2006/main" noGrp="1"/>
          </p:cNvSpPr>
          <p:nvPr/>
        </p:nvSpPr>
        <p:spPr>
          <a:xfrm xmlns:a="http://schemas.openxmlformats.org/drawingml/2006/main">
            <a:off x="571500" y="4686300"/>
            <a:ext cx="10763250" cy="714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025" b="0">
                <a:solidFill>
                  <a:srgbClr val="B7D3E9"/>
                </a:solidFill>
                <a:latin typeface="Arial"/>
                <a:ea typeface="Arial"/>
                <a:cs typeface="Arial"/>
              </a:defRPr>
            </a:pPr>
            <a:r>
              <a:rPr sz="2025" b="0">
                <a:solidFill>
                  <a:srgbClr val="B7D3E9"/>
                </a:solidFill>
                <a:latin typeface="Arial"/>
                <a:ea typeface="Arial"/>
                <a:cs typeface="Arial"/>
              </a:rPr>
              <a:t>What is the cost of an unsuccessful call versus a missed buyer?</a:t>
            </a:r>
          </a:p>
        </p:txBody>
      </p:sp>
      <p:sp>
        <p:nvSpPr>
          <p:cNvPr id="12" name="text-547">
            <a:extLst xmlns:a="http://schemas.openxmlformats.org/drawingml/2006/main">
              <a:ext uri="{FF2B5EF4-FFF2-40B4-BE49-F238E27FC236}">
                <a16:creationId xmlns:a16="http://schemas.microsoft.com/office/drawing/2014/main" id="{58BC8692-032D-47FC-9EE8-1B9D1BC691B7}"/>
              </a:ext>
            </a:extLst>
          </p:cNvPr>
          <p:cNvSpPr>
            <a:spLocks xmlns:a="http://schemas.openxmlformats.org/drawingml/2006/main" noGrp="1"/>
          </p:cNvSpPr>
          <p:nvPr/>
        </p:nvSpPr>
        <p:spPr>
          <a:xfrm xmlns:a="http://schemas.openxmlformats.org/drawingml/2006/main">
            <a:off x="571500" y="5838825"/>
            <a:ext cx="110490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0">
                <a:solidFill>
                  <a:srgbClr val="B7D3E9"/>
                </a:solidFill>
                <a:latin typeface="Arial"/>
                <a:ea typeface="Arial"/>
                <a:cs typeface="Arial"/>
              </a:defRPr>
            </a:pPr>
            <a:r>
              <a:rPr sz="1425" b="0">
                <a:solidFill>
                  <a:srgbClr val="B7D3E9"/>
                </a:solidFill>
                <a:latin typeface="Arial"/>
                <a:ea typeface="Arial"/>
                <a:cs typeface="Arial"/>
              </a:rPr>
              <a:t>Backup slides: metrics · tuned parameters · feature map · technical questions</a:t>
            </a:r>
          </a:p>
        </p:txBody>
      </p:sp>
    </p:spTree>
    <p:extLst>
      <p:ext uri="{BB962C8B-B14F-4D97-AF65-F5344CB8AC3E}">
        <p14:creationId xmlns:p14="http://schemas.microsoft.com/office/powerpoint/2010/main" val="8541757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4B012A05-ED8B-4A83-B32D-41F7800E76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E6F78697-A936-458E-9983-0CB9B7C1C389}"/>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AECBD3FE-7F2A-43CB-8A00-9FBD190782CD}"/>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BACKUP / METRICS</a:t>
            </a:r>
          </a:p>
        </p:txBody>
      </p:sp>
      <p:sp>
        <p:nvSpPr>
          <p:cNvPr id="4" name="text-548">
            <a:extLst xmlns:a="http://schemas.openxmlformats.org/drawingml/2006/main">
              <a:ext uri="{FF2B5EF4-FFF2-40B4-BE49-F238E27FC236}">
                <a16:creationId xmlns:a16="http://schemas.microsoft.com/office/drawing/2014/main" id="{F02EF8B7-FD65-492E-A37C-5EC59E1A1152}"/>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Initial results expose the accuracy-versus-recall tradeoff</a:t>
            </a:r>
          </a:p>
        </p:txBody>
      </p:sp>
      <p:sp>
        <p:nvSpPr>
          <p:cNvPr id="5" name="shape-549">
            <a:extLst xmlns:a="http://schemas.openxmlformats.org/drawingml/2006/main">
              <a:ext uri="{FF2B5EF4-FFF2-40B4-BE49-F238E27FC236}">
                <a16:creationId xmlns:a16="http://schemas.microsoft.com/office/drawing/2014/main" id="{84C06897-AC71-4FDA-A107-066235A53F58}"/>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550">
            <a:extLst xmlns:a="http://schemas.openxmlformats.org/drawingml/2006/main">
              <a:ext uri="{FF2B5EF4-FFF2-40B4-BE49-F238E27FC236}">
                <a16:creationId xmlns:a16="http://schemas.microsoft.com/office/drawing/2014/main" id="{CD58C146-B413-440B-9CD2-595E416AF106}"/>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§5 | complete initial metrics</a:t>
            </a:r>
          </a:p>
        </p:txBody>
      </p:sp>
      <p:sp>
        <p:nvSpPr>
          <p:cNvPr id="7" name="text-551">
            <a:extLst xmlns:a="http://schemas.openxmlformats.org/drawingml/2006/main">
              <a:ext uri="{FF2B5EF4-FFF2-40B4-BE49-F238E27FC236}">
                <a16:creationId xmlns:a16="http://schemas.microsoft.com/office/drawing/2014/main" id="{E988EDEB-C312-4260-AEAA-660E7EA6E675}"/>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27</a:t>
            </a:r>
          </a:p>
        </p:txBody>
      </p:sp>
      <p:sp>
        <p:nvSpPr>
          <p:cNvPr id="8" name="shape-552">
            <a:extLst xmlns:a="http://schemas.openxmlformats.org/drawingml/2006/main">
              <a:ext uri="{FF2B5EF4-FFF2-40B4-BE49-F238E27FC236}">
                <a16:creationId xmlns:a16="http://schemas.microsoft.com/office/drawing/2014/main" id="{3563003D-12E3-47AB-B631-CB4B0BE2A900}"/>
              </a:ext>
            </a:extLst>
          </p:cNvPr>
          <p:cNvSpPr>
            <a:spLocks xmlns:a="http://schemas.openxmlformats.org/drawingml/2006/main" noGrp="1"/>
          </p:cNvSpPr>
          <p:nvPr/>
        </p:nvSpPr>
        <p:spPr>
          <a:xfrm xmlns:a="http://schemas.openxmlformats.org/drawingml/2006/main">
            <a:off x="571500" y="2200275"/>
            <a:ext cx="11049000" cy="457200"/>
          </a:xfrm>
          <a:prstGeom xmlns:a="http://schemas.openxmlformats.org/drawingml/2006/main" prst="rect">
            <a:avLst/>
          </a:prstGeom>
          <a:solidFill xmlns:a="http://schemas.openxmlformats.org/drawingml/2006/main">
            <a:srgbClr val="182D43"/>
          </a:solidFill>
          <a:ln xmlns:a="http://schemas.openxmlformats.org/drawingml/2006/main" w="0">
            <a:noFill/>
            <a:prstDash val="solid"/>
          </a:ln>
        </p:spPr>
      </p:sp>
      <p:sp>
        <p:nvSpPr>
          <p:cNvPr id="9" name="text-553">
            <a:extLst xmlns:a="http://schemas.openxmlformats.org/drawingml/2006/main">
              <a:ext uri="{FF2B5EF4-FFF2-40B4-BE49-F238E27FC236}">
                <a16:creationId xmlns:a16="http://schemas.microsoft.com/office/drawing/2014/main" id="{39F00616-BB88-4498-9D41-E581F833566B}"/>
              </a:ext>
            </a:extLst>
          </p:cNvPr>
          <p:cNvSpPr>
            <a:spLocks xmlns:a="http://schemas.openxmlformats.org/drawingml/2006/main" noGrp="1"/>
          </p:cNvSpPr>
          <p:nvPr/>
        </p:nvSpPr>
        <p:spPr>
          <a:xfrm xmlns:a="http://schemas.openxmlformats.org/drawingml/2006/main">
            <a:off x="685800" y="2314575"/>
            <a:ext cx="26289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Model</a:t>
            </a:r>
          </a:p>
        </p:txBody>
      </p:sp>
      <p:sp>
        <p:nvSpPr>
          <p:cNvPr id="10" name="text-554">
            <a:extLst xmlns:a="http://schemas.openxmlformats.org/drawingml/2006/main">
              <a:ext uri="{FF2B5EF4-FFF2-40B4-BE49-F238E27FC236}">
                <a16:creationId xmlns:a16="http://schemas.microsoft.com/office/drawing/2014/main" id="{BF53CED6-9E53-4773-A9CA-FD658DE23F8E}"/>
              </a:ext>
            </a:extLst>
          </p:cNvPr>
          <p:cNvSpPr>
            <a:spLocks xmlns:a="http://schemas.openxmlformats.org/drawingml/2006/main" noGrp="1"/>
          </p:cNvSpPr>
          <p:nvPr/>
        </p:nvSpPr>
        <p:spPr>
          <a:xfrm xmlns:a="http://schemas.openxmlformats.org/drawingml/2006/main">
            <a:off x="3543300" y="2314575"/>
            <a:ext cx="10096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Accuracy</a:t>
            </a:r>
          </a:p>
        </p:txBody>
      </p:sp>
      <p:sp>
        <p:nvSpPr>
          <p:cNvPr id="11" name="text-555">
            <a:extLst xmlns:a="http://schemas.openxmlformats.org/drawingml/2006/main">
              <a:ext uri="{FF2B5EF4-FFF2-40B4-BE49-F238E27FC236}">
                <a16:creationId xmlns:a16="http://schemas.microsoft.com/office/drawing/2014/main" id="{B11BC9D9-E56B-4F6E-80D5-9BCEF06F4F20}"/>
              </a:ext>
            </a:extLst>
          </p:cNvPr>
          <p:cNvSpPr>
            <a:spLocks xmlns:a="http://schemas.openxmlformats.org/drawingml/2006/main" noGrp="1"/>
          </p:cNvSpPr>
          <p:nvPr/>
        </p:nvSpPr>
        <p:spPr>
          <a:xfrm xmlns:a="http://schemas.openxmlformats.org/drawingml/2006/main">
            <a:off x="4781550" y="2314575"/>
            <a:ext cx="11049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Precision</a:t>
            </a:r>
          </a:p>
        </p:txBody>
      </p:sp>
      <p:sp>
        <p:nvSpPr>
          <p:cNvPr id="12" name="text-556">
            <a:extLst xmlns:a="http://schemas.openxmlformats.org/drawingml/2006/main">
              <a:ext uri="{FF2B5EF4-FFF2-40B4-BE49-F238E27FC236}">
                <a16:creationId xmlns:a16="http://schemas.microsoft.com/office/drawing/2014/main" id="{CEEB9956-CCA3-4F22-AB0A-E623771B650D}"/>
              </a:ext>
            </a:extLst>
          </p:cNvPr>
          <p:cNvSpPr>
            <a:spLocks xmlns:a="http://schemas.openxmlformats.org/drawingml/2006/main" noGrp="1"/>
          </p:cNvSpPr>
          <p:nvPr/>
        </p:nvSpPr>
        <p:spPr>
          <a:xfrm xmlns:a="http://schemas.openxmlformats.org/drawingml/2006/main">
            <a:off x="6115050" y="2314575"/>
            <a:ext cx="100965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Recall</a:t>
            </a:r>
          </a:p>
        </p:txBody>
      </p:sp>
      <p:sp>
        <p:nvSpPr>
          <p:cNvPr id="13" name="text-557">
            <a:extLst xmlns:a="http://schemas.openxmlformats.org/drawingml/2006/main">
              <a:ext uri="{FF2B5EF4-FFF2-40B4-BE49-F238E27FC236}">
                <a16:creationId xmlns:a16="http://schemas.microsoft.com/office/drawing/2014/main" id="{5C687731-294F-4B8C-AAEF-EB17413874AD}"/>
              </a:ext>
            </a:extLst>
          </p:cNvPr>
          <p:cNvSpPr>
            <a:spLocks xmlns:a="http://schemas.openxmlformats.org/drawingml/2006/main" noGrp="1"/>
          </p:cNvSpPr>
          <p:nvPr/>
        </p:nvSpPr>
        <p:spPr>
          <a:xfrm xmlns:a="http://schemas.openxmlformats.org/drawingml/2006/main">
            <a:off x="7353300" y="2314575"/>
            <a:ext cx="9144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F1</a:t>
            </a:r>
          </a:p>
        </p:txBody>
      </p:sp>
      <p:sp>
        <p:nvSpPr>
          <p:cNvPr id="14" name="text-558">
            <a:extLst xmlns:a="http://schemas.openxmlformats.org/drawingml/2006/main">
              <a:ext uri="{FF2B5EF4-FFF2-40B4-BE49-F238E27FC236}">
                <a16:creationId xmlns:a16="http://schemas.microsoft.com/office/drawing/2014/main" id="{83449526-5F1E-4A8C-9E26-DD309C254A2B}"/>
              </a:ext>
            </a:extLst>
          </p:cNvPr>
          <p:cNvSpPr>
            <a:spLocks xmlns:a="http://schemas.openxmlformats.org/drawingml/2006/main" noGrp="1"/>
          </p:cNvSpPr>
          <p:nvPr/>
        </p:nvSpPr>
        <p:spPr>
          <a:xfrm xmlns:a="http://schemas.openxmlformats.org/drawingml/2006/main">
            <a:off x="8496300" y="2314575"/>
            <a:ext cx="11049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ROC AUC</a:t>
            </a:r>
          </a:p>
        </p:txBody>
      </p:sp>
      <p:sp>
        <p:nvSpPr>
          <p:cNvPr id="15" name="text-559">
            <a:extLst xmlns:a="http://schemas.openxmlformats.org/drawingml/2006/main">
              <a:ext uri="{FF2B5EF4-FFF2-40B4-BE49-F238E27FC236}">
                <a16:creationId xmlns:a16="http://schemas.microsoft.com/office/drawing/2014/main" id="{637487FF-EB1B-4E2F-8516-EFC7FE0BC825}"/>
              </a:ext>
            </a:extLst>
          </p:cNvPr>
          <p:cNvSpPr>
            <a:spLocks xmlns:a="http://schemas.openxmlformats.org/drawingml/2006/main" noGrp="1"/>
          </p:cNvSpPr>
          <p:nvPr/>
        </p:nvSpPr>
        <p:spPr>
          <a:xfrm xmlns:a="http://schemas.openxmlformats.org/drawingml/2006/main">
            <a:off x="9829800" y="2314575"/>
            <a:ext cx="1104900" cy="228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AP</a:t>
            </a:r>
          </a:p>
        </p:txBody>
      </p:sp>
      <p:sp>
        <p:nvSpPr>
          <p:cNvPr id="16" name="text-560">
            <a:extLst xmlns:a="http://schemas.openxmlformats.org/drawingml/2006/main">
              <a:ext uri="{FF2B5EF4-FFF2-40B4-BE49-F238E27FC236}">
                <a16:creationId xmlns:a16="http://schemas.microsoft.com/office/drawing/2014/main" id="{1AE8416D-45B3-44C8-8E54-AB52D38D7FE3}"/>
              </a:ext>
            </a:extLst>
          </p:cNvPr>
          <p:cNvSpPr>
            <a:spLocks xmlns:a="http://schemas.openxmlformats.org/drawingml/2006/main" noGrp="1"/>
          </p:cNvSpPr>
          <p:nvPr/>
        </p:nvSpPr>
        <p:spPr>
          <a:xfrm xmlns:a="http://schemas.openxmlformats.org/drawingml/2006/main">
            <a:off x="685800" y="2771775"/>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Dummy</a:t>
            </a:r>
          </a:p>
        </p:txBody>
      </p:sp>
      <p:sp>
        <p:nvSpPr>
          <p:cNvPr id="17" name="text-561">
            <a:extLst xmlns:a="http://schemas.openxmlformats.org/drawingml/2006/main">
              <a:ext uri="{FF2B5EF4-FFF2-40B4-BE49-F238E27FC236}">
                <a16:creationId xmlns:a16="http://schemas.microsoft.com/office/drawing/2014/main" id="{85F8914F-FA3E-4B41-B821-1984C589829A}"/>
              </a:ext>
            </a:extLst>
          </p:cNvPr>
          <p:cNvSpPr>
            <a:spLocks xmlns:a="http://schemas.openxmlformats.org/drawingml/2006/main" noGrp="1"/>
          </p:cNvSpPr>
          <p:nvPr/>
        </p:nvSpPr>
        <p:spPr>
          <a:xfrm xmlns:a="http://schemas.openxmlformats.org/drawingml/2006/main">
            <a:off x="3543300" y="2771775"/>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.850</a:t>
            </a:r>
          </a:p>
        </p:txBody>
      </p:sp>
      <p:sp>
        <p:nvSpPr>
          <p:cNvPr id="18" name="text-562">
            <a:extLst xmlns:a="http://schemas.openxmlformats.org/drawingml/2006/main">
              <a:ext uri="{FF2B5EF4-FFF2-40B4-BE49-F238E27FC236}">
                <a16:creationId xmlns:a16="http://schemas.microsoft.com/office/drawing/2014/main" id="{C6E40CF4-0928-4C3D-A98F-3F264AFF25C0}"/>
              </a:ext>
            </a:extLst>
          </p:cNvPr>
          <p:cNvSpPr>
            <a:spLocks xmlns:a="http://schemas.openxmlformats.org/drawingml/2006/main" noGrp="1"/>
          </p:cNvSpPr>
          <p:nvPr/>
        </p:nvSpPr>
        <p:spPr>
          <a:xfrm xmlns:a="http://schemas.openxmlformats.org/drawingml/2006/main">
            <a:off x="4781550" y="2771775"/>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.000</a:t>
            </a:r>
          </a:p>
        </p:txBody>
      </p:sp>
      <p:sp>
        <p:nvSpPr>
          <p:cNvPr id="19" name="text-563">
            <a:extLst xmlns:a="http://schemas.openxmlformats.org/drawingml/2006/main">
              <a:ext uri="{FF2B5EF4-FFF2-40B4-BE49-F238E27FC236}">
                <a16:creationId xmlns:a16="http://schemas.microsoft.com/office/drawing/2014/main" id="{8DB19E63-0309-4E63-A1D0-FD5D2F3FE5CF}"/>
              </a:ext>
            </a:extLst>
          </p:cNvPr>
          <p:cNvSpPr>
            <a:spLocks xmlns:a="http://schemas.openxmlformats.org/drawingml/2006/main" noGrp="1"/>
          </p:cNvSpPr>
          <p:nvPr/>
        </p:nvSpPr>
        <p:spPr>
          <a:xfrm xmlns:a="http://schemas.openxmlformats.org/drawingml/2006/main">
            <a:off x="6115050" y="2771775"/>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.000</a:t>
            </a:r>
          </a:p>
        </p:txBody>
      </p:sp>
      <p:sp>
        <p:nvSpPr>
          <p:cNvPr id="20" name="text-564">
            <a:extLst xmlns:a="http://schemas.openxmlformats.org/drawingml/2006/main">
              <a:ext uri="{FF2B5EF4-FFF2-40B4-BE49-F238E27FC236}">
                <a16:creationId xmlns:a16="http://schemas.microsoft.com/office/drawing/2014/main" id="{49C4A469-510E-4AFD-B16F-161D3B1C4BE0}"/>
              </a:ext>
            </a:extLst>
          </p:cNvPr>
          <p:cNvSpPr>
            <a:spLocks xmlns:a="http://schemas.openxmlformats.org/drawingml/2006/main" noGrp="1"/>
          </p:cNvSpPr>
          <p:nvPr/>
        </p:nvSpPr>
        <p:spPr>
          <a:xfrm xmlns:a="http://schemas.openxmlformats.org/drawingml/2006/main">
            <a:off x="7353300" y="2771775"/>
            <a:ext cx="914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.000</a:t>
            </a:r>
          </a:p>
        </p:txBody>
      </p:sp>
      <p:sp>
        <p:nvSpPr>
          <p:cNvPr id="21" name="text-565">
            <a:extLst xmlns:a="http://schemas.openxmlformats.org/drawingml/2006/main">
              <a:ext uri="{FF2B5EF4-FFF2-40B4-BE49-F238E27FC236}">
                <a16:creationId xmlns:a16="http://schemas.microsoft.com/office/drawing/2014/main" id="{54AC37E7-16FD-494D-8493-234F96532424}"/>
              </a:ext>
            </a:extLst>
          </p:cNvPr>
          <p:cNvSpPr>
            <a:spLocks xmlns:a="http://schemas.openxmlformats.org/drawingml/2006/main" noGrp="1"/>
          </p:cNvSpPr>
          <p:nvPr/>
        </p:nvSpPr>
        <p:spPr>
          <a:xfrm xmlns:a="http://schemas.openxmlformats.org/drawingml/2006/main">
            <a:off x="8496300" y="2771775"/>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.500</a:t>
            </a:r>
          </a:p>
        </p:txBody>
      </p:sp>
      <p:sp>
        <p:nvSpPr>
          <p:cNvPr id="22" name="text-566">
            <a:extLst xmlns:a="http://schemas.openxmlformats.org/drawingml/2006/main">
              <a:ext uri="{FF2B5EF4-FFF2-40B4-BE49-F238E27FC236}">
                <a16:creationId xmlns:a16="http://schemas.microsoft.com/office/drawing/2014/main" id="{D1D2F9E5-2C85-4208-B39C-14B189B13784}"/>
              </a:ext>
            </a:extLst>
          </p:cNvPr>
          <p:cNvSpPr>
            <a:spLocks xmlns:a="http://schemas.openxmlformats.org/drawingml/2006/main" noGrp="1"/>
          </p:cNvSpPr>
          <p:nvPr/>
        </p:nvSpPr>
        <p:spPr>
          <a:xfrm xmlns:a="http://schemas.openxmlformats.org/drawingml/2006/main">
            <a:off x="9829800" y="2771775"/>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.150</a:t>
            </a:r>
          </a:p>
        </p:txBody>
      </p:sp>
      <p:sp>
        <p:nvSpPr>
          <p:cNvPr id="23" name="shape-567">
            <a:extLst xmlns:a="http://schemas.openxmlformats.org/drawingml/2006/main">
              <a:ext uri="{FF2B5EF4-FFF2-40B4-BE49-F238E27FC236}">
                <a16:creationId xmlns:a16="http://schemas.microsoft.com/office/drawing/2014/main" id="{8A5C100F-6452-4FAE-842C-B8AD318867D9}"/>
              </a:ext>
            </a:extLst>
          </p:cNvPr>
          <p:cNvSpPr>
            <a:spLocks xmlns:a="http://schemas.openxmlformats.org/drawingml/2006/main" noGrp="1"/>
          </p:cNvSpPr>
          <p:nvPr/>
        </p:nvSpPr>
        <p:spPr>
          <a:xfrm xmlns:a="http://schemas.openxmlformats.org/drawingml/2006/main">
            <a:off x="571500" y="314325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4" name="shape-568">
            <a:extLst xmlns:a="http://schemas.openxmlformats.org/drawingml/2006/main">
              <a:ext uri="{FF2B5EF4-FFF2-40B4-BE49-F238E27FC236}">
                <a16:creationId xmlns:a16="http://schemas.microsoft.com/office/drawing/2014/main" id="{946E373C-808C-487F-A0C8-2C83129F0A52}"/>
              </a:ext>
            </a:extLst>
          </p:cNvPr>
          <p:cNvSpPr>
            <a:spLocks xmlns:a="http://schemas.openxmlformats.org/drawingml/2006/main" noGrp="1"/>
          </p:cNvSpPr>
          <p:nvPr/>
        </p:nvSpPr>
        <p:spPr>
          <a:xfrm xmlns:a="http://schemas.openxmlformats.org/drawingml/2006/main">
            <a:off x="571500" y="3143250"/>
            <a:ext cx="11049000" cy="485775"/>
          </a:xfrm>
          <a:prstGeom xmlns:a="http://schemas.openxmlformats.org/drawingml/2006/main" prst="rect">
            <a:avLst/>
          </a:prstGeom>
          <a:solidFill xmlns:a="http://schemas.openxmlformats.org/drawingml/2006/main">
            <a:srgbClr val="EAF1F7"/>
          </a:solidFill>
          <a:ln xmlns:a="http://schemas.openxmlformats.org/drawingml/2006/main" w="0">
            <a:noFill/>
            <a:prstDash val="solid"/>
          </a:ln>
        </p:spPr>
      </p:sp>
      <p:sp>
        <p:nvSpPr>
          <p:cNvPr id="25" name="text-569">
            <a:extLst xmlns:a="http://schemas.openxmlformats.org/drawingml/2006/main">
              <a:ext uri="{FF2B5EF4-FFF2-40B4-BE49-F238E27FC236}">
                <a16:creationId xmlns:a16="http://schemas.microsoft.com/office/drawing/2014/main" id="{8EB660BB-E2D4-49F7-B39C-80D6379638B4}"/>
              </a:ext>
            </a:extLst>
          </p:cNvPr>
          <p:cNvSpPr>
            <a:spLocks xmlns:a="http://schemas.openxmlformats.org/drawingml/2006/main" noGrp="1"/>
          </p:cNvSpPr>
          <p:nvPr/>
        </p:nvSpPr>
        <p:spPr>
          <a:xfrm xmlns:a="http://schemas.openxmlformats.org/drawingml/2006/main">
            <a:off x="685800" y="3257550"/>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Logistic regression</a:t>
            </a:r>
          </a:p>
        </p:txBody>
      </p:sp>
      <p:sp>
        <p:nvSpPr>
          <p:cNvPr id="26" name="text-570">
            <a:extLst xmlns:a="http://schemas.openxmlformats.org/drawingml/2006/main">
              <a:ext uri="{FF2B5EF4-FFF2-40B4-BE49-F238E27FC236}">
                <a16:creationId xmlns:a16="http://schemas.microsoft.com/office/drawing/2014/main" id="{477289ED-BB18-4114-BD7F-7DDE555BC4D7}"/>
              </a:ext>
            </a:extLst>
          </p:cNvPr>
          <p:cNvSpPr>
            <a:spLocks xmlns:a="http://schemas.openxmlformats.org/drawingml/2006/main" noGrp="1"/>
          </p:cNvSpPr>
          <p:nvPr/>
        </p:nvSpPr>
        <p:spPr>
          <a:xfrm xmlns:a="http://schemas.openxmlformats.org/drawingml/2006/main">
            <a:off x="3543300" y="3257550"/>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.812</a:t>
            </a:r>
          </a:p>
        </p:txBody>
      </p:sp>
      <p:sp>
        <p:nvSpPr>
          <p:cNvPr id="27" name="text-571">
            <a:extLst xmlns:a="http://schemas.openxmlformats.org/drawingml/2006/main">
              <a:ext uri="{FF2B5EF4-FFF2-40B4-BE49-F238E27FC236}">
                <a16:creationId xmlns:a16="http://schemas.microsoft.com/office/drawing/2014/main" id="{5A969A31-BB77-48E6-9122-200D74350071}"/>
              </a:ext>
            </a:extLst>
          </p:cNvPr>
          <p:cNvSpPr>
            <a:spLocks xmlns:a="http://schemas.openxmlformats.org/drawingml/2006/main" noGrp="1"/>
          </p:cNvSpPr>
          <p:nvPr/>
        </p:nvSpPr>
        <p:spPr>
          <a:xfrm xmlns:a="http://schemas.openxmlformats.org/drawingml/2006/main">
            <a:off x="4781550" y="3257550"/>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.427</a:t>
            </a:r>
          </a:p>
        </p:txBody>
      </p:sp>
      <p:sp>
        <p:nvSpPr>
          <p:cNvPr id="28" name="text-572">
            <a:extLst xmlns:a="http://schemas.openxmlformats.org/drawingml/2006/main">
              <a:ext uri="{FF2B5EF4-FFF2-40B4-BE49-F238E27FC236}">
                <a16:creationId xmlns:a16="http://schemas.microsoft.com/office/drawing/2014/main" id="{9B50ABF4-C264-4B9F-A925-20EA5930F75A}"/>
              </a:ext>
            </a:extLst>
          </p:cNvPr>
          <p:cNvSpPr>
            <a:spLocks xmlns:a="http://schemas.openxmlformats.org/drawingml/2006/main" noGrp="1"/>
          </p:cNvSpPr>
          <p:nvPr/>
        </p:nvSpPr>
        <p:spPr>
          <a:xfrm xmlns:a="http://schemas.openxmlformats.org/drawingml/2006/main">
            <a:off x="6115050" y="3257550"/>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.746</a:t>
            </a:r>
          </a:p>
        </p:txBody>
      </p:sp>
      <p:sp>
        <p:nvSpPr>
          <p:cNvPr id="29" name="text-573">
            <a:extLst xmlns:a="http://schemas.openxmlformats.org/drawingml/2006/main">
              <a:ext uri="{FF2B5EF4-FFF2-40B4-BE49-F238E27FC236}">
                <a16:creationId xmlns:a16="http://schemas.microsoft.com/office/drawing/2014/main" id="{CFED5FD7-3C24-4B90-A697-BEBDDF7A931E}"/>
              </a:ext>
            </a:extLst>
          </p:cNvPr>
          <p:cNvSpPr>
            <a:spLocks xmlns:a="http://schemas.openxmlformats.org/drawingml/2006/main" noGrp="1"/>
          </p:cNvSpPr>
          <p:nvPr/>
        </p:nvSpPr>
        <p:spPr>
          <a:xfrm xmlns:a="http://schemas.openxmlformats.org/drawingml/2006/main">
            <a:off x="7353300" y="3257550"/>
            <a:ext cx="914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.543</a:t>
            </a:r>
          </a:p>
        </p:txBody>
      </p:sp>
      <p:sp>
        <p:nvSpPr>
          <p:cNvPr id="30" name="text-574">
            <a:extLst xmlns:a="http://schemas.openxmlformats.org/drawingml/2006/main">
              <a:ext uri="{FF2B5EF4-FFF2-40B4-BE49-F238E27FC236}">
                <a16:creationId xmlns:a16="http://schemas.microsoft.com/office/drawing/2014/main" id="{E35BCF7A-94D0-4164-B9A9-096EAF97F788}"/>
              </a:ext>
            </a:extLst>
          </p:cNvPr>
          <p:cNvSpPr>
            <a:spLocks xmlns:a="http://schemas.openxmlformats.org/drawingml/2006/main" noGrp="1"/>
          </p:cNvSpPr>
          <p:nvPr/>
        </p:nvSpPr>
        <p:spPr>
          <a:xfrm xmlns:a="http://schemas.openxmlformats.org/drawingml/2006/main">
            <a:off x="8496300" y="3257550"/>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.883</a:t>
            </a:r>
          </a:p>
        </p:txBody>
      </p:sp>
      <p:sp>
        <p:nvSpPr>
          <p:cNvPr id="31" name="text-575">
            <a:extLst xmlns:a="http://schemas.openxmlformats.org/drawingml/2006/main">
              <a:ext uri="{FF2B5EF4-FFF2-40B4-BE49-F238E27FC236}">
                <a16:creationId xmlns:a16="http://schemas.microsoft.com/office/drawing/2014/main" id="{173E24B2-A086-4379-81EE-6317CC64B678}"/>
              </a:ext>
            </a:extLst>
          </p:cNvPr>
          <p:cNvSpPr>
            <a:spLocks xmlns:a="http://schemas.openxmlformats.org/drawingml/2006/main" noGrp="1"/>
          </p:cNvSpPr>
          <p:nvPr/>
        </p:nvSpPr>
        <p:spPr>
          <a:xfrm xmlns:a="http://schemas.openxmlformats.org/drawingml/2006/main">
            <a:off x="9829800" y="3257550"/>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1">
                <a:solidFill>
                  <a:srgbClr val="4682B4"/>
                </a:solidFill>
                <a:latin typeface="Arial"/>
                <a:ea typeface="Arial"/>
                <a:cs typeface="Arial"/>
              </a:defRPr>
            </a:pPr>
            <a:r>
              <a:rPr sz="1575" b="1">
                <a:solidFill>
                  <a:srgbClr val="4682B4"/>
                </a:solidFill>
                <a:latin typeface="Arial"/>
                <a:ea typeface="Arial"/>
                <a:cs typeface="Arial"/>
              </a:rPr>
              <a:t>.624</a:t>
            </a:r>
          </a:p>
        </p:txBody>
      </p:sp>
      <p:sp>
        <p:nvSpPr>
          <p:cNvPr id="32" name="shape-576">
            <a:extLst xmlns:a="http://schemas.openxmlformats.org/drawingml/2006/main">
              <a:ext uri="{FF2B5EF4-FFF2-40B4-BE49-F238E27FC236}">
                <a16:creationId xmlns:a16="http://schemas.microsoft.com/office/drawing/2014/main" id="{1C5E6623-2F0B-4EE7-98B9-53FAC6FF7AC0}"/>
              </a:ext>
            </a:extLst>
          </p:cNvPr>
          <p:cNvSpPr>
            <a:spLocks xmlns:a="http://schemas.openxmlformats.org/drawingml/2006/main" noGrp="1"/>
          </p:cNvSpPr>
          <p:nvPr/>
        </p:nvSpPr>
        <p:spPr>
          <a:xfrm xmlns:a="http://schemas.openxmlformats.org/drawingml/2006/main">
            <a:off x="571500" y="362902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33" name="text-577">
            <a:extLst xmlns:a="http://schemas.openxmlformats.org/drawingml/2006/main">
              <a:ext uri="{FF2B5EF4-FFF2-40B4-BE49-F238E27FC236}">
                <a16:creationId xmlns:a16="http://schemas.microsoft.com/office/drawing/2014/main" id="{7D2AE0CF-CD7C-41B7-A66B-47F9A6BD54BC}"/>
              </a:ext>
            </a:extLst>
          </p:cNvPr>
          <p:cNvSpPr>
            <a:spLocks xmlns:a="http://schemas.openxmlformats.org/drawingml/2006/main" noGrp="1"/>
          </p:cNvSpPr>
          <p:nvPr/>
        </p:nvSpPr>
        <p:spPr>
          <a:xfrm xmlns:a="http://schemas.openxmlformats.org/drawingml/2006/main">
            <a:off x="685800" y="3743325"/>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Decision tree</a:t>
            </a:r>
          </a:p>
        </p:txBody>
      </p:sp>
      <p:sp>
        <p:nvSpPr>
          <p:cNvPr id="34" name="text-578">
            <a:extLst xmlns:a="http://schemas.openxmlformats.org/drawingml/2006/main">
              <a:ext uri="{FF2B5EF4-FFF2-40B4-BE49-F238E27FC236}">
                <a16:creationId xmlns:a16="http://schemas.microsoft.com/office/drawing/2014/main" id="{3E504F1A-CBE5-44F7-876A-5FD0FBF18898}"/>
              </a:ext>
            </a:extLst>
          </p:cNvPr>
          <p:cNvSpPr>
            <a:spLocks xmlns:a="http://schemas.openxmlformats.org/drawingml/2006/main" noGrp="1"/>
          </p:cNvSpPr>
          <p:nvPr/>
        </p:nvSpPr>
        <p:spPr>
          <a:xfrm xmlns:a="http://schemas.openxmlformats.org/drawingml/2006/main">
            <a:off x="3543300" y="3743325"/>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.717</a:t>
            </a:r>
          </a:p>
        </p:txBody>
      </p:sp>
      <p:sp>
        <p:nvSpPr>
          <p:cNvPr id="35" name="text-579">
            <a:extLst xmlns:a="http://schemas.openxmlformats.org/drawingml/2006/main">
              <a:ext uri="{FF2B5EF4-FFF2-40B4-BE49-F238E27FC236}">
                <a16:creationId xmlns:a16="http://schemas.microsoft.com/office/drawing/2014/main" id="{468A3B71-8908-4B32-9E39-1AD74C8ECD0B}"/>
              </a:ext>
            </a:extLst>
          </p:cNvPr>
          <p:cNvSpPr>
            <a:spLocks xmlns:a="http://schemas.openxmlformats.org/drawingml/2006/main" noGrp="1"/>
          </p:cNvSpPr>
          <p:nvPr/>
        </p:nvSpPr>
        <p:spPr>
          <a:xfrm xmlns:a="http://schemas.openxmlformats.org/drawingml/2006/main">
            <a:off x="4781550" y="3743325"/>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.319</a:t>
            </a:r>
          </a:p>
        </p:txBody>
      </p:sp>
      <p:sp>
        <p:nvSpPr>
          <p:cNvPr id="36" name="text-580">
            <a:extLst xmlns:a="http://schemas.openxmlformats.org/drawingml/2006/main">
              <a:ext uri="{FF2B5EF4-FFF2-40B4-BE49-F238E27FC236}">
                <a16:creationId xmlns:a16="http://schemas.microsoft.com/office/drawing/2014/main" id="{70B9CCDF-4DAE-46FF-A732-3CAA8337E7E6}"/>
              </a:ext>
            </a:extLst>
          </p:cNvPr>
          <p:cNvSpPr>
            <a:spLocks xmlns:a="http://schemas.openxmlformats.org/drawingml/2006/main" noGrp="1"/>
          </p:cNvSpPr>
          <p:nvPr/>
        </p:nvSpPr>
        <p:spPr>
          <a:xfrm xmlns:a="http://schemas.openxmlformats.org/drawingml/2006/main">
            <a:off x="6115050" y="3743325"/>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.791</a:t>
            </a:r>
          </a:p>
        </p:txBody>
      </p:sp>
      <p:sp>
        <p:nvSpPr>
          <p:cNvPr id="37" name="text-581">
            <a:extLst xmlns:a="http://schemas.openxmlformats.org/drawingml/2006/main">
              <a:ext uri="{FF2B5EF4-FFF2-40B4-BE49-F238E27FC236}">
                <a16:creationId xmlns:a16="http://schemas.microsoft.com/office/drawing/2014/main" id="{5A0E6575-3887-4CE2-826C-D29465F6A5CF}"/>
              </a:ext>
            </a:extLst>
          </p:cNvPr>
          <p:cNvSpPr>
            <a:spLocks xmlns:a="http://schemas.openxmlformats.org/drawingml/2006/main" noGrp="1"/>
          </p:cNvSpPr>
          <p:nvPr/>
        </p:nvSpPr>
        <p:spPr>
          <a:xfrm xmlns:a="http://schemas.openxmlformats.org/drawingml/2006/main">
            <a:off x="7353300" y="3743325"/>
            <a:ext cx="914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.455</a:t>
            </a:r>
          </a:p>
        </p:txBody>
      </p:sp>
      <p:sp>
        <p:nvSpPr>
          <p:cNvPr id="38" name="text-582">
            <a:extLst xmlns:a="http://schemas.openxmlformats.org/drawingml/2006/main">
              <a:ext uri="{FF2B5EF4-FFF2-40B4-BE49-F238E27FC236}">
                <a16:creationId xmlns:a16="http://schemas.microsoft.com/office/drawing/2014/main" id="{2BF8671F-88FF-4C36-9BCA-85C81D837982}"/>
              </a:ext>
            </a:extLst>
          </p:cNvPr>
          <p:cNvSpPr>
            <a:spLocks xmlns:a="http://schemas.openxmlformats.org/drawingml/2006/main" noGrp="1"/>
          </p:cNvSpPr>
          <p:nvPr/>
        </p:nvSpPr>
        <p:spPr>
          <a:xfrm xmlns:a="http://schemas.openxmlformats.org/drawingml/2006/main">
            <a:off x="8496300" y="3743325"/>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.785</a:t>
            </a:r>
          </a:p>
        </p:txBody>
      </p:sp>
      <p:sp>
        <p:nvSpPr>
          <p:cNvPr id="39" name="text-583">
            <a:extLst xmlns:a="http://schemas.openxmlformats.org/drawingml/2006/main">
              <a:ext uri="{FF2B5EF4-FFF2-40B4-BE49-F238E27FC236}">
                <a16:creationId xmlns:a16="http://schemas.microsoft.com/office/drawing/2014/main" id="{9E79481A-05C2-423D-A2F1-52744E02FD00}"/>
              </a:ext>
            </a:extLst>
          </p:cNvPr>
          <p:cNvSpPr>
            <a:spLocks xmlns:a="http://schemas.openxmlformats.org/drawingml/2006/main" noGrp="1"/>
          </p:cNvSpPr>
          <p:nvPr/>
        </p:nvSpPr>
        <p:spPr>
          <a:xfrm xmlns:a="http://schemas.openxmlformats.org/drawingml/2006/main">
            <a:off x="9829800" y="3743325"/>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.437</a:t>
            </a:r>
          </a:p>
        </p:txBody>
      </p:sp>
      <p:sp>
        <p:nvSpPr>
          <p:cNvPr id="40" name="shape-584">
            <a:extLst xmlns:a="http://schemas.openxmlformats.org/drawingml/2006/main">
              <a:ext uri="{FF2B5EF4-FFF2-40B4-BE49-F238E27FC236}">
                <a16:creationId xmlns:a16="http://schemas.microsoft.com/office/drawing/2014/main" id="{664CC6D7-CDB8-4813-AFEE-D08169ABB0A2}"/>
              </a:ext>
            </a:extLst>
          </p:cNvPr>
          <p:cNvSpPr>
            <a:spLocks xmlns:a="http://schemas.openxmlformats.org/drawingml/2006/main" noGrp="1"/>
          </p:cNvSpPr>
          <p:nvPr/>
        </p:nvSpPr>
        <p:spPr>
          <a:xfrm xmlns:a="http://schemas.openxmlformats.org/drawingml/2006/main">
            <a:off x="571500" y="41148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41" name="text-585">
            <a:extLst xmlns:a="http://schemas.openxmlformats.org/drawingml/2006/main">
              <a:ext uri="{FF2B5EF4-FFF2-40B4-BE49-F238E27FC236}">
                <a16:creationId xmlns:a16="http://schemas.microsoft.com/office/drawing/2014/main" id="{E8E20C48-673A-4182-A1D4-E562E6AF4769}"/>
              </a:ext>
            </a:extLst>
          </p:cNvPr>
          <p:cNvSpPr>
            <a:spLocks xmlns:a="http://schemas.openxmlformats.org/drawingml/2006/main" noGrp="1"/>
          </p:cNvSpPr>
          <p:nvPr/>
        </p:nvSpPr>
        <p:spPr>
          <a:xfrm xmlns:a="http://schemas.openxmlformats.org/drawingml/2006/main">
            <a:off x="685800" y="4229100"/>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Random forest</a:t>
            </a:r>
          </a:p>
        </p:txBody>
      </p:sp>
      <p:sp>
        <p:nvSpPr>
          <p:cNvPr id="42" name="text-586">
            <a:extLst xmlns:a="http://schemas.openxmlformats.org/drawingml/2006/main">
              <a:ext uri="{FF2B5EF4-FFF2-40B4-BE49-F238E27FC236}">
                <a16:creationId xmlns:a16="http://schemas.microsoft.com/office/drawing/2014/main" id="{21402CB2-B8C3-4120-948D-166E3D0E0D96}"/>
              </a:ext>
            </a:extLst>
          </p:cNvPr>
          <p:cNvSpPr>
            <a:spLocks xmlns:a="http://schemas.openxmlformats.org/drawingml/2006/main" noGrp="1"/>
          </p:cNvSpPr>
          <p:nvPr/>
        </p:nvSpPr>
        <p:spPr>
          <a:xfrm xmlns:a="http://schemas.openxmlformats.org/drawingml/2006/main">
            <a:off x="3543300" y="4229100"/>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.862</a:t>
            </a:r>
          </a:p>
        </p:txBody>
      </p:sp>
      <p:sp>
        <p:nvSpPr>
          <p:cNvPr id="43" name="text-587">
            <a:extLst xmlns:a="http://schemas.openxmlformats.org/drawingml/2006/main">
              <a:ext uri="{FF2B5EF4-FFF2-40B4-BE49-F238E27FC236}">
                <a16:creationId xmlns:a16="http://schemas.microsoft.com/office/drawing/2014/main" id="{03992C31-6FF0-4AE9-877F-1293CDEFA3A8}"/>
              </a:ext>
            </a:extLst>
          </p:cNvPr>
          <p:cNvSpPr>
            <a:spLocks xmlns:a="http://schemas.openxmlformats.org/drawingml/2006/main" noGrp="1"/>
          </p:cNvSpPr>
          <p:nvPr/>
        </p:nvSpPr>
        <p:spPr>
          <a:xfrm xmlns:a="http://schemas.openxmlformats.org/drawingml/2006/main">
            <a:off x="4781550" y="4229100"/>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.600</a:t>
            </a:r>
          </a:p>
        </p:txBody>
      </p:sp>
      <p:sp>
        <p:nvSpPr>
          <p:cNvPr id="44" name="text-588">
            <a:extLst xmlns:a="http://schemas.openxmlformats.org/drawingml/2006/main">
              <a:ext uri="{FF2B5EF4-FFF2-40B4-BE49-F238E27FC236}">
                <a16:creationId xmlns:a16="http://schemas.microsoft.com/office/drawing/2014/main" id="{1C4D6043-ACDB-4C77-AFDE-3E078800DA73}"/>
              </a:ext>
            </a:extLst>
          </p:cNvPr>
          <p:cNvSpPr>
            <a:spLocks xmlns:a="http://schemas.openxmlformats.org/drawingml/2006/main" noGrp="1"/>
          </p:cNvSpPr>
          <p:nvPr/>
        </p:nvSpPr>
        <p:spPr>
          <a:xfrm xmlns:a="http://schemas.openxmlformats.org/drawingml/2006/main">
            <a:off x="6115050" y="4229100"/>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.224</a:t>
            </a:r>
          </a:p>
        </p:txBody>
      </p:sp>
      <p:sp>
        <p:nvSpPr>
          <p:cNvPr id="45" name="text-589">
            <a:extLst xmlns:a="http://schemas.openxmlformats.org/drawingml/2006/main">
              <a:ext uri="{FF2B5EF4-FFF2-40B4-BE49-F238E27FC236}">
                <a16:creationId xmlns:a16="http://schemas.microsoft.com/office/drawing/2014/main" id="{55C39198-832A-4B6A-B07E-40179B612A82}"/>
              </a:ext>
            </a:extLst>
          </p:cNvPr>
          <p:cNvSpPr>
            <a:spLocks xmlns:a="http://schemas.openxmlformats.org/drawingml/2006/main" noGrp="1"/>
          </p:cNvSpPr>
          <p:nvPr/>
        </p:nvSpPr>
        <p:spPr>
          <a:xfrm xmlns:a="http://schemas.openxmlformats.org/drawingml/2006/main">
            <a:off x="7353300" y="4229100"/>
            <a:ext cx="914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.326</a:t>
            </a:r>
          </a:p>
        </p:txBody>
      </p:sp>
      <p:sp>
        <p:nvSpPr>
          <p:cNvPr id="46" name="text-590">
            <a:extLst xmlns:a="http://schemas.openxmlformats.org/drawingml/2006/main">
              <a:ext uri="{FF2B5EF4-FFF2-40B4-BE49-F238E27FC236}">
                <a16:creationId xmlns:a16="http://schemas.microsoft.com/office/drawing/2014/main" id="{F0EFE622-BF2C-46BB-A152-05E515D20A1B}"/>
              </a:ext>
            </a:extLst>
          </p:cNvPr>
          <p:cNvSpPr>
            <a:spLocks xmlns:a="http://schemas.openxmlformats.org/drawingml/2006/main" noGrp="1"/>
          </p:cNvSpPr>
          <p:nvPr/>
        </p:nvSpPr>
        <p:spPr>
          <a:xfrm xmlns:a="http://schemas.openxmlformats.org/drawingml/2006/main">
            <a:off x="8496300" y="4229100"/>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.889</a:t>
            </a:r>
          </a:p>
        </p:txBody>
      </p:sp>
      <p:sp>
        <p:nvSpPr>
          <p:cNvPr id="47" name="text-591">
            <a:extLst xmlns:a="http://schemas.openxmlformats.org/drawingml/2006/main">
              <a:ext uri="{FF2B5EF4-FFF2-40B4-BE49-F238E27FC236}">
                <a16:creationId xmlns:a16="http://schemas.microsoft.com/office/drawing/2014/main" id="{4992DDE1-A367-4927-8D1C-EAF5C6051812}"/>
              </a:ext>
            </a:extLst>
          </p:cNvPr>
          <p:cNvSpPr>
            <a:spLocks xmlns:a="http://schemas.openxmlformats.org/drawingml/2006/main" noGrp="1"/>
          </p:cNvSpPr>
          <p:nvPr/>
        </p:nvSpPr>
        <p:spPr>
          <a:xfrm xmlns:a="http://schemas.openxmlformats.org/drawingml/2006/main">
            <a:off x="9829800" y="4229100"/>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.542</a:t>
            </a:r>
          </a:p>
        </p:txBody>
      </p:sp>
      <p:sp>
        <p:nvSpPr>
          <p:cNvPr id="48" name="shape-592">
            <a:extLst xmlns:a="http://schemas.openxmlformats.org/drawingml/2006/main">
              <a:ext uri="{FF2B5EF4-FFF2-40B4-BE49-F238E27FC236}">
                <a16:creationId xmlns:a16="http://schemas.microsoft.com/office/drawing/2014/main" id="{B648D347-D55B-4C42-A390-4981B2B6F324}"/>
              </a:ext>
            </a:extLst>
          </p:cNvPr>
          <p:cNvSpPr>
            <a:spLocks xmlns:a="http://schemas.openxmlformats.org/drawingml/2006/main" noGrp="1"/>
          </p:cNvSpPr>
          <p:nvPr/>
        </p:nvSpPr>
        <p:spPr>
          <a:xfrm xmlns:a="http://schemas.openxmlformats.org/drawingml/2006/main">
            <a:off x="571500" y="460057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49" name="text-593">
            <a:extLst xmlns:a="http://schemas.openxmlformats.org/drawingml/2006/main">
              <a:ext uri="{FF2B5EF4-FFF2-40B4-BE49-F238E27FC236}">
                <a16:creationId xmlns:a16="http://schemas.microsoft.com/office/drawing/2014/main" id="{2B7D8AE0-CC39-43C9-BD71-D978E7963BD4}"/>
              </a:ext>
            </a:extLst>
          </p:cNvPr>
          <p:cNvSpPr>
            <a:spLocks xmlns:a="http://schemas.openxmlformats.org/drawingml/2006/main" noGrp="1"/>
          </p:cNvSpPr>
          <p:nvPr/>
        </p:nvSpPr>
        <p:spPr>
          <a:xfrm xmlns:a="http://schemas.openxmlformats.org/drawingml/2006/main">
            <a:off x="685800" y="4714875"/>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KNN</a:t>
            </a:r>
          </a:p>
        </p:txBody>
      </p:sp>
      <p:sp>
        <p:nvSpPr>
          <p:cNvPr id="50" name="text-594">
            <a:extLst xmlns:a="http://schemas.openxmlformats.org/drawingml/2006/main">
              <a:ext uri="{FF2B5EF4-FFF2-40B4-BE49-F238E27FC236}">
                <a16:creationId xmlns:a16="http://schemas.microsoft.com/office/drawing/2014/main" id="{982B09A4-DCEF-4C1B-B1BF-4B94709B3C9A}"/>
              </a:ext>
            </a:extLst>
          </p:cNvPr>
          <p:cNvSpPr>
            <a:spLocks xmlns:a="http://schemas.openxmlformats.org/drawingml/2006/main" noGrp="1"/>
          </p:cNvSpPr>
          <p:nvPr/>
        </p:nvSpPr>
        <p:spPr>
          <a:xfrm xmlns:a="http://schemas.openxmlformats.org/drawingml/2006/main">
            <a:off x="3543300" y="4714875"/>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.859</a:t>
            </a:r>
          </a:p>
        </p:txBody>
      </p:sp>
      <p:sp>
        <p:nvSpPr>
          <p:cNvPr id="51" name="text-595">
            <a:extLst xmlns:a="http://schemas.openxmlformats.org/drawingml/2006/main">
              <a:ext uri="{FF2B5EF4-FFF2-40B4-BE49-F238E27FC236}">
                <a16:creationId xmlns:a16="http://schemas.microsoft.com/office/drawing/2014/main" id="{F9C65A89-D9A1-4103-B8C5-4D08E7F2F0D4}"/>
              </a:ext>
            </a:extLst>
          </p:cNvPr>
          <p:cNvSpPr>
            <a:spLocks xmlns:a="http://schemas.openxmlformats.org/drawingml/2006/main" noGrp="1"/>
          </p:cNvSpPr>
          <p:nvPr/>
        </p:nvSpPr>
        <p:spPr>
          <a:xfrm xmlns:a="http://schemas.openxmlformats.org/drawingml/2006/main">
            <a:off x="4781550" y="4714875"/>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.600</a:t>
            </a:r>
          </a:p>
        </p:txBody>
      </p:sp>
      <p:sp>
        <p:nvSpPr>
          <p:cNvPr id="52" name="text-596">
            <a:extLst xmlns:a="http://schemas.openxmlformats.org/drawingml/2006/main">
              <a:ext uri="{FF2B5EF4-FFF2-40B4-BE49-F238E27FC236}">
                <a16:creationId xmlns:a16="http://schemas.microsoft.com/office/drawing/2014/main" id="{36C8C8B6-EBE2-4242-9099-C9690B14C064}"/>
              </a:ext>
            </a:extLst>
          </p:cNvPr>
          <p:cNvSpPr>
            <a:spLocks xmlns:a="http://schemas.openxmlformats.org/drawingml/2006/main" noGrp="1"/>
          </p:cNvSpPr>
          <p:nvPr/>
        </p:nvSpPr>
        <p:spPr>
          <a:xfrm xmlns:a="http://schemas.openxmlformats.org/drawingml/2006/main">
            <a:off x="6115050" y="4714875"/>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.179</a:t>
            </a:r>
          </a:p>
        </p:txBody>
      </p:sp>
      <p:sp>
        <p:nvSpPr>
          <p:cNvPr id="53" name="text-597">
            <a:extLst xmlns:a="http://schemas.openxmlformats.org/drawingml/2006/main">
              <a:ext uri="{FF2B5EF4-FFF2-40B4-BE49-F238E27FC236}">
                <a16:creationId xmlns:a16="http://schemas.microsoft.com/office/drawing/2014/main" id="{790357D3-9840-4416-AC46-C0EAAB1BC7F3}"/>
              </a:ext>
            </a:extLst>
          </p:cNvPr>
          <p:cNvSpPr>
            <a:spLocks xmlns:a="http://schemas.openxmlformats.org/drawingml/2006/main" noGrp="1"/>
          </p:cNvSpPr>
          <p:nvPr/>
        </p:nvSpPr>
        <p:spPr>
          <a:xfrm xmlns:a="http://schemas.openxmlformats.org/drawingml/2006/main">
            <a:off x="7353300" y="4714875"/>
            <a:ext cx="914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.276</a:t>
            </a:r>
          </a:p>
        </p:txBody>
      </p:sp>
      <p:sp>
        <p:nvSpPr>
          <p:cNvPr id="54" name="text-598">
            <a:extLst xmlns:a="http://schemas.openxmlformats.org/drawingml/2006/main">
              <a:ext uri="{FF2B5EF4-FFF2-40B4-BE49-F238E27FC236}">
                <a16:creationId xmlns:a16="http://schemas.microsoft.com/office/drawing/2014/main" id="{36B0E6D5-1C7D-41D2-9013-985334D73408}"/>
              </a:ext>
            </a:extLst>
          </p:cNvPr>
          <p:cNvSpPr>
            <a:spLocks xmlns:a="http://schemas.openxmlformats.org/drawingml/2006/main" noGrp="1"/>
          </p:cNvSpPr>
          <p:nvPr/>
        </p:nvSpPr>
        <p:spPr>
          <a:xfrm xmlns:a="http://schemas.openxmlformats.org/drawingml/2006/main">
            <a:off x="8496300" y="4714875"/>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.774</a:t>
            </a:r>
          </a:p>
        </p:txBody>
      </p:sp>
      <p:sp>
        <p:nvSpPr>
          <p:cNvPr id="55" name="text-599">
            <a:extLst xmlns:a="http://schemas.openxmlformats.org/drawingml/2006/main">
              <a:ext uri="{FF2B5EF4-FFF2-40B4-BE49-F238E27FC236}">
                <a16:creationId xmlns:a16="http://schemas.microsoft.com/office/drawing/2014/main" id="{D653EE54-25B2-470A-95E9-D6F8FEFB4805}"/>
              </a:ext>
            </a:extLst>
          </p:cNvPr>
          <p:cNvSpPr>
            <a:spLocks xmlns:a="http://schemas.openxmlformats.org/drawingml/2006/main" noGrp="1"/>
          </p:cNvSpPr>
          <p:nvPr/>
        </p:nvSpPr>
        <p:spPr>
          <a:xfrm xmlns:a="http://schemas.openxmlformats.org/drawingml/2006/main">
            <a:off x="9829800" y="4714875"/>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.376</a:t>
            </a:r>
          </a:p>
        </p:txBody>
      </p:sp>
      <p:sp>
        <p:nvSpPr>
          <p:cNvPr id="56" name="shape-600">
            <a:extLst xmlns:a="http://schemas.openxmlformats.org/drawingml/2006/main">
              <a:ext uri="{FF2B5EF4-FFF2-40B4-BE49-F238E27FC236}">
                <a16:creationId xmlns:a16="http://schemas.microsoft.com/office/drawing/2014/main" id="{6EB7CFEF-E6CA-40D8-9E82-3E77EF18AA3D}"/>
              </a:ext>
            </a:extLst>
          </p:cNvPr>
          <p:cNvSpPr>
            <a:spLocks xmlns:a="http://schemas.openxmlformats.org/drawingml/2006/main" noGrp="1"/>
          </p:cNvSpPr>
          <p:nvPr/>
        </p:nvSpPr>
        <p:spPr>
          <a:xfrm xmlns:a="http://schemas.openxmlformats.org/drawingml/2006/main">
            <a:off x="571500" y="508635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57" name="text-601">
            <a:extLst xmlns:a="http://schemas.openxmlformats.org/drawingml/2006/main">
              <a:ext uri="{FF2B5EF4-FFF2-40B4-BE49-F238E27FC236}">
                <a16:creationId xmlns:a16="http://schemas.microsoft.com/office/drawing/2014/main" id="{71101594-1B8D-4347-9E61-240E2580C088}"/>
              </a:ext>
            </a:extLst>
          </p:cNvPr>
          <p:cNvSpPr>
            <a:spLocks xmlns:a="http://schemas.openxmlformats.org/drawingml/2006/main" noGrp="1"/>
          </p:cNvSpPr>
          <p:nvPr/>
        </p:nvSpPr>
        <p:spPr>
          <a:xfrm xmlns:a="http://schemas.openxmlformats.org/drawingml/2006/main">
            <a:off x="685800" y="5200650"/>
            <a:ext cx="2628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Gradient boosting</a:t>
            </a:r>
          </a:p>
        </p:txBody>
      </p:sp>
      <p:sp>
        <p:nvSpPr>
          <p:cNvPr id="58" name="text-602">
            <a:extLst xmlns:a="http://schemas.openxmlformats.org/drawingml/2006/main">
              <a:ext uri="{FF2B5EF4-FFF2-40B4-BE49-F238E27FC236}">
                <a16:creationId xmlns:a16="http://schemas.microsoft.com/office/drawing/2014/main" id="{17CB0FB6-218C-420D-B027-99F56E2F5C8C}"/>
              </a:ext>
            </a:extLst>
          </p:cNvPr>
          <p:cNvSpPr>
            <a:spLocks xmlns:a="http://schemas.openxmlformats.org/drawingml/2006/main" noGrp="1"/>
          </p:cNvSpPr>
          <p:nvPr/>
        </p:nvSpPr>
        <p:spPr>
          <a:xfrm xmlns:a="http://schemas.openxmlformats.org/drawingml/2006/main">
            <a:off x="3543300" y="5200650"/>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.886</a:t>
            </a:r>
          </a:p>
        </p:txBody>
      </p:sp>
      <p:sp>
        <p:nvSpPr>
          <p:cNvPr id="59" name="text-603">
            <a:extLst xmlns:a="http://schemas.openxmlformats.org/drawingml/2006/main">
              <a:ext uri="{FF2B5EF4-FFF2-40B4-BE49-F238E27FC236}">
                <a16:creationId xmlns:a16="http://schemas.microsoft.com/office/drawing/2014/main" id="{CB649A52-F487-4027-A91A-76DCB5CDE3AD}"/>
              </a:ext>
            </a:extLst>
          </p:cNvPr>
          <p:cNvSpPr>
            <a:spLocks xmlns:a="http://schemas.openxmlformats.org/drawingml/2006/main" noGrp="1"/>
          </p:cNvSpPr>
          <p:nvPr/>
        </p:nvSpPr>
        <p:spPr>
          <a:xfrm xmlns:a="http://schemas.openxmlformats.org/drawingml/2006/main">
            <a:off x="4781550" y="5200650"/>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.722</a:t>
            </a:r>
          </a:p>
        </p:txBody>
      </p:sp>
      <p:sp>
        <p:nvSpPr>
          <p:cNvPr id="60" name="text-604">
            <a:extLst xmlns:a="http://schemas.openxmlformats.org/drawingml/2006/main">
              <a:ext uri="{FF2B5EF4-FFF2-40B4-BE49-F238E27FC236}">
                <a16:creationId xmlns:a16="http://schemas.microsoft.com/office/drawing/2014/main" id="{D2B09997-6459-4DF7-87A4-FBCE4410F3F2}"/>
              </a:ext>
            </a:extLst>
          </p:cNvPr>
          <p:cNvSpPr>
            <a:spLocks xmlns:a="http://schemas.openxmlformats.org/drawingml/2006/main" noGrp="1"/>
          </p:cNvSpPr>
          <p:nvPr/>
        </p:nvSpPr>
        <p:spPr>
          <a:xfrm xmlns:a="http://schemas.openxmlformats.org/drawingml/2006/main">
            <a:off x="6115050" y="5200650"/>
            <a:ext cx="100965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.388</a:t>
            </a:r>
          </a:p>
        </p:txBody>
      </p:sp>
      <p:sp>
        <p:nvSpPr>
          <p:cNvPr id="61" name="text-605">
            <a:extLst xmlns:a="http://schemas.openxmlformats.org/drawingml/2006/main">
              <a:ext uri="{FF2B5EF4-FFF2-40B4-BE49-F238E27FC236}">
                <a16:creationId xmlns:a16="http://schemas.microsoft.com/office/drawing/2014/main" id="{F5405462-718B-491F-AB7C-BEDEB9218DDC}"/>
              </a:ext>
            </a:extLst>
          </p:cNvPr>
          <p:cNvSpPr>
            <a:spLocks xmlns:a="http://schemas.openxmlformats.org/drawingml/2006/main" noGrp="1"/>
          </p:cNvSpPr>
          <p:nvPr/>
        </p:nvSpPr>
        <p:spPr>
          <a:xfrm xmlns:a="http://schemas.openxmlformats.org/drawingml/2006/main">
            <a:off x="7353300" y="5200650"/>
            <a:ext cx="9144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.505</a:t>
            </a:r>
          </a:p>
        </p:txBody>
      </p:sp>
      <p:sp>
        <p:nvSpPr>
          <p:cNvPr id="62" name="text-606">
            <a:extLst xmlns:a="http://schemas.openxmlformats.org/drawingml/2006/main">
              <a:ext uri="{FF2B5EF4-FFF2-40B4-BE49-F238E27FC236}">
                <a16:creationId xmlns:a16="http://schemas.microsoft.com/office/drawing/2014/main" id="{67FA11DD-72AA-4D2F-AE5B-4E41E284A363}"/>
              </a:ext>
            </a:extLst>
          </p:cNvPr>
          <p:cNvSpPr>
            <a:spLocks xmlns:a="http://schemas.openxmlformats.org/drawingml/2006/main" noGrp="1"/>
          </p:cNvSpPr>
          <p:nvPr/>
        </p:nvSpPr>
        <p:spPr>
          <a:xfrm xmlns:a="http://schemas.openxmlformats.org/drawingml/2006/main">
            <a:off x="8496300" y="5200650"/>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.891</a:t>
            </a:r>
          </a:p>
        </p:txBody>
      </p:sp>
      <p:sp>
        <p:nvSpPr>
          <p:cNvPr id="63" name="text-607">
            <a:extLst xmlns:a="http://schemas.openxmlformats.org/drawingml/2006/main">
              <a:ext uri="{FF2B5EF4-FFF2-40B4-BE49-F238E27FC236}">
                <a16:creationId xmlns:a16="http://schemas.microsoft.com/office/drawing/2014/main" id="{64B23455-D65C-4801-8602-183037A2C212}"/>
              </a:ext>
            </a:extLst>
          </p:cNvPr>
          <p:cNvSpPr>
            <a:spLocks xmlns:a="http://schemas.openxmlformats.org/drawingml/2006/main" noGrp="1"/>
          </p:cNvSpPr>
          <p:nvPr/>
        </p:nvSpPr>
        <p:spPr>
          <a:xfrm xmlns:a="http://schemas.openxmlformats.org/drawingml/2006/main">
            <a:off x="9829800" y="5200650"/>
            <a:ext cx="1104900" cy="257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75" b="0">
                <a:solidFill>
                  <a:srgbClr val="182D43"/>
                </a:solidFill>
                <a:latin typeface="Arial"/>
                <a:ea typeface="Arial"/>
                <a:cs typeface="Arial"/>
              </a:defRPr>
            </a:pPr>
            <a:r>
              <a:rPr sz="1575" b="0">
                <a:solidFill>
                  <a:srgbClr val="182D43"/>
                </a:solidFill>
                <a:latin typeface="Arial"/>
                <a:ea typeface="Arial"/>
                <a:cs typeface="Arial"/>
              </a:rPr>
              <a:t>.615</a:t>
            </a:r>
          </a:p>
        </p:txBody>
      </p:sp>
      <p:sp>
        <p:nvSpPr>
          <p:cNvPr id="64" name="shape-608">
            <a:extLst xmlns:a="http://schemas.openxmlformats.org/drawingml/2006/main">
              <a:ext uri="{FF2B5EF4-FFF2-40B4-BE49-F238E27FC236}">
                <a16:creationId xmlns:a16="http://schemas.microsoft.com/office/drawing/2014/main" id="{5B934C05-E8F9-4F74-BE37-F5AA7AB015B0}"/>
              </a:ext>
            </a:extLst>
          </p:cNvPr>
          <p:cNvSpPr>
            <a:spLocks xmlns:a="http://schemas.openxmlformats.org/drawingml/2006/main" noGrp="1"/>
          </p:cNvSpPr>
          <p:nvPr/>
        </p:nvSpPr>
        <p:spPr>
          <a:xfrm xmlns:a="http://schemas.openxmlformats.org/drawingml/2006/main">
            <a:off x="571500" y="5572125"/>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5" name="text-609">
            <a:extLst xmlns:a="http://schemas.openxmlformats.org/drawingml/2006/main">
              <a:ext uri="{FF2B5EF4-FFF2-40B4-BE49-F238E27FC236}">
                <a16:creationId xmlns:a16="http://schemas.microsoft.com/office/drawing/2014/main" id="{A0F2C64D-20A5-48A5-A7B3-B8411D425CC0}"/>
              </a:ext>
            </a:extLst>
          </p:cNvPr>
          <p:cNvSpPr>
            <a:spLocks xmlns:a="http://schemas.openxmlformats.org/drawingml/2006/main" noGrp="1"/>
          </p:cNvSpPr>
          <p:nvPr/>
        </p:nvSpPr>
        <p:spPr>
          <a:xfrm xmlns:a="http://schemas.openxmlformats.org/drawingml/2006/main">
            <a:off x="571500" y="5810250"/>
            <a:ext cx="1104900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0">
                <a:solidFill>
                  <a:srgbClr val="596C7D"/>
                </a:solidFill>
                <a:latin typeface="Arial"/>
                <a:ea typeface="Arial"/>
                <a:cs typeface="Arial"/>
              </a:defRPr>
            </a:pPr>
            <a:r>
              <a:rPr sz="1500" b="0">
                <a:solidFill>
                  <a:srgbClr val="596C7D"/>
                </a:solidFill>
                <a:latin typeface="Arial"/>
                <a:ea typeface="Arial"/>
                <a:cs typeface="Arial"/>
              </a:rPr>
              <a:t>Initial thresholds are 0.50; models have different class-balancing settings.</a:t>
            </a:r>
          </a:p>
        </p:txBody>
      </p:sp>
    </p:spTree>
    <p:extLst>
      <p:ext uri="{BB962C8B-B14F-4D97-AF65-F5344CB8AC3E}">
        <p14:creationId xmlns:p14="http://schemas.microsoft.com/office/powerpoint/2010/main" val="111265166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79C132C9-644B-440E-A1F2-74481A708E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4D7E7DF4-1B64-4CE2-AA96-2A57D9CE573B}"/>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8C5A600A-A424-49DC-871F-3E8A30A99A10}"/>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BACKUP / PARAMETERS</a:t>
            </a:r>
          </a:p>
        </p:txBody>
      </p:sp>
      <p:sp>
        <p:nvSpPr>
          <p:cNvPr id="4" name="text-610">
            <a:extLst xmlns:a="http://schemas.openxmlformats.org/drawingml/2006/main">
              <a:ext uri="{FF2B5EF4-FFF2-40B4-BE49-F238E27FC236}">
                <a16:creationId xmlns:a16="http://schemas.microsoft.com/office/drawing/2014/main" id="{437BFBC5-BAD0-4DC2-8CF5-7C5C73BBFBC3}"/>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The ensemble clones tuned estimators from each search</a:t>
            </a:r>
          </a:p>
        </p:txBody>
      </p:sp>
      <p:sp>
        <p:nvSpPr>
          <p:cNvPr id="5" name="shape-611">
            <a:extLst xmlns:a="http://schemas.openxmlformats.org/drawingml/2006/main">
              <a:ext uri="{FF2B5EF4-FFF2-40B4-BE49-F238E27FC236}">
                <a16:creationId xmlns:a16="http://schemas.microsoft.com/office/drawing/2014/main" id="{93CD5CA4-4E0C-45EF-9A6B-CBBD79A022CB}"/>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612">
            <a:extLst xmlns:a="http://schemas.openxmlformats.org/drawingml/2006/main">
              <a:ext uri="{FF2B5EF4-FFF2-40B4-BE49-F238E27FC236}">
                <a16:creationId xmlns:a16="http://schemas.microsoft.com/office/drawing/2014/main" id="{EBDC5FED-8AA1-489B-B7EE-A32135981AB2}"/>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§6–7 | best_params_ and cloned model steps</a:t>
            </a:r>
          </a:p>
        </p:txBody>
      </p:sp>
      <p:sp>
        <p:nvSpPr>
          <p:cNvPr id="7" name="text-613">
            <a:extLst xmlns:a="http://schemas.openxmlformats.org/drawingml/2006/main">
              <a:ext uri="{FF2B5EF4-FFF2-40B4-BE49-F238E27FC236}">
                <a16:creationId xmlns:a16="http://schemas.microsoft.com/office/drawing/2014/main" id="{1AE20E56-5DD8-4B90-956C-4E28C5E2F34C}"/>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28</a:t>
            </a:r>
          </a:p>
        </p:txBody>
      </p:sp>
      <p:sp>
        <p:nvSpPr>
          <p:cNvPr id="8" name="text-614">
            <a:extLst xmlns:a="http://schemas.openxmlformats.org/drawingml/2006/main">
              <a:ext uri="{FF2B5EF4-FFF2-40B4-BE49-F238E27FC236}">
                <a16:creationId xmlns:a16="http://schemas.microsoft.com/office/drawing/2014/main" id="{70814D05-53AE-4946-AA7C-5247D7AB0364}"/>
              </a:ext>
            </a:extLst>
          </p:cNvPr>
          <p:cNvSpPr>
            <a:spLocks xmlns:a="http://schemas.openxmlformats.org/drawingml/2006/main" noGrp="1"/>
          </p:cNvSpPr>
          <p:nvPr/>
        </p:nvSpPr>
        <p:spPr>
          <a:xfrm xmlns:a="http://schemas.openxmlformats.org/drawingml/2006/main">
            <a:off x="571500" y="2181225"/>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LR</a:t>
            </a:r>
          </a:p>
        </p:txBody>
      </p:sp>
      <p:sp>
        <p:nvSpPr>
          <p:cNvPr id="9" name="text-615">
            <a:extLst xmlns:a="http://schemas.openxmlformats.org/drawingml/2006/main">
              <a:ext uri="{FF2B5EF4-FFF2-40B4-BE49-F238E27FC236}">
                <a16:creationId xmlns:a16="http://schemas.microsoft.com/office/drawing/2014/main" id="{9F1548D9-782A-4759-B47F-7977566887E4}"/>
              </a:ext>
            </a:extLst>
          </p:cNvPr>
          <p:cNvSpPr>
            <a:spLocks xmlns:a="http://schemas.openxmlformats.org/drawingml/2006/main" noGrp="1"/>
          </p:cNvSpPr>
          <p:nvPr/>
        </p:nvSpPr>
        <p:spPr>
          <a:xfrm xmlns:a="http://schemas.openxmlformats.org/drawingml/2006/main">
            <a:off x="1428750" y="2181225"/>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C = 1</a:t>
            </a:r>
          </a:p>
        </p:txBody>
      </p:sp>
      <p:sp>
        <p:nvSpPr>
          <p:cNvPr id="10" name="text-616">
            <a:extLst xmlns:a="http://schemas.openxmlformats.org/drawingml/2006/main">
              <a:ext uri="{FF2B5EF4-FFF2-40B4-BE49-F238E27FC236}">
                <a16:creationId xmlns:a16="http://schemas.microsoft.com/office/drawing/2014/main" id="{80E5F5C8-7B1B-4D88-8A26-2472713DB6B0}"/>
              </a:ext>
            </a:extLst>
          </p:cNvPr>
          <p:cNvSpPr>
            <a:spLocks xmlns:a="http://schemas.openxmlformats.org/drawingml/2006/main" noGrp="1"/>
          </p:cNvSpPr>
          <p:nvPr/>
        </p:nvSpPr>
        <p:spPr>
          <a:xfrm xmlns:a="http://schemas.openxmlformats.org/drawingml/2006/main">
            <a:off x="5810250" y="2181225"/>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Balanced class weight in the individual search.</a:t>
            </a:r>
          </a:p>
        </p:txBody>
      </p:sp>
      <p:sp>
        <p:nvSpPr>
          <p:cNvPr id="11" name="shape-617">
            <a:extLst xmlns:a="http://schemas.openxmlformats.org/drawingml/2006/main">
              <a:ext uri="{FF2B5EF4-FFF2-40B4-BE49-F238E27FC236}">
                <a16:creationId xmlns:a16="http://schemas.microsoft.com/office/drawing/2014/main" id="{DC775364-2EE6-4F39-944B-09174109F986}"/>
              </a:ext>
            </a:extLst>
          </p:cNvPr>
          <p:cNvSpPr>
            <a:spLocks xmlns:a="http://schemas.openxmlformats.org/drawingml/2006/main" noGrp="1"/>
          </p:cNvSpPr>
          <p:nvPr/>
        </p:nvSpPr>
        <p:spPr>
          <a:xfrm xmlns:a="http://schemas.openxmlformats.org/drawingml/2006/main">
            <a:off x="1428750" y="3019425"/>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2" name="text-618">
            <a:extLst xmlns:a="http://schemas.openxmlformats.org/drawingml/2006/main">
              <a:ext uri="{FF2B5EF4-FFF2-40B4-BE49-F238E27FC236}">
                <a16:creationId xmlns:a16="http://schemas.microsoft.com/office/drawing/2014/main" id="{72BB192A-6AAF-45A9-A4DA-924823A27C4C}"/>
              </a:ext>
            </a:extLst>
          </p:cNvPr>
          <p:cNvSpPr>
            <a:spLocks xmlns:a="http://schemas.openxmlformats.org/drawingml/2006/main" noGrp="1"/>
          </p:cNvSpPr>
          <p:nvPr/>
        </p:nvSpPr>
        <p:spPr>
          <a:xfrm xmlns:a="http://schemas.openxmlformats.org/drawingml/2006/main">
            <a:off x="571500" y="3143250"/>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RF</a:t>
            </a:r>
          </a:p>
        </p:txBody>
      </p:sp>
      <p:sp>
        <p:nvSpPr>
          <p:cNvPr id="13" name="text-619">
            <a:extLst xmlns:a="http://schemas.openxmlformats.org/drawingml/2006/main">
              <a:ext uri="{FF2B5EF4-FFF2-40B4-BE49-F238E27FC236}">
                <a16:creationId xmlns:a16="http://schemas.microsoft.com/office/drawing/2014/main" id="{3A232D86-5AEE-4809-94CF-5EDA54A1D30A}"/>
              </a:ext>
            </a:extLst>
          </p:cNvPr>
          <p:cNvSpPr>
            <a:spLocks xmlns:a="http://schemas.openxmlformats.org/drawingml/2006/main" noGrp="1"/>
          </p:cNvSpPr>
          <p:nvPr/>
        </p:nvSpPr>
        <p:spPr>
          <a:xfrm xmlns:a="http://schemas.openxmlformats.org/drawingml/2006/main">
            <a:off x="1428750" y="3143250"/>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100 trees · depth 15</a:t>
            </a:r>
          </a:p>
        </p:txBody>
      </p:sp>
      <p:sp>
        <p:nvSpPr>
          <p:cNvPr id="14" name="text-620">
            <a:extLst xmlns:a="http://schemas.openxmlformats.org/drawingml/2006/main">
              <a:ext uri="{FF2B5EF4-FFF2-40B4-BE49-F238E27FC236}">
                <a16:creationId xmlns:a16="http://schemas.microsoft.com/office/drawing/2014/main" id="{34393E37-A593-4040-9D1A-52E6CF17A1F3}"/>
              </a:ext>
            </a:extLst>
          </p:cNvPr>
          <p:cNvSpPr>
            <a:spLocks xmlns:a="http://schemas.openxmlformats.org/drawingml/2006/main" noGrp="1"/>
          </p:cNvSpPr>
          <p:nvPr/>
        </p:nvSpPr>
        <p:spPr>
          <a:xfrm xmlns:a="http://schemas.openxmlformats.org/drawingml/2006/main">
            <a:off x="5810250" y="3143250"/>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min_samples_leaf = 4; balanced class weight.</a:t>
            </a:r>
          </a:p>
        </p:txBody>
      </p:sp>
      <p:sp>
        <p:nvSpPr>
          <p:cNvPr id="15" name="shape-621">
            <a:extLst xmlns:a="http://schemas.openxmlformats.org/drawingml/2006/main">
              <a:ext uri="{FF2B5EF4-FFF2-40B4-BE49-F238E27FC236}">
                <a16:creationId xmlns:a16="http://schemas.microsoft.com/office/drawing/2014/main" id="{6EA0F6BB-3A25-4A28-8A8A-5757A437416B}"/>
              </a:ext>
            </a:extLst>
          </p:cNvPr>
          <p:cNvSpPr>
            <a:spLocks xmlns:a="http://schemas.openxmlformats.org/drawingml/2006/main" noGrp="1"/>
          </p:cNvSpPr>
          <p:nvPr/>
        </p:nvSpPr>
        <p:spPr>
          <a:xfrm xmlns:a="http://schemas.openxmlformats.org/drawingml/2006/main">
            <a:off x="1428750" y="3981450"/>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6" name="text-622">
            <a:extLst xmlns:a="http://schemas.openxmlformats.org/drawingml/2006/main">
              <a:ext uri="{FF2B5EF4-FFF2-40B4-BE49-F238E27FC236}">
                <a16:creationId xmlns:a16="http://schemas.microsoft.com/office/drawing/2014/main" id="{99E000D3-4BA8-442D-9591-95B22996B282}"/>
              </a:ext>
            </a:extLst>
          </p:cNvPr>
          <p:cNvSpPr>
            <a:spLocks xmlns:a="http://schemas.openxmlformats.org/drawingml/2006/main" noGrp="1"/>
          </p:cNvSpPr>
          <p:nvPr/>
        </p:nvSpPr>
        <p:spPr>
          <a:xfrm xmlns:a="http://schemas.openxmlformats.org/drawingml/2006/main">
            <a:off x="571500" y="4105275"/>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GB</a:t>
            </a:r>
          </a:p>
        </p:txBody>
      </p:sp>
      <p:sp>
        <p:nvSpPr>
          <p:cNvPr id="17" name="text-623">
            <a:extLst xmlns:a="http://schemas.openxmlformats.org/drawingml/2006/main">
              <a:ext uri="{FF2B5EF4-FFF2-40B4-BE49-F238E27FC236}">
                <a16:creationId xmlns:a16="http://schemas.microsoft.com/office/drawing/2014/main" id="{340C1FAC-3009-4390-8140-9C94B28242E3}"/>
              </a:ext>
            </a:extLst>
          </p:cNvPr>
          <p:cNvSpPr>
            <a:spLocks xmlns:a="http://schemas.openxmlformats.org/drawingml/2006/main" noGrp="1"/>
          </p:cNvSpPr>
          <p:nvPr/>
        </p:nvSpPr>
        <p:spPr>
          <a:xfrm xmlns:a="http://schemas.openxmlformats.org/drawingml/2006/main">
            <a:off x="1428750" y="4105275"/>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150 trees · learning rate .05</a:t>
            </a:r>
          </a:p>
        </p:txBody>
      </p:sp>
      <p:sp>
        <p:nvSpPr>
          <p:cNvPr id="18" name="text-624">
            <a:extLst xmlns:a="http://schemas.openxmlformats.org/drawingml/2006/main">
              <a:ext uri="{FF2B5EF4-FFF2-40B4-BE49-F238E27FC236}">
                <a16:creationId xmlns:a16="http://schemas.microsoft.com/office/drawing/2014/main" id="{3D09035C-EA86-4E7A-BF3C-424B00411558}"/>
              </a:ext>
            </a:extLst>
          </p:cNvPr>
          <p:cNvSpPr>
            <a:spLocks xmlns:a="http://schemas.openxmlformats.org/drawingml/2006/main" noGrp="1"/>
          </p:cNvSpPr>
          <p:nvPr/>
        </p:nvSpPr>
        <p:spPr>
          <a:xfrm xmlns:a="http://schemas.openxmlformats.org/drawingml/2006/main">
            <a:off x="5810250" y="4105275"/>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depth = 3; min_samples_leaf = 5; subsample = .85 fixed.</a:t>
            </a:r>
          </a:p>
        </p:txBody>
      </p:sp>
      <p:sp>
        <p:nvSpPr>
          <p:cNvPr id="19" name="shape-625">
            <a:extLst xmlns:a="http://schemas.openxmlformats.org/drawingml/2006/main">
              <a:ext uri="{FF2B5EF4-FFF2-40B4-BE49-F238E27FC236}">
                <a16:creationId xmlns:a16="http://schemas.microsoft.com/office/drawing/2014/main" id="{5A29A354-8673-47A9-AA27-BDEC279F7B66}"/>
              </a:ext>
            </a:extLst>
          </p:cNvPr>
          <p:cNvSpPr>
            <a:spLocks xmlns:a="http://schemas.openxmlformats.org/drawingml/2006/main" noGrp="1"/>
          </p:cNvSpPr>
          <p:nvPr/>
        </p:nvSpPr>
        <p:spPr>
          <a:xfrm xmlns:a="http://schemas.openxmlformats.org/drawingml/2006/main">
            <a:off x="1428750" y="4943475"/>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0" name="text-626">
            <a:extLst xmlns:a="http://schemas.openxmlformats.org/drawingml/2006/main">
              <a:ext uri="{FF2B5EF4-FFF2-40B4-BE49-F238E27FC236}">
                <a16:creationId xmlns:a16="http://schemas.microsoft.com/office/drawing/2014/main" id="{30F2D637-E0BC-4519-9D8A-9DC6A5750F72}"/>
              </a:ext>
            </a:extLst>
          </p:cNvPr>
          <p:cNvSpPr>
            <a:spLocks xmlns:a="http://schemas.openxmlformats.org/drawingml/2006/main" noGrp="1"/>
          </p:cNvSpPr>
          <p:nvPr/>
        </p:nvSpPr>
        <p:spPr>
          <a:xfrm xmlns:a="http://schemas.openxmlformats.org/drawingml/2006/main">
            <a:off x="571500" y="5314950"/>
            <a:ext cx="11049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00" b="1">
                <a:solidFill>
                  <a:srgbClr val="4682B4"/>
                </a:solidFill>
                <a:latin typeface="Arial"/>
                <a:ea typeface="Arial"/>
                <a:cs typeface="Arial"/>
              </a:defRPr>
            </a:pPr>
            <a:r>
              <a:rPr sz="2100" b="1">
                <a:solidFill>
                  <a:srgbClr val="4682B4"/>
                </a:solidFill>
                <a:latin typeface="Arial"/>
                <a:ea typeface="Arial"/>
                <a:cs typeface="Arial"/>
              </a:rPr>
              <a:t>clone(search.best_estimator_.named_steps["model"])</a:t>
            </a:r>
          </a:p>
        </p:txBody>
      </p:sp>
      <p:sp>
        <p:nvSpPr>
          <p:cNvPr id="21" name="text-627">
            <a:extLst xmlns:a="http://schemas.openxmlformats.org/drawingml/2006/main">
              <a:ext uri="{FF2B5EF4-FFF2-40B4-BE49-F238E27FC236}">
                <a16:creationId xmlns:a16="http://schemas.microsoft.com/office/drawing/2014/main" id="{01DD90B5-5A04-414C-9566-7CBE6F76D453}"/>
              </a:ext>
            </a:extLst>
          </p:cNvPr>
          <p:cNvSpPr>
            <a:spLocks xmlns:a="http://schemas.openxmlformats.org/drawingml/2006/main" noGrp="1"/>
          </p:cNvSpPr>
          <p:nvPr/>
        </p:nvSpPr>
        <p:spPr>
          <a:xfrm xmlns:a="http://schemas.openxmlformats.org/drawingml/2006/main">
            <a:off x="571500" y="5819775"/>
            <a:ext cx="11049000" cy="3143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500" b="0">
                <a:solidFill>
                  <a:srgbClr val="596C7D"/>
                </a:solidFill>
                <a:latin typeface="Arial"/>
                <a:ea typeface="Arial"/>
                <a:cs typeface="Arial"/>
              </a:defRPr>
            </a:pPr>
            <a:r>
              <a:rPr sz="1500" b="0">
                <a:solidFill>
                  <a:srgbClr val="596C7D"/>
                </a:solidFill>
                <a:latin typeface="Arial"/>
                <a:ea typeface="Arial"/>
                <a:cs typeface="Arial"/>
              </a:rPr>
              <a:t>Ensemble balancing: remove class_weight on LR/RF; pass balanced sample weights once.</a:t>
            </a:r>
          </a:p>
        </p:txBody>
      </p:sp>
    </p:spTree>
    <p:extLst>
      <p:ext uri="{BB962C8B-B14F-4D97-AF65-F5344CB8AC3E}">
        <p14:creationId xmlns:p14="http://schemas.microsoft.com/office/powerpoint/2010/main" val="171173086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43510E43-1983-4A09-9E93-32645D129A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D28342AE-D8F4-48AC-93E8-7D3596468876}"/>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249CC836-4D49-403F-997A-7372CF93FCB0}"/>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BACKUP / FEATURE MAP</a:t>
            </a:r>
          </a:p>
        </p:txBody>
      </p:sp>
      <p:sp>
        <p:nvSpPr>
          <p:cNvPr id="4" name="text-628">
            <a:extLst xmlns:a="http://schemas.openxmlformats.org/drawingml/2006/main">
              <a:ext uri="{FF2B5EF4-FFF2-40B4-BE49-F238E27FC236}">
                <a16:creationId xmlns:a16="http://schemas.microsoft.com/office/drawing/2014/main" id="{75C37D68-BBB4-4459-8983-0E27C308DA2B}"/>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EDA aggregates are distinct from the 20 model inputs</a:t>
            </a:r>
          </a:p>
        </p:txBody>
      </p:sp>
      <p:sp>
        <p:nvSpPr>
          <p:cNvPr id="5" name="shape-629">
            <a:extLst xmlns:a="http://schemas.openxmlformats.org/drawingml/2006/main">
              <a:ext uri="{FF2B5EF4-FFF2-40B4-BE49-F238E27FC236}">
                <a16:creationId xmlns:a16="http://schemas.microsoft.com/office/drawing/2014/main" id="{5C565B64-DBBE-4A4E-8B81-71CA4E6AFC24}"/>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630">
            <a:extLst xmlns:a="http://schemas.openxmlformats.org/drawingml/2006/main">
              <a:ext uri="{FF2B5EF4-FFF2-40B4-BE49-F238E27FC236}">
                <a16:creationId xmlns:a16="http://schemas.microsoft.com/office/drawing/2014/main" id="{4D88D242-11CB-4905-906D-948FD5308E5F}"/>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main.ipynb §3–4 | model_data rebuilt from df</a:t>
            </a:r>
          </a:p>
        </p:txBody>
      </p:sp>
      <p:sp>
        <p:nvSpPr>
          <p:cNvPr id="7" name="text-631">
            <a:extLst xmlns:a="http://schemas.openxmlformats.org/drawingml/2006/main">
              <a:ext uri="{FF2B5EF4-FFF2-40B4-BE49-F238E27FC236}">
                <a16:creationId xmlns:a16="http://schemas.microsoft.com/office/drawing/2014/main" id="{64836365-EB76-401F-91A0-F54FDA4DF871}"/>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29</a:t>
            </a:r>
          </a:p>
        </p:txBody>
      </p:sp>
      <p:sp>
        <p:nvSpPr>
          <p:cNvPr id="8" name="text-632">
            <a:extLst xmlns:a="http://schemas.openxmlformats.org/drawingml/2006/main">
              <a:ext uri="{FF2B5EF4-FFF2-40B4-BE49-F238E27FC236}">
                <a16:creationId xmlns:a16="http://schemas.microsoft.com/office/drawing/2014/main" id="{92BB7BEC-061D-4ECF-935F-8B119CCE7E76}"/>
              </a:ext>
            </a:extLst>
          </p:cNvPr>
          <p:cNvSpPr>
            <a:spLocks xmlns:a="http://schemas.openxmlformats.org/drawingml/2006/main" noGrp="1"/>
          </p:cNvSpPr>
          <p:nvPr/>
        </p:nvSpPr>
        <p:spPr>
          <a:xfrm xmlns:a="http://schemas.openxmlformats.org/drawingml/2006/main">
            <a:off x="571500" y="2219325"/>
            <a:ext cx="5334000" cy="342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4682B4"/>
                </a:solidFill>
                <a:latin typeface="Arial"/>
                <a:ea typeface="Arial"/>
                <a:cs typeface="Arial"/>
              </a:defRPr>
            </a:pPr>
            <a:r>
              <a:rPr sz="1425" b="1">
                <a:solidFill>
                  <a:srgbClr val="4682B4"/>
                </a:solidFill>
                <a:latin typeface="Arial"/>
                <a:ea typeface="Arial"/>
                <a:cs typeface="Arial"/>
              </a:rPr>
              <a:t>20 MODEL INPUTS</a:t>
            </a:r>
          </a:p>
        </p:txBody>
      </p:sp>
      <p:sp>
        <p:nvSpPr>
          <p:cNvPr id="9" name="text-633">
            <a:extLst xmlns:a="http://schemas.openxmlformats.org/drawingml/2006/main">
              <a:ext uri="{FF2B5EF4-FFF2-40B4-BE49-F238E27FC236}">
                <a16:creationId xmlns:a16="http://schemas.microsoft.com/office/drawing/2014/main" id="{A5BDE2DF-A782-4F08-9CCC-3C1C147D5C8A}"/>
              </a:ext>
            </a:extLst>
          </p:cNvPr>
          <p:cNvSpPr>
            <a:spLocks xmlns:a="http://schemas.openxmlformats.org/drawingml/2006/main" noGrp="1"/>
          </p:cNvSpPr>
          <p:nvPr/>
        </p:nvSpPr>
        <p:spPr>
          <a:xfrm xmlns:a="http://schemas.openxmlformats.org/drawingml/2006/main">
            <a:off x="571500" y="2771775"/>
            <a:ext cx="476250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775" b="1">
                <a:solidFill>
                  <a:srgbClr val="182D43"/>
                </a:solidFill>
                <a:latin typeface="Arial"/>
                <a:ea typeface="Arial"/>
                <a:cs typeface="Arial"/>
              </a:defRPr>
            </a:pPr>
            <a:r>
              <a:rPr sz="2775" b="1">
                <a:solidFill>
                  <a:srgbClr val="182D43"/>
                </a:solidFill>
                <a:latin typeface="Arial"/>
                <a:ea typeface="Arial"/>
                <a:cs typeface="Arial"/>
              </a:rPr>
              <a:t>18 numeric</a:t>
            </a:r>
          </a:p>
        </p:txBody>
      </p:sp>
      <p:sp>
        <p:nvSpPr>
          <p:cNvPr id="10" name="text-634">
            <a:extLst xmlns:a="http://schemas.openxmlformats.org/drawingml/2006/main">
              <a:ext uri="{FF2B5EF4-FFF2-40B4-BE49-F238E27FC236}">
                <a16:creationId xmlns:a16="http://schemas.microsoft.com/office/drawing/2014/main" id="{F3936A31-4BE9-4F3C-8AA0-67BD6EBA27A5}"/>
              </a:ext>
            </a:extLst>
          </p:cNvPr>
          <p:cNvSpPr>
            <a:spLocks xmlns:a="http://schemas.openxmlformats.org/drawingml/2006/main" noGrp="1"/>
          </p:cNvSpPr>
          <p:nvPr/>
        </p:nvSpPr>
        <p:spPr>
          <a:xfrm xmlns:a="http://schemas.openxmlformats.org/drawingml/2006/main">
            <a:off x="571500" y="3514725"/>
            <a:ext cx="5429250" cy="1247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75" b="0">
                <a:solidFill>
                  <a:srgbClr val="182D43"/>
                </a:solidFill>
                <a:latin typeface="Arial"/>
                <a:ea typeface="Arial"/>
                <a:cs typeface="Arial"/>
              </a:defRPr>
            </a:pPr>
            <a:r>
              <a:rPr sz="1875" b="0">
                <a:solidFill>
                  <a:srgbClr val="182D43"/>
                </a:solidFill>
                <a:latin typeface="Arial"/>
                <a:ea typeface="Arial"/>
                <a:cs typeface="Arial"/>
              </a:rPr>
              <a:t>Income; kids; teens; recency; 6 spending fields; 4 purchase-count fields; web visits; complaint; age; enrollment tenure.</a:t>
            </a:r>
          </a:p>
        </p:txBody>
      </p:sp>
      <p:sp>
        <p:nvSpPr>
          <p:cNvPr id="11" name="text-635">
            <a:extLst xmlns:a="http://schemas.openxmlformats.org/drawingml/2006/main">
              <a:ext uri="{FF2B5EF4-FFF2-40B4-BE49-F238E27FC236}">
                <a16:creationId xmlns:a16="http://schemas.microsoft.com/office/drawing/2014/main" id="{8B2FA4DF-A901-4F37-95BC-9B6FEC0EC5B5}"/>
              </a:ext>
            </a:extLst>
          </p:cNvPr>
          <p:cNvSpPr>
            <a:spLocks xmlns:a="http://schemas.openxmlformats.org/drawingml/2006/main" noGrp="1"/>
          </p:cNvSpPr>
          <p:nvPr/>
        </p:nvSpPr>
        <p:spPr>
          <a:xfrm xmlns:a="http://schemas.openxmlformats.org/drawingml/2006/main">
            <a:off x="571500" y="5143500"/>
            <a:ext cx="4857750" cy="4000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250" b="1">
                <a:solidFill>
                  <a:srgbClr val="182D43"/>
                </a:solidFill>
                <a:latin typeface="Arial"/>
                <a:ea typeface="Arial"/>
                <a:cs typeface="Arial"/>
              </a:defRPr>
            </a:pPr>
            <a:r>
              <a:rPr sz="2250" b="1">
                <a:solidFill>
                  <a:srgbClr val="182D43"/>
                </a:solidFill>
                <a:latin typeface="Arial"/>
                <a:ea typeface="Arial"/>
                <a:cs typeface="Arial"/>
              </a:rPr>
              <a:t>2 categorical</a:t>
            </a:r>
          </a:p>
        </p:txBody>
      </p:sp>
      <p:sp>
        <p:nvSpPr>
          <p:cNvPr id="12" name="text-636">
            <a:extLst xmlns:a="http://schemas.openxmlformats.org/drawingml/2006/main">
              <a:ext uri="{FF2B5EF4-FFF2-40B4-BE49-F238E27FC236}">
                <a16:creationId xmlns:a16="http://schemas.microsoft.com/office/drawing/2014/main" id="{115B6A24-BD5F-4954-A050-9DC888E66F17}"/>
              </a:ext>
            </a:extLst>
          </p:cNvPr>
          <p:cNvSpPr>
            <a:spLocks xmlns:a="http://schemas.openxmlformats.org/drawingml/2006/main" noGrp="1"/>
          </p:cNvSpPr>
          <p:nvPr/>
        </p:nvSpPr>
        <p:spPr>
          <a:xfrm xmlns:a="http://schemas.openxmlformats.org/drawingml/2006/main">
            <a:off x="571500" y="5705475"/>
            <a:ext cx="504825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0">
                <a:solidFill>
                  <a:srgbClr val="596C7D"/>
                </a:solidFill>
                <a:latin typeface="Arial"/>
                <a:ea typeface="Arial"/>
                <a:cs typeface="Arial"/>
              </a:defRPr>
            </a:pPr>
            <a:r>
              <a:rPr sz="1800" b="0">
                <a:solidFill>
                  <a:srgbClr val="596C7D"/>
                </a:solidFill>
                <a:latin typeface="Arial"/>
                <a:ea typeface="Arial"/>
                <a:cs typeface="Arial"/>
              </a:rPr>
              <a:t>Education; marital status</a:t>
            </a:r>
          </a:p>
        </p:txBody>
      </p:sp>
      <p:sp>
        <p:nvSpPr>
          <p:cNvPr id="13" name="shape-637">
            <a:extLst xmlns:a="http://schemas.openxmlformats.org/drawingml/2006/main">
              <a:ext uri="{FF2B5EF4-FFF2-40B4-BE49-F238E27FC236}">
                <a16:creationId xmlns:a16="http://schemas.microsoft.com/office/drawing/2014/main" id="{3C31935D-A223-4C57-87EF-25A7985E37A5}"/>
              </a:ext>
            </a:extLst>
          </p:cNvPr>
          <p:cNvSpPr>
            <a:spLocks xmlns:a="http://schemas.openxmlformats.org/drawingml/2006/main" noGrp="1"/>
          </p:cNvSpPr>
          <p:nvPr/>
        </p:nvSpPr>
        <p:spPr>
          <a:xfrm xmlns:a="http://schemas.openxmlformats.org/drawingml/2006/main">
            <a:off x="6438900" y="2171700"/>
            <a:ext cx="9525" cy="3829050"/>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4" name="text-638">
            <a:extLst xmlns:a="http://schemas.openxmlformats.org/drawingml/2006/main">
              <a:ext uri="{FF2B5EF4-FFF2-40B4-BE49-F238E27FC236}">
                <a16:creationId xmlns:a16="http://schemas.microsoft.com/office/drawing/2014/main" id="{244DECC3-C902-4C03-9CC2-61F4F07E0248}"/>
              </a:ext>
            </a:extLst>
          </p:cNvPr>
          <p:cNvSpPr>
            <a:spLocks xmlns:a="http://schemas.openxmlformats.org/drawingml/2006/main" noGrp="1"/>
          </p:cNvSpPr>
          <p:nvPr/>
        </p:nvSpPr>
        <p:spPr>
          <a:xfrm xmlns:a="http://schemas.openxmlformats.org/drawingml/2006/main">
            <a:off x="7000875" y="2219325"/>
            <a:ext cx="4572000" cy="342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425" b="1">
                <a:solidFill>
                  <a:srgbClr val="4682B4"/>
                </a:solidFill>
                <a:latin typeface="Arial"/>
                <a:ea typeface="Arial"/>
                <a:cs typeface="Arial"/>
              </a:defRPr>
            </a:pPr>
            <a:r>
              <a:rPr sz="1425" b="1">
                <a:solidFill>
                  <a:srgbClr val="4682B4"/>
                </a:solidFill>
                <a:latin typeface="Arial"/>
                <a:ea typeface="Arial"/>
                <a:cs typeface="Arial"/>
              </a:rPr>
              <a:t>EDA ONLY</a:t>
            </a:r>
          </a:p>
        </p:txBody>
      </p:sp>
      <p:sp>
        <p:nvSpPr>
          <p:cNvPr id="15" name="text-639">
            <a:extLst xmlns:a="http://schemas.openxmlformats.org/drawingml/2006/main">
              <a:ext uri="{FF2B5EF4-FFF2-40B4-BE49-F238E27FC236}">
                <a16:creationId xmlns:a16="http://schemas.microsoft.com/office/drawing/2014/main" id="{7FCBFD70-9D66-4DCF-B5E7-B567D74E6C14}"/>
              </a:ext>
            </a:extLst>
          </p:cNvPr>
          <p:cNvSpPr>
            <a:spLocks xmlns:a="http://schemas.openxmlformats.org/drawingml/2006/main" noGrp="1"/>
          </p:cNvSpPr>
          <p:nvPr/>
        </p:nvSpPr>
        <p:spPr>
          <a:xfrm xmlns:a="http://schemas.openxmlformats.org/drawingml/2006/main">
            <a:off x="7000875" y="2828925"/>
            <a:ext cx="45720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00" b="0">
                <a:solidFill>
                  <a:srgbClr val="182D43"/>
                </a:solidFill>
                <a:latin typeface="Arial"/>
                <a:ea typeface="Arial"/>
                <a:cs typeface="Arial"/>
              </a:defRPr>
            </a:pPr>
            <a:r>
              <a:rPr sz="2100" b="0">
                <a:solidFill>
                  <a:srgbClr val="182D43"/>
                </a:solidFill>
                <a:latin typeface="Arial"/>
                <a:ea typeface="Arial"/>
                <a:cs typeface="Arial"/>
              </a:rPr>
              <a:t>Total spend</a:t>
            </a:r>
          </a:p>
        </p:txBody>
      </p:sp>
      <p:sp>
        <p:nvSpPr>
          <p:cNvPr id="16" name="text-640">
            <a:extLst xmlns:a="http://schemas.openxmlformats.org/drawingml/2006/main">
              <a:ext uri="{FF2B5EF4-FFF2-40B4-BE49-F238E27FC236}">
                <a16:creationId xmlns:a16="http://schemas.microsoft.com/office/drawing/2014/main" id="{03F74C83-65CD-46A1-B627-FD731548FB38}"/>
              </a:ext>
            </a:extLst>
          </p:cNvPr>
          <p:cNvSpPr>
            <a:spLocks xmlns:a="http://schemas.openxmlformats.org/drawingml/2006/main" noGrp="1"/>
          </p:cNvSpPr>
          <p:nvPr/>
        </p:nvSpPr>
        <p:spPr>
          <a:xfrm xmlns:a="http://schemas.openxmlformats.org/drawingml/2006/main">
            <a:off x="7000875" y="3267075"/>
            <a:ext cx="45720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00" b="0">
                <a:solidFill>
                  <a:srgbClr val="182D43"/>
                </a:solidFill>
                <a:latin typeface="Arial"/>
                <a:ea typeface="Arial"/>
                <a:cs typeface="Arial"/>
              </a:defRPr>
            </a:pPr>
            <a:r>
              <a:rPr sz="2100" b="0">
                <a:solidFill>
                  <a:srgbClr val="182D43"/>
                </a:solidFill>
                <a:latin typeface="Arial"/>
                <a:ea typeface="Arial"/>
                <a:cs typeface="Arial"/>
              </a:rPr>
              <a:t>Total purchases</a:t>
            </a:r>
          </a:p>
        </p:txBody>
      </p:sp>
      <p:sp>
        <p:nvSpPr>
          <p:cNvPr id="17" name="text-641">
            <a:extLst xmlns:a="http://schemas.openxmlformats.org/drawingml/2006/main">
              <a:ext uri="{FF2B5EF4-FFF2-40B4-BE49-F238E27FC236}">
                <a16:creationId xmlns:a16="http://schemas.microsoft.com/office/drawing/2014/main" id="{152FB557-215F-484E-AEC8-E4FC51D0F7B1}"/>
              </a:ext>
            </a:extLst>
          </p:cNvPr>
          <p:cNvSpPr>
            <a:spLocks xmlns:a="http://schemas.openxmlformats.org/drawingml/2006/main" noGrp="1"/>
          </p:cNvSpPr>
          <p:nvPr/>
        </p:nvSpPr>
        <p:spPr>
          <a:xfrm xmlns:a="http://schemas.openxmlformats.org/drawingml/2006/main">
            <a:off x="7000875" y="3705225"/>
            <a:ext cx="45720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00" b="0">
                <a:solidFill>
                  <a:srgbClr val="182D43"/>
                </a:solidFill>
                <a:latin typeface="Arial"/>
                <a:ea typeface="Arial"/>
                <a:cs typeface="Arial"/>
              </a:defRPr>
            </a:pPr>
            <a:r>
              <a:rPr sz="2100" b="0">
                <a:solidFill>
                  <a:srgbClr val="182D43"/>
                </a:solidFill>
                <a:latin typeface="Arial"/>
                <a:ea typeface="Arial"/>
                <a:cs typeface="Arial"/>
              </a:rPr>
              <a:t>Children</a:t>
            </a:r>
          </a:p>
        </p:txBody>
      </p:sp>
      <p:sp>
        <p:nvSpPr>
          <p:cNvPr id="18" name="text-642">
            <a:extLst xmlns:a="http://schemas.openxmlformats.org/drawingml/2006/main">
              <a:ext uri="{FF2B5EF4-FFF2-40B4-BE49-F238E27FC236}">
                <a16:creationId xmlns:a16="http://schemas.microsoft.com/office/drawing/2014/main" id="{D82C4B09-8087-4875-A5B9-AD624B737B00}"/>
              </a:ext>
            </a:extLst>
          </p:cNvPr>
          <p:cNvSpPr>
            <a:spLocks xmlns:a="http://schemas.openxmlformats.org/drawingml/2006/main" noGrp="1"/>
          </p:cNvSpPr>
          <p:nvPr/>
        </p:nvSpPr>
        <p:spPr>
          <a:xfrm xmlns:a="http://schemas.openxmlformats.org/drawingml/2006/main">
            <a:off x="7000875" y="4143375"/>
            <a:ext cx="457200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100" b="0">
                <a:solidFill>
                  <a:srgbClr val="182D43"/>
                </a:solidFill>
                <a:latin typeface="Arial"/>
                <a:ea typeface="Arial"/>
                <a:cs typeface="Arial"/>
              </a:defRPr>
            </a:pPr>
            <a:r>
              <a:rPr sz="2100" b="0">
                <a:solidFill>
                  <a:srgbClr val="182D43"/>
                </a:solidFill>
                <a:latin typeface="Arial"/>
                <a:ea typeface="Arial"/>
                <a:cs typeface="Arial"/>
              </a:rPr>
              <a:t>Income / recency groups</a:t>
            </a:r>
          </a:p>
        </p:txBody>
      </p:sp>
      <p:sp>
        <p:nvSpPr>
          <p:cNvPr id="19" name="text-643">
            <a:extLst xmlns:a="http://schemas.openxmlformats.org/drawingml/2006/main">
              <a:ext uri="{FF2B5EF4-FFF2-40B4-BE49-F238E27FC236}">
                <a16:creationId xmlns:a16="http://schemas.microsoft.com/office/drawing/2014/main" id="{E29D044F-063F-4C9B-B414-219705F5474B}"/>
              </a:ext>
            </a:extLst>
          </p:cNvPr>
          <p:cNvSpPr>
            <a:spLocks xmlns:a="http://schemas.openxmlformats.org/drawingml/2006/main" noGrp="1"/>
          </p:cNvSpPr>
          <p:nvPr/>
        </p:nvSpPr>
        <p:spPr>
          <a:xfrm xmlns:a="http://schemas.openxmlformats.org/drawingml/2006/main">
            <a:off x="7000875" y="5095875"/>
            <a:ext cx="4572000" cy="9429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Excluded: ID and Response. Replaced: birth year and enrollment date.</a:t>
            </a:r>
          </a:p>
        </p:txBody>
      </p:sp>
    </p:spTree>
    <p:extLst>
      <p:ext uri="{BB962C8B-B14F-4D97-AF65-F5344CB8AC3E}">
        <p14:creationId xmlns:p14="http://schemas.microsoft.com/office/powerpoint/2010/main" val="63312153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08F24E9-CC57-45A6-8A74-C521828C16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BFC"/>
          </a:solidFill>
          <a:ln xmlns:a="http://schemas.openxmlformats.org/drawingml/2006/main" w="0">
            <a:noFill/>
            <a:prstDash val="solid"/>
          </a:ln>
        </p:spPr>
      </p:sp>
      <p:sp>
        <p:nvSpPr>
          <p:cNvPr id="2" name="kicker-marker">
            <a:extLst xmlns:a="http://schemas.openxmlformats.org/drawingml/2006/main">
              <a:ext uri="{FF2B5EF4-FFF2-40B4-BE49-F238E27FC236}">
                <a16:creationId xmlns:a16="http://schemas.microsoft.com/office/drawing/2014/main" id="{794D6666-821A-45D2-87A2-D483C511227B}"/>
              </a:ext>
            </a:extLst>
          </p:cNvPr>
          <p:cNvSpPr>
            <a:spLocks xmlns:a="http://schemas.openxmlformats.org/drawingml/2006/main" noGrp="1"/>
          </p:cNvSpPr>
          <p:nvPr/>
        </p:nvSpPr>
        <p:spPr>
          <a:xfrm xmlns:a="http://schemas.openxmlformats.org/drawingml/2006/main">
            <a:off x="571500" y="409575"/>
            <a:ext cx="47625" cy="152400"/>
          </a:xfrm>
          <a:prstGeom xmlns:a="http://schemas.openxmlformats.org/drawingml/2006/main" prst="rect">
            <a:avLst/>
          </a:prstGeom>
          <a:solidFill xmlns:a="http://schemas.openxmlformats.org/drawingml/2006/main">
            <a:srgbClr val="4682B4"/>
          </a:solidFill>
          <a:ln xmlns:a="http://schemas.openxmlformats.org/drawingml/2006/main" w="0">
            <a:noFill/>
            <a:prstDash val="solid"/>
          </a:ln>
        </p:spPr>
      </p:sp>
      <p:sp>
        <p:nvSpPr>
          <p:cNvPr id="3" name="kicker-label">
            <a:extLst xmlns:a="http://schemas.openxmlformats.org/drawingml/2006/main">
              <a:ext uri="{FF2B5EF4-FFF2-40B4-BE49-F238E27FC236}">
                <a16:creationId xmlns:a16="http://schemas.microsoft.com/office/drawing/2014/main" id="{98561F65-FD01-4C78-BA90-F7512625BE14}"/>
              </a:ext>
            </a:extLst>
          </p:cNvPr>
          <p:cNvSpPr>
            <a:spLocks xmlns:a="http://schemas.openxmlformats.org/drawingml/2006/main" noGrp="1"/>
          </p:cNvSpPr>
          <p:nvPr/>
        </p:nvSpPr>
        <p:spPr>
          <a:xfrm xmlns:a="http://schemas.openxmlformats.org/drawingml/2006/main">
            <a:off x="742950" y="352425"/>
            <a:ext cx="1009650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125" b="1">
                <a:solidFill>
                  <a:srgbClr val="4682B4"/>
                </a:solidFill>
                <a:latin typeface="Arial"/>
                <a:ea typeface="Arial"/>
                <a:cs typeface="Arial"/>
              </a:defRPr>
            </a:pPr>
            <a:r>
              <a:rPr sz="1125" b="1">
                <a:solidFill>
                  <a:srgbClr val="4682B4"/>
                </a:solidFill>
                <a:latin typeface="Arial"/>
                <a:ea typeface="Arial"/>
                <a:cs typeface="Arial"/>
              </a:rPr>
              <a:t>BACKUP / INTERVIEW</a:t>
            </a:r>
          </a:p>
        </p:txBody>
      </p:sp>
      <p:sp>
        <p:nvSpPr>
          <p:cNvPr id="4" name="text-644">
            <a:extLst xmlns:a="http://schemas.openxmlformats.org/drawingml/2006/main">
              <a:ext uri="{FF2B5EF4-FFF2-40B4-BE49-F238E27FC236}">
                <a16:creationId xmlns:a16="http://schemas.microsoft.com/office/drawing/2014/main" id="{E75B73AB-FA24-41FA-97FF-30926FD813E0}"/>
              </a:ext>
            </a:extLst>
          </p:cNvPr>
          <p:cNvSpPr>
            <a:spLocks xmlns:a="http://schemas.openxmlformats.org/drawingml/2006/main" noGrp="1"/>
          </p:cNvSpPr>
          <p:nvPr/>
        </p:nvSpPr>
        <p:spPr>
          <a:xfrm xmlns:a="http://schemas.openxmlformats.org/drawingml/2006/main">
            <a:off x="571500" y="838200"/>
            <a:ext cx="110490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3300" b="0">
                <a:solidFill>
                  <a:srgbClr val="182D43"/>
                </a:solidFill>
                <a:latin typeface="Georgia"/>
                <a:ea typeface="Georgia"/>
                <a:cs typeface="Georgia"/>
              </a:defRPr>
            </a:pPr>
            <a:r>
              <a:rPr sz="3300" b="0">
                <a:solidFill>
                  <a:srgbClr val="182D43"/>
                </a:solidFill>
                <a:latin typeface="Georgia"/>
                <a:ea typeface="Georgia"/>
                <a:cs typeface="Georgia"/>
              </a:rPr>
              <a:t>Separate what the prototype shows from what still needs testing</a:t>
            </a:r>
          </a:p>
        </p:txBody>
      </p:sp>
      <p:sp>
        <p:nvSpPr>
          <p:cNvPr id="5" name="shape-645">
            <a:extLst xmlns:a="http://schemas.openxmlformats.org/drawingml/2006/main">
              <a:ext uri="{FF2B5EF4-FFF2-40B4-BE49-F238E27FC236}">
                <a16:creationId xmlns:a16="http://schemas.microsoft.com/office/drawing/2014/main" id="{FC507F1C-A18D-4CE8-A848-E6BCAD5F4E5C}"/>
              </a:ext>
            </a:extLst>
          </p:cNvPr>
          <p:cNvSpPr>
            <a:spLocks xmlns:a="http://schemas.openxmlformats.org/drawingml/2006/main" noGrp="1"/>
          </p:cNvSpPr>
          <p:nvPr/>
        </p:nvSpPr>
        <p:spPr>
          <a:xfrm xmlns:a="http://schemas.openxmlformats.org/drawingml/2006/main">
            <a:off x="571500" y="6286500"/>
            <a:ext cx="1104900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6" name="text-646">
            <a:extLst xmlns:a="http://schemas.openxmlformats.org/drawingml/2006/main">
              <a:ext uri="{FF2B5EF4-FFF2-40B4-BE49-F238E27FC236}">
                <a16:creationId xmlns:a16="http://schemas.microsoft.com/office/drawing/2014/main" id="{0847E3A1-4D3C-440B-9818-3F586A78C06F}"/>
              </a:ext>
            </a:extLst>
          </p:cNvPr>
          <p:cNvSpPr>
            <a:spLocks xmlns:a="http://schemas.openxmlformats.org/drawingml/2006/main" noGrp="1"/>
          </p:cNvSpPr>
          <p:nvPr/>
        </p:nvSpPr>
        <p:spPr>
          <a:xfrm xmlns:a="http://schemas.openxmlformats.org/drawingml/2006/main">
            <a:off x="571500" y="6429375"/>
            <a:ext cx="10477500" cy="238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75" b="0">
                <a:solidFill>
                  <a:srgbClr val="596C7D"/>
                </a:solidFill>
                <a:latin typeface="Arial"/>
                <a:ea typeface="Arial"/>
                <a:cs typeface="Arial"/>
              </a:defRPr>
            </a:pPr>
            <a:r>
              <a:rPr sz="975" b="0">
                <a:solidFill>
                  <a:srgbClr val="596C7D"/>
                </a:solidFill>
                <a:latin typeface="Arial"/>
                <a:ea typeface="Arial"/>
                <a:cs typeface="Arial"/>
              </a:rPr>
              <a:t>Implementation review | source references: notebook §4, §6–10; brief pp1–2</a:t>
            </a:r>
          </a:p>
        </p:txBody>
      </p:sp>
      <p:sp>
        <p:nvSpPr>
          <p:cNvPr id="7" name="text-647">
            <a:extLst xmlns:a="http://schemas.openxmlformats.org/drawingml/2006/main">
              <a:ext uri="{FF2B5EF4-FFF2-40B4-BE49-F238E27FC236}">
                <a16:creationId xmlns:a16="http://schemas.microsoft.com/office/drawing/2014/main" id="{E2F89A62-5B7C-4D59-8433-4CCFA6671C06}"/>
              </a:ext>
            </a:extLst>
          </p:cNvPr>
          <p:cNvSpPr>
            <a:spLocks xmlns:a="http://schemas.openxmlformats.org/drawingml/2006/main" noGrp="1"/>
          </p:cNvSpPr>
          <p:nvPr/>
        </p:nvSpPr>
        <p:spPr>
          <a:xfrm xmlns:a="http://schemas.openxmlformats.org/drawingml/2006/main">
            <a:off x="11144250" y="6419850"/>
            <a:ext cx="47625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1200" b="0">
                <a:solidFill>
                  <a:srgbClr val="596C7D"/>
                </a:solidFill>
                <a:latin typeface="Arial"/>
                <a:ea typeface="Arial"/>
                <a:cs typeface="Arial"/>
              </a:defRPr>
            </a:pPr>
            <a:r>
              <a:rPr sz="1200" b="0">
                <a:solidFill>
                  <a:srgbClr val="596C7D"/>
                </a:solidFill>
                <a:latin typeface="Arial"/>
                <a:ea typeface="Arial"/>
                <a:cs typeface="Arial"/>
              </a:rPr>
              <a:t>30</a:t>
            </a:r>
          </a:p>
        </p:txBody>
      </p:sp>
      <p:sp>
        <p:nvSpPr>
          <p:cNvPr id="8" name="text-648">
            <a:extLst xmlns:a="http://schemas.openxmlformats.org/drawingml/2006/main">
              <a:ext uri="{FF2B5EF4-FFF2-40B4-BE49-F238E27FC236}">
                <a16:creationId xmlns:a16="http://schemas.microsoft.com/office/drawing/2014/main" id="{A1BDDB10-AD43-4D1C-A46B-8EC4D3E87FD5}"/>
              </a:ext>
            </a:extLst>
          </p:cNvPr>
          <p:cNvSpPr>
            <a:spLocks xmlns:a="http://schemas.openxmlformats.org/drawingml/2006/main" noGrp="1"/>
          </p:cNvSpPr>
          <p:nvPr/>
        </p:nvSpPr>
        <p:spPr>
          <a:xfrm xmlns:a="http://schemas.openxmlformats.org/drawingml/2006/main">
            <a:off x="571500" y="2143125"/>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Q1</a:t>
            </a:r>
          </a:p>
        </p:txBody>
      </p:sp>
      <p:sp>
        <p:nvSpPr>
          <p:cNvPr id="9" name="text-649">
            <a:extLst xmlns:a="http://schemas.openxmlformats.org/drawingml/2006/main">
              <a:ext uri="{FF2B5EF4-FFF2-40B4-BE49-F238E27FC236}">
                <a16:creationId xmlns:a16="http://schemas.microsoft.com/office/drawing/2014/main" id="{CF8336EA-F65F-4E73-B2B7-0FFAB2FFB2B4}"/>
              </a:ext>
            </a:extLst>
          </p:cNvPr>
          <p:cNvSpPr>
            <a:spLocks xmlns:a="http://schemas.openxmlformats.org/drawingml/2006/main" noGrp="1"/>
          </p:cNvSpPr>
          <p:nvPr/>
        </p:nvSpPr>
        <p:spPr>
          <a:xfrm xmlns:a="http://schemas.openxmlformats.org/drawingml/2006/main">
            <a:off x="1428750" y="2143125"/>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Why AP instead of accuracy?</a:t>
            </a:r>
          </a:p>
        </p:txBody>
      </p:sp>
      <p:sp>
        <p:nvSpPr>
          <p:cNvPr id="10" name="text-650">
            <a:extLst xmlns:a="http://schemas.openxmlformats.org/drawingml/2006/main">
              <a:ext uri="{FF2B5EF4-FFF2-40B4-BE49-F238E27FC236}">
                <a16:creationId xmlns:a16="http://schemas.microsoft.com/office/drawing/2014/main" id="{0E11F723-BC1C-48DB-907F-E912DEF1F802}"/>
              </a:ext>
            </a:extLst>
          </p:cNvPr>
          <p:cNvSpPr>
            <a:spLocks xmlns:a="http://schemas.openxmlformats.org/drawingml/2006/main" noGrp="1"/>
          </p:cNvSpPr>
          <p:nvPr/>
        </p:nvSpPr>
        <p:spPr>
          <a:xfrm xmlns:a="http://schemas.openxmlformats.org/drawingml/2006/main">
            <a:off x="5810250" y="2143125"/>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The minority response class matters; the dummy gets 85% accuracy.</a:t>
            </a:r>
          </a:p>
        </p:txBody>
      </p:sp>
      <p:sp>
        <p:nvSpPr>
          <p:cNvPr id="11" name="shape-651">
            <a:extLst xmlns:a="http://schemas.openxmlformats.org/drawingml/2006/main">
              <a:ext uri="{FF2B5EF4-FFF2-40B4-BE49-F238E27FC236}">
                <a16:creationId xmlns:a16="http://schemas.microsoft.com/office/drawing/2014/main" id="{55C0A35E-7584-4C82-A6EF-AC8A7FE7CACC}"/>
              </a:ext>
            </a:extLst>
          </p:cNvPr>
          <p:cNvSpPr>
            <a:spLocks xmlns:a="http://schemas.openxmlformats.org/drawingml/2006/main" noGrp="1"/>
          </p:cNvSpPr>
          <p:nvPr/>
        </p:nvSpPr>
        <p:spPr>
          <a:xfrm xmlns:a="http://schemas.openxmlformats.org/drawingml/2006/main">
            <a:off x="1428750" y="2981325"/>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2" name="text-652">
            <a:extLst xmlns:a="http://schemas.openxmlformats.org/drawingml/2006/main">
              <a:ext uri="{FF2B5EF4-FFF2-40B4-BE49-F238E27FC236}">
                <a16:creationId xmlns:a16="http://schemas.microsoft.com/office/drawing/2014/main" id="{526A8948-BA7E-4AF4-B658-C27B6636B047}"/>
              </a:ext>
            </a:extLst>
          </p:cNvPr>
          <p:cNvSpPr>
            <a:spLocks xmlns:a="http://schemas.openxmlformats.org/drawingml/2006/main" noGrp="1"/>
          </p:cNvSpPr>
          <p:nvPr/>
        </p:nvSpPr>
        <p:spPr>
          <a:xfrm xmlns:a="http://schemas.openxmlformats.org/drawingml/2006/main">
            <a:off x="571500" y="3105150"/>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Q2</a:t>
            </a:r>
          </a:p>
        </p:txBody>
      </p:sp>
      <p:sp>
        <p:nvSpPr>
          <p:cNvPr id="13" name="text-653">
            <a:extLst xmlns:a="http://schemas.openxmlformats.org/drawingml/2006/main">
              <a:ext uri="{FF2B5EF4-FFF2-40B4-BE49-F238E27FC236}">
                <a16:creationId xmlns:a16="http://schemas.microsoft.com/office/drawing/2014/main" id="{E6C72341-CAD3-465F-8F88-1A22F24AFCF6}"/>
              </a:ext>
            </a:extLst>
          </p:cNvPr>
          <p:cNvSpPr>
            <a:spLocks xmlns:a="http://schemas.openxmlformats.org/drawingml/2006/main" noGrp="1"/>
          </p:cNvSpPr>
          <p:nvPr/>
        </p:nvSpPr>
        <p:spPr>
          <a:xfrm xmlns:a="http://schemas.openxmlformats.org/drawingml/2006/main">
            <a:off x="1428750" y="3105150"/>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Are probabilities calibrated?</a:t>
            </a:r>
          </a:p>
        </p:txBody>
      </p:sp>
      <p:sp>
        <p:nvSpPr>
          <p:cNvPr id="14" name="text-654">
            <a:extLst xmlns:a="http://schemas.openxmlformats.org/drawingml/2006/main">
              <a:ext uri="{FF2B5EF4-FFF2-40B4-BE49-F238E27FC236}">
                <a16:creationId xmlns:a16="http://schemas.microsoft.com/office/drawing/2014/main" id="{203F0FC4-DA3A-4B0B-83EB-5792F85D0BA9}"/>
              </a:ext>
            </a:extLst>
          </p:cNvPr>
          <p:cNvSpPr>
            <a:spLocks xmlns:a="http://schemas.openxmlformats.org/drawingml/2006/main" noGrp="1"/>
          </p:cNvSpPr>
          <p:nvPr/>
        </p:nvSpPr>
        <p:spPr>
          <a:xfrm xmlns:a="http://schemas.openxmlformats.org/drawingml/2006/main">
            <a:off x="5810250" y="3105150"/>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No calibration was run. Use scores to rank; calibrate for expected value.</a:t>
            </a:r>
          </a:p>
        </p:txBody>
      </p:sp>
      <p:sp>
        <p:nvSpPr>
          <p:cNvPr id="15" name="shape-655">
            <a:extLst xmlns:a="http://schemas.openxmlformats.org/drawingml/2006/main">
              <a:ext uri="{FF2B5EF4-FFF2-40B4-BE49-F238E27FC236}">
                <a16:creationId xmlns:a16="http://schemas.microsoft.com/office/drawing/2014/main" id="{F67AFFF6-635D-470A-89AC-FD119005CB5C}"/>
              </a:ext>
            </a:extLst>
          </p:cNvPr>
          <p:cNvSpPr>
            <a:spLocks xmlns:a="http://schemas.openxmlformats.org/drawingml/2006/main" noGrp="1"/>
          </p:cNvSpPr>
          <p:nvPr/>
        </p:nvSpPr>
        <p:spPr>
          <a:xfrm xmlns:a="http://schemas.openxmlformats.org/drawingml/2006/main">
            <a:off x="1428750" y="3943350"/>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16" name="text-656">
            <a:extLst xmlns:a="http://schemas.openxmlformats.org/drawingml/2006/main">
              <a:ext uri="{FF2B5EF4-FFF2-40B4-BE49-F238E27FC236}">
                <a16:creationId xmlns:a16="http://schemas.microsoft.com/office/drawing/2014/main" id="{B045F6AD-9BCB-4172-B51D-AAC64966D434}"/>
              </a:ext>
            </a:extLst>
          </p:cNvPr>
          <p:cNvSpPr>
            <a:spLocks xmlns:a="http://schemas.openxmlformats.org/drawingml/2006/main" noGrp="1"/>
          </p:cNvSpPr>
          <p:nvPr/>
        </p:nvSpPr>
        <p:spPr>
          <a:xfrm xmlns:a="http://schemas.openxmlformats.org/drawingml/2006/main">
            <a:off x="571500" y="4067175"/>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Q3</a:t>
            </a:r>
          </a:p>
        </p:txBody>
      </p:sp>
      <p:sp>
        <p:nvSpPr>
          <p:cNvPr id="17" name="text-657">
            <a:extLst xmlns:a="http://schemas.openxmlformats.org/drawingml/2006/main">
              <a:ext uri="{FF2B5EF4-FFF2-40B4-BE49-F238E27FC236}">
                <a16:creationId xmlns:a16="http://schemas.microsoft.com/office/drawing/2014/main" id="{AFEB20AC-8AAA-4459-85FC-975482C98B13}"/>
              </a:ext>
            </a:extLst>
          </p:cNvPr>
          <p:cNvSpPr>
            <a:spLocks xmlns:a="http://schemas.openxmlformats.org/drawingml/2006/main" noGrp="1"/>
          </p:cNvSpPr>
          <p:nvPr/>
        </p:nvSpPr>
        <p:spPr>
          <a:xfrm xmlns:a="http://schemas.openxmlformats.org/drawingml/2006/main">
            <a:off x="1428750" y="4067175"/>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Is 20% the optimal policy?</a:t>
            </a:r>
          </a:p>
        </p:txBody>
      </p:sp>
      <p:sp>
        <p:nvSpPr>
          <p:cNvPr id="18" name="text-658">
            <a:extLst xmlns:a="http://schemas.openxmlformats.org/drawingml/2006/main">
              <a:ext uri="{FF2B5EF4-FFF2-40B4-BE49-F238E27FC236}">
                <a16:creationId xmlns:a16="http://schemas.microsoft.com/office/drawing/2014/main" id="{3FA2A7E9-069F-4044-B969-B6DA8FC19E1A}"/>
              </a:ext>
            </a:extLst>
          </p:cNvPr>
          <p:cNvSpPr>
            <a:spLocks xmlns:a="http://schemas.openxmlformats.org/drawingml/2006/main" noGrp="1"/>
          </p:cNvSpPr>
          <p:nvPr/>
        </p:nvSpPr>
        <p:spPr>
          <a:xfrm xmlns:a="http://schemas.openxmlformats.org/drawingml/2006/main">
            <a:off x="5810250" y="4067175"/>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It is a capacity scenario. Cost and contribution determine the cutoff.</a:t>
            </a:r>
          </a:p>
        </p:txBody>
      </p:sp>
      <p:sp>
        <p:nvSpPr>
          <p:cNvPr id="19" name="shape-659">
            <a:extLst xmlns:a="http://schemas.openxmlformats.org/drawingml/2006/main">
              <a:ext uri="{FF2B5EF4-FFF2-40B4-BE49-F238E27FC236}">
                <a16:creationId xmlns:a16="http://schemas.microsoft.com/office/drawing/2014/main" id="{3D103A3D-D33B-4C82-8B26-1E853E99263E}"/>
              </a:ext>
            </a:extLst>
          </p:cNvPr>
          <p:cNvSpPr>
            <a:spLocks xmlns:a="http://schemas.openxmlformats.org/drawingml/2006/main" noGrp="1"/>
          </p:cNvSpPr>
          <p:nvPr/>
        </p:nvSpPr>
        <p:spPr>
          <a:xfrm xmlns:a="http://schemas.openxmlformats.org/drawingml/2006/main">
            <a:off x="1428750" y="4905375"/>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
        <p:nvSpPr>
          <p:cNvPr id="20" name="text-660">
            <a:extLst xmlns:a="http://schemas.openxmlformats.org/drawingml/2006/main">
              <a:ext uri="{FF2B5EF4-FFF2-40B4-BE49-F238E27FC236}">
                <a16:creationId xmlns:a16="http://schemas.microsoft.com/office/drawing/2014/main" id="{37684AE2-259C-49BA-BF51-4F2A8B0445CF}"/>
              </a:ext>
            </a:extLst>
          </p:cNvPr>
          <p:cNvSpPr>
            <a:spLocks xmlns:a="http://schemas.openxmlformats.org/drawingml/2006/main" noGrp="1"/>
          </p:cNvSpPr>
          <p:nvPr/>
        </p:nvSpPr>
        <p:spPr>
          <a:xfrm xmlns:a="http://schemas.openxmlformats.org/drawingml/2006/main">
            <a:off x="571500" y="5029200"/>
            <a:ext cx="6477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2550" b="0">
                <a:solidFill>
                  <a:srgbClr val="4682B4"/>
                </a:solidFill>
                <a:latin typeface="Georgia"/>
                <a:ea typeface="Georgia"/>
                <a:cs typeface="Georgia"/>
              </a:defRPr>
            </a:pPr>
            <a:r>
              <a:rPr sz="2550" b="0">
                <a:solidFill>
                  <a:srgbClr val="4682B4"/>
                </a:solidFill>
                <a:latin typeface="Georgia"/>
                <a:ea typeface="Georgia"/>
                <a:cs typeface="Georgia"/>
              </a:rPr>
              <a:t>Q4</a:t>
            </a:r>
          </a:p>
        </p:txBody>
      </p:sp>
      <p:sp>
        <p:nvSpPr>
          <p:cNvPr id="21" name="text-661">
            <a:extLst xmlns:a="http://schemas.openxmlformats.org/drawingml/2006/main">
              <a:ext uri="{FF2B5EF4-FFF2-40B4-BE49-F238E27FC236}">
                <a16:creationId xmlns:a16="http://schemas.microsoft.com/office/drawing/2014/main" id="{EFC00E0F-B3C0-42A8-B7D8-67791174879D}"/>
              </a:ext>
            </a:extLst>
          </p:cNvPr>
          <p:cNvSpPr>
            <a:spLocks xmlns:a="http://schemas.openxmlformats.org/drawingml/2006/main" noGrp="1"/>
          </p:cNvSpPr>
          <p:nvPr/>
        </p:nvSpPr>
        <p:spPr>
          <a:xfrm xmlns:a="http://schemas.openxmlformats.org/drawingml/2006/main">
            <a:off x="1428750" y="5029200"/>
            <a:ext cx="409575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950" b="1">
                <a:solidFill>
                  <a:srgbClr val="182D43"/>
                </a:solidFill>
                <a:latin typeface="Arial"/>
                <a:ea typeface="Arial"/>
                <a:cs typeface="Arial"/>
              </a:defRPr>
            </a:pPr>
            <a:r>
              <a:rPr sz="1950" b="1">
                <a:solidFill>
                  <a:srgbClr val="182D43"/>
                </a:solidFill>
                <a:latin typeface="Arial"/>
                <a:ea typeface="Arial"/>
                <a:cs typeface="Arial"/>
              </a:rPr>
              <a:t>Is the revenue uplift proven?</a:t>
            </a:r>
          </a:p>
        </p:txBody>
      </p:sp>
      <p:sp>
        <p:nvSpPr>
          <p:cNvPr id="22" name="text-662">
            <a:extLst xmlns:a="http://schemas.openxmlformats.org/drawingml/2006/main">
              <a:ext uri="{FF2B5EF4-FFF2-40B4-BE49-F238E27FC236}">
                <a16:creationId xmlns:a16="http://schemas.microsoft.com/office/drawing/2014/main" id="{0B6B6E0C-1143-4C72-ABA2-4958560DD904}"/>
              </a:ext>
            </a:extLst>
          </p:cNvPr>
          <p:cNvSpPr>
            <a:spLocks xmlns:a="http://schemas.openxmlformats.org/drawingml/2006/main" noGrp="1"/>
          </p:cNvSpPr>
          <p:nvPr/>
        </p:nvSpPr>
        <p:spPr>
          <a:xfrm xmlns:a="http://schemas.openxmlformats.org/drawingml/2006/main">
            <a:off x="5810250" y="5029200"/>
            <a:ext cx="5619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725" b="0">
                <a:solidFill>
                  <a:srgbClr val="596C7D"/>
                </a:solidFill>
                <a:latin typeface="Arial"/>
                <a:ea typeface="Arial"/>
                <a:cs typeface="Arial"/>
              </a:defRPr>
            </a:pPr>
            <a:r>
              <a:rPr sz="1725" b="0">
                <a:solidFill>
                  <a:srgbClr val="596C7D"/>
                </a:solidFill>
                <a:latin typeface="Arial"/>
                <a:ea typeface="Arial"/>
                <a:cs typeface="Arial"/>
              </a:rPr>
              <a:t>No. Historical enrichment is not a causal effect or measured profit.</a:t>
            </a:r>
          </a:p>
        </p:txBody>
      </p:sp>
      <p:sp>
        <p:nvSpPr>
          <p:cNvPr id="23" name="shape-663">
            <a:extLst xmlns:a="http://schemas.openxmlformats.org/drawingml/2006/main">
              <a:ext uri="{FF2B5EF4-FFF2-40B4-BE49-F238E27FC236}">
                <a16:creationId xmlns:a16="http://schemas.microsoft.com/office/drawing/2014/main" id="{D705B804-F165-48E3-988D-250CCF6340AB}"/>
              </a:ext>
            </a:extLst>
          </p:cNvPr>
          <p:cNvSpPr>
            <a:spLocks xmlns:a="http://schemas.openxmlformats.org/drawingml/2006/main" noGrp="1"/>
          </p:cNvSpPr>
          <p:nvPr/>
        </p:nvSpPr>
        <p:spPr>
          <a:xfrm xmlns:a="http://schemas.openxmlformats.org/drawingml/2006/main">
            <a:off x="1428750" y="5867400"/>
            <a:ext cx="10001250" cy="9525"/>
          </a:xfrm>
          <a:prstGeom xmlns:a="http://schemas.openxmlformats.org/drawingml/2006/main" prst="rect">
            <a:avLst/>
          </a:prstGeom>
          <a:solidFill xmlns:a="http://schemas.openxmlformats.org/drawingml/2006/main">
            <a:srgbClr val="D3DEE7"/>
          </a:solidFill>
          <a:ln xmlns:a="http://schemas.openxmlformats.org/drawingml/2006/main" w="0">
            <a:noFill/>
            <a:prstDash val="solid"/>
          </a:ln>
        </p:spPr>
      </p:sp>
    </p:spTree>
    <p:extLst>
      <p:ext uri="{BB962C8B-B14F-4D97-AF65-F5344CB8AC3E}">
        <p14:creationId xmlns:p14="http://schemas.microsoft.com/office/powerpoint/2010/main" val="17766372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2026-09-11T06:55:36.0000000Z</dcterms:created>
  <dcterms:modified xsi:type="dcterms:W3CDTF">2026-09-11T06:55:36.0000000Z</dcterms:modified>
</coreProperties>
</file>